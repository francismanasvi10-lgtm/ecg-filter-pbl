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3" r:id="rId16"/>
    <p:sldId id="277" r:id="rId17"/>
    <p:sldId id="274" r:id="rId18"/>
    <p:sldId id="275" r:id="rId19"/>
  </p:sldIdLst>
  <p:sldSz cx="7772400" cy="10058400"/>
  <p:notesSz cx="7772400" cy="10058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3" d="100"/>
          <a:sy n="53" d="100"/>
        </p:scale>
        <p:origin x="2539" y="77"/>
      </p:cViewPr>
      <p:guideLst>
        <p:guide orient="horz" pos="2880"/>
        <p:guide pos="2160"/>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vi francis" userId="70d341cf8d592397" providerId="LiveId" clId="{B708F1CD-C124-4EF3-99A8-CBE2CF2B9BBA}"/>
    <pc:docChg chg="delSld modSld sldOrd">
      <pc:chgData name="manasvi francis" userId="70d341cf8d592397" providerId="LiveId" clId="{B708F1CD-C124-4EF3-99A8-CBE2CF2B9BBA}" dt="2026-05-12T07:33:30.399" v="2"/>
      <pc:docMkLst>
        <pc:docMk/>
      </pc:docMkLst>
      <pc:sldChg chg="ord">
        <pc:chgData name="manasvi francis" userId="70d341cf8d592397" providerId="LiveId" clId="{B708F1CD-C124-4EF3-99A8-CBE2CF2B9BBA}" dt="2026-05-12T07:33:30.399" v="2"/>
        <pc:sldMkLst>
          <pc:docMk/>
          <pc:sldMk cId="0" sldId="267"/>
        </pc:sldMkLst>
      </pc:sldChg>
      <pc:sldChg chg="del">
        <pc:chgData name="manasvi francis" userId="70d341cf8d592397" providerId="LiveId" clId="{B708F1CD-C124-4EF3-99A8-CBE2CF2B9BBA}" dt="2026-05-12T07:33:01.386" v="0" actId="47"/>
        <pc:sldMkLst>
          <pc:docMk/>
          <pc:sldMk cId="1709927682" sldId="27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a:lstStyle>
            <a:lvl1pPr>
              <a:defRPr/>
            </a:lvl1pPr>
          </a:lstStyle>
          <a:p>
            <a:endParaRPr/>
          </a:p>
        </p:txBody>
      </p:sp>
      <p:sp>
        <p:nvSpPr>
          <p:cNvPr id="4" name="Holder 4">
            <a:extLst>
              <a:ext uri="{FF2B5EF4-FFF2-40B4-BE49-F238E27FC236}">
                <a16:creationId xmlns:a16="http://schemas.microsoft.com/office/drawing/2014/main" id="{51F9DC30-63DA-9606-D763-A4F28CAE0200}"/>
              </a:ext>
            </a:extLst>
          </p:cNvPr>
          <p:cNvSpPr>
            <a:spLocks noGrp="1" noChangeArrowheads="1"/>
          </p:cNvSpPr>
          <p:nvPr>
            <p:ph type="ftr" sz="quarter" idx="10"/>
          </p:nvPr>
        </p:nvSpPr>
        <p:spPr>
          <a:ln/>
        </p:spPr>
        <p:txBody>
          <a:bodyPr/>
          <a:lstStyle>
            <a:lvl1pPr>
              <a:defRPr/>
            </a:lvl1pPr>
          </a:lstStyle>
          <a:p>
            <a:endParaRPr lang="en-US" altLang="en-US"/>
          </a:p>
        </p:txBody>
      </p:sp>
      <p:sp>
        <p:nvSpPr>
          <p:cNvPr id="5" name="Holder 5">
            <a:extLst>
              <a:ext uri="{FF2B5EF4-FFF2-40B4-BE49-F238E27FC236}">
                <a16:creationId xmlns:a16="http://schemas.microsoft.com/office/drawing/2014/main" id="{DFF353CF-36C3-BAFC-5A6A-CCF085B8099D}"/>
              </a:ext>
            </a:extLst>
          </p:cNvPr>
          <p:cNvSpPr>
            <a:spLocks noGrp="1" noChangeArrowheads="1"/>
          </p:cNvSpPr>
          <p:nvPr>
            <p:ph type="dt" sz="half" idx="11"/>
          </p:nvPr>
        </p:nvSpPr>
        <p:spPr>
          <a:ln/>
        </p:spPr>
        <p:txBody>
          <a:bodyPr/>
          <a:lstStyle>
            <a:lvl1pPr>
              <a:defRPr/>
            </a:lvl1pPr>
          </a:lstStyle>
          <a:p>
            <a:fld id="{8C7EF92D-654E-46C5-B1BA-04F40E51A54F}" type="datetimeFigureOut">
              <a:rPr lang="en-US" altLang="en-US"/>
              <a:pPr/>
              <a:t>5/12/2026</a:t>
            </a:fld>
            <a:endParaRPr lang="en-US" altLang="en-US"/>
          </a:p>
        </p:txBody>
      </p:sp>
      <p:sp>
        <p:nvSpPr>
          <p:cNvPr id="6" name="Holder 6">
            <a:extLst>
              <a:ext uri="{FF2B5EF4-FFF2-40B4-BE49-F238E27FC236}">
                <a16:creationId xmlns:a16="http://schemas.microsoft.com/office/drawing/2014/main" id="{37E978BC-398B-0F69-5EA1-1C352F293BE0}"/>
              </a:ext>
            </a:extLst>
          </p:cNvPr>
          <p:cNvSpPr>
            <a:spLocks noGrp="1" noChangeArrowheads="1"/>
          </p:cNvSpPr>
          <p:nvPr>
            <p:ph type="sldNum" sz="quarter" idx="12"/>
          </p:nvPr>
        </p:nvSpPr>
        <p:spPr>
          <a:ln/>
        </p:spPr>
        <p:txBody>
          <a:bodyPr/>
          <a:lstStyle>
            <a:lvl1pPr>
              <a:defRPr/>
            </a:lvl1pPr>
          </a:lstStyle>
          <a:p>
            <a:fld id="{485A97AE-A689-466C-A5A0-10610B5EC15E}" type="slidenum">
              <a:rPr lang="en-US" altLang="en-US"/>
              <a:pPr/>
              <a:t>‹#›</a:t>
            </a:fld>
            <a:endParaRPr lang="en-US" altLang="en-US"/>
          </a:p>
        </p:txBody>
      </p:sp>
    </p:spTree>
    <p:extLst>
      <p:ext uri="{BB962C8B-B14F-4D97-AF65-F5344CB8AC3E}">
        <p14:creationId xmlns:p14="http://schemas.microsoft.com/office/powerpoint/2010/main" val="2763110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a:lvl1pPr>
          </a:lstStyle>
          <a:p>
            <a:endParaRPr/>
          </a:p>
        </p:txBody>
      </p:sp>
      <p:sp>
        <p:nvSpPr>
          <p:cNvPr id="3" name="Holder 3"/>
          <p:cNvSpPr>
            <a:spLocks noGrp="1"/>
          </p:cNvSpPr>
          <p:nvPr>
            <p:ph type="body" idx="1"/>
          </p:nvPr>
        </p:nvSpPr>
        <p:spPr/>
        <p:txBody>
          <a:bodyPr/>
          <a:lstStyle>
            <a:lvl1pPr>
              <a:defRPr/>
            </a:lvl1pPr>
          </a:lstStyle>
          <a:p>
            <a:endParaRPr/>
          </a:p>
        </p:txBody>
      </p:sp>
      <p:sp>
        <p:nvSpPr>
          <p:cNvPr id="4" name="Holder 4">
            <a:extLst>
              <a:ext uri="{FF2B5EF4-FFF2-40B4-BE49-F238E27FC236}">
                <a16:creationId xmlns:a16="http://schemas.microsoft.com/office/drawing/2014/main" id="{F4B329DA-03AF-DE17-E3CC-8A4C9FA072E0}"/>
              </a:ext>
            </a:extLst>
          </p:cNvPr>
          <p:cNvSpPr>
            <a:spLocks noGrp="1" noChangeArrowheads="1"/>
          </p:cNvSpPr>
          <p:nvPr>
            <p:ph type="ftr" sz="quarter" idx="10"/>
          </p:nvPr>
        </p:nvSpPr>
        <p:spPr>
          <a:ln/>
        </p:spPr>
        <p:txBody>
          <a:bodyPr/>
          <a:lstStyle>
            <a:lvl1pPr>
              <a:defRPr/>
            </a:lvl1pPr>
          </a:lstStyle>
          <a:p>
            <a:endParaRPr lang="en-US" altLang="en-US"/>
          </a:p>
        </p:txBody>
      </p:sp>
      <p:sp>
        <p:nvSpPr>
          <p:cNvPr id="5" name="Holder 5">
            <a:extLst>
              <a:ext uri="{FF2B5EF4-FFF2-40B4-BE49-F238E27FC236}">
                <a16:creationId xmlns:a16="http://schemas.microsoft.com/office/drawing/2014/main" id="{44136CCD-FA97-0D66-54F7-7634B1A559C1}"/>
              </a:ext>
            </a:extLst>
          </p:cNvPr>
          <p:cNvSpPr>
            <a:spLocks noGrp="1" noChangeArrowheads="1"/>
          </p:cNvSpPr>
          <p:nvPr>
            <p:ph type="dt" sz="half" idx="11"/>
          </p:nvPr>
        </p:nvSpPr>
        <p:spPr>
          <a:ln/>
        </p:spPr>
        <p:txBody>
          <a:bodyPr/>
          <a:lstStyle>
            <a:lvl1pPr>
              <a:defRPr/>
            </a:lvl1pPr>
          </a:lstStyle>
          <a:p>
            <a:fld id="{DDF166DE-8687-44A9-9857-457A3EAAE74F}" type="datetimeFigureOut">
              <a:rPr lang="en-US" altLang="en-US"/>
              <a:pPr/>
              <a:t>5/12/2026</a:t>
            </a:fld>
            <a:endParaRPr lang="en-US" altLang="en-US"/>
          </a:p>
        </p:txBody>
      </p:sp>
      <p:sp>
        <p:nvSpPr>
          <p:cNvPr id="6" name="Holder 6">
            <a:extLst>
              <a:ext uri="{FF2B5EF4-FFF2-40B4-BE49-F238E27FC236}">
                <a16:creationId xmlns:a16="http://schemas.microsoft.com/office/drawing/2014/main" id="{D4F94A4E-BFC2-84D8-8A5B-2C63C1F7425D}"/>
              </a:ext>
            </a:extLst>
          </p:cNvPr>
          <p:cNvSpPr>
            <a:spLocks noGrp="1" noChangeArrowheads="1"/>
          </p:cNvSpPr>
          <p:nvPr>
            <p:ph type="sldNum" sz="quarter" idx="12"/>
          </p:nvPr>
        </p:nvSpPr>
        <p:spPr>
          <a:ln/>
        </p:spPr>
        <p:txBody>
          <a:bodyPr/>
          <a:lstStyle>
            <a:lvl1pPr>
              <a:defRPr/>
            </a:lvl1pPr>
          </a:lstStyle>
          <a:p>
            <a:fld id="{6814CE99-9185-45C2-B842-0FBDE0FEBA39}" type="slidenum">
              <a:rPr lang="en-US" altLang="en-US"/>
              <a:pPr/>
              <a:t>‹#›</a:t>
            </a:fld>
            <a:endParaRPr lang="en-US" altLang="en-US"/>
          </a:p>
        </p:txBody>
      </p:sp>
    </p:spTree>
    <p:extLst>
      <p:ext uri="{BB962C8B-B14F-4D97-AF65-F5344CB8AC3E}">
        <p14:creationId xmlns:p14="http://schemas.microsoft.com/office/powerpoint/2010/main" val="41433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0ACA03E9-F791-FCDE-5975-28C8C13501A5}"/>
              </a:ext>
            </a:extLst>
          </p:cNvPr>
          <p:cNvSpPr>
            <a:spLocks noGrp="1" noChangeArrowheads="1"/>
          </p:cNvSpPr>
          <p:nvPr>
            <p:ph type="ftr" sz="quarter" idx="10"/>
          </p:nvPr>
        </p:nvSpPr>
        <p:spPr>
          <a:ln/>
        </p:spPr>
        <p:txBody>
          <a:bodyPr/>
          <a:lstStyle>
            <a:lvl1pPr>
              <a:defRPr/>
            </a:lvl1pPr>
          </a:lstStyle>
          <a:p>
            <a:endParaRPr lang="en-US" altLang="en-US"/>
          </a:p>
        </p:txBody>
      </p:sp>
      <p:sp>
        <p:nvSpPr>
          <p:cNvPr id="6" name="Holder 5">
            <a:extLst>
              <a:ext uri="{FF2B5EF4-FFF2-40B4-BE49-F238E27FC236}">
                <a16:creationId xmlns:a16="http://schemas.microsoft.com/office/drawing/2014/main" id="{ABF18E25-4A77-57C0-70FB-A439735CD96F}"/>
              </a:ext>
            </a:extLst>
          </p:cNvPr>
          <p:cNvSpPr>
            <a:spLocks noGrp="1" noChangeArrowheads="1"/>
          </p:cNvSpPr>
          <p:nvPr>
            <p:ph type="dt" sz="half" idx="11"/>
          </p:nvPr>
        </p:nvSpPr>
        <p:spPr>
          <a:ln/>
        </p:spPr>
        <p:txBody>
          <a:bodyPr/>
          <a:lstStyle>
            <a:lvl1pPr>
              <a:defRPr/>
            </a:lvl1pPr>
          </a:lstStyle>
          <a:p>
            <a:fld id="{2D85760C-CDC2-4802-A186-97F020C1F89D}" type="datetimeFigureOut">
              <a:rPr lang="en-US" altLang="en-US"/>
              <a:pPr/>
              <a:t>5/12/2026</a:t>
            </a:fld>
            <a:endParaRPr lang="en-US" altLang="en-US"/>
          </a:p>
        </p:txBody>
      </p:sp>
      <p:sp>
        <p:nvSpPr>
          <p:cNvPr id="7" name="Holder 6">
            <a:extLst>
              <a:ext uri="{FF2B5EF4-FFF2-40B4-BE49-F238E27FC236}">
                <a16:creationId xmlns:a16="http://schemas.microsoft.com/office/drawing/2014/main" id="{030C1315-09A8-02D0-4935-2DD911D7F97A}"/>
              </a:ext>
            </a:extLst>
          </p:cNvPr>
          <p:cNvSpPr>
            <a:spLocks noGrp="1" noChangeArrowheads="1"/>
          </p:cNvSpPr>
          <p:nvPr>
            <p:ph type="sldNum" sz="quarter" idx="12"/>
          </p:nvPr>
        </p:nvSpPr>
        <p:spPr>
          <a:ln/>
        </p:spPr>
        <p:txBody>
          <a:bodyPr/>
          <a:lstStyle>
            <a:lvl1pPr>
              <a:defRPr/>
            </a:lvl1pPr>
          </a:lstStyle>
          <a:p>
            <a:fld id="{4796B781-1C86-470D-95FD-27EDAA6140B8}" type="slidenum">
              <a:rPr lang="en-US" altLang="en-US"/>
              <a:pPr/>
              <a:t>‹#›</a:t>
            </a:fld>
            <a:endParaRPr lang="en-US" altLang="en-US"/>
          </a:p>
        </p:txBody>
      </p:sp>
    </p:spTree>
    <p:extLst>
      <p:ext uri="{BB962C8B-B14F-4D97-AF65-F5344CB8AC3E}">
        <p14:creationId xmlns:p14="http://schemas.microsoft.com/office/powerpoint/2010/main" val="337406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a:lvl1pPr>
          </a:lstStyle>
          <a:p>
            <a:endParaRPr/>
          </a:p>
        </p:txBody>
      </p:sp>
      <p:sp>
        <p:nvSpPr>
          <p:cNvPr id="3" name="Holder 4">
            <a:extLst>
              <a:ext uri="{FF2B5EF4-FFF2-40B4-BE49-F238E27FC236}">
                <a16:creationId xmlns:a16="http://schemas.microsoft.com/office/drawing/2014/main" id="{72010FD3-A61B-7CB2-C1E6-D7F7BAF8704A}"/>
              </a:ext>
            </a:extLst>
          </p:cNvPr>
          <p:cNvSpPr>
            <a:spLocks noGrp="1" noChangeArrowheads="1"/>
          </p:cNvSpPr>
          <p:nvPr>
            <p:ph type="ftr" sz="quarter" idx="10"/>
          </p:nvPr>
        </p:nvSpPr>
        <p:spPr>
          <a:ln/>
        </p:spPr>
        <p:txBody>
          <a:bodyPr/>
          <a:lstStyle>
            <a:lvl1pPr>
              <a:defRPr/>
            </a:lvl1pPr>
          </a:lstStyle>
          <a:p>
            <a:endParaRPr lang="en-US" altLang="en-US"/>
          </a:p>
        </p:txBody>
      </p:sp>
      <p:sp>
        <p:nvSpPr>
          <p:cNvPr id="4" name="Holder 5">
            <a:extLst>
              <a:ext uri="{FF2B5EF4-FFF2-40B4-BE49-F238E27FC236}">
                <a16:creationId xmlns:a16="http://schemas.microsoft.com/office/drawing/2014/main" id="{F8303ECE-2622-13E1-90E9-BF4F1E85DD8A}"/>
              </a:ext>
            </a:extLst>
          </p:cNvPr>
          <p:cNvSpPr>
            <a:spLocks noGrp="1" noChangeArrowheads="1"/>
          </p:cNvSpPr>
          <p:nvPr>
            <p:ph type="dt" sz="half" idx="11"/>
          </p:nvPr>
        </p:nvSpPr>
        <p:spPr>
          <a:ln/>
        </p:spPr>
        <p:txBody>
          <a:bodyPr/>
          <a:lstStyle>
            <a:lvl1pPr>
              <a:defRPr/>
            </a:lvl1pPr>
          </a:lstStyle>
          <a:p>
            <a:fld id="{C6A21A28-647C-450F-9A69-257BC8CFE918}" type="datetimeFigureOut">
              <a:rPr lang="en-US" altLang="en-US"/>
              <a:pPr/>
              <a:t>5/12/2026</a:t>
            </a:fld>
            <a:endParaRPr lang="en-US" altLang="en-US"/>
          </a:p>
        </p:txBody>
      </p:sp>
      <p:sp>
        <p:nvSpPr>
          <p:cNvPr id="5" name="Holder 6">
            <a:extLst>
              <a:ext uri="{FF2B5EF4-FFF2-40B4-BE49-F238E27FC236}">
                <a16:creationId xmlns:a16="http://schemas.microsoft.com/office/drawing/2014/main" id="{920346EF-4AC5-298F-0287-FF5CFD066A06}"/>
              </a:ext>
            </a:extLst>
          </p:cNvPr>
          <p:cNvSpPr>
            <a:spLocks noGrp="1" noChangeArrowheads="1"/>
          </p:cNvSpPr>
          <p:nvPr>
            <p:ph type="sldNum" sz="quarter" idx="12"/>
          </p:nvPr>
        </p:nvSpPr>
        <p:spPr>
          <a:ln/>
        </p:spPr>
        <p:txBody>
          <a:bodyPr/>
          <a:lstStyle>
            <a:lvl1pPr>
              <a:defRPr/>
            </a:lvl1pPr>
          </a:lstStyle>
          <a:p>
            <a:fld id="{530042AE-C1ED-43C9-9312-E1E4DF9263BF}" type="slidenum">
              <a:rPr lang="en-US" altLang="en-US"/>
              <a:pPr/>
              <a:t>‹#›</a:t>
            </a:fld>
            <a:endParaRPr lang="en-US" altLang="en-US"/>
          </a:p>
        </p:txBody>
      </p:sp>
    </p:spTree>
    <p:extLst>
      <p:ext uri="{BB962C8B-B14F-4D97-AF65-F5344CB8AC3E}">
        <p14:creationId xmlns:p14="http://schemas.microsoft.com/office/powerpoint/2010/main" val="1103722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a:extLst>
              <a:ext uri="{FF2B5EF4-FFF2-40B4-BE49-F238E27FC236}">
                <a16:creationId xmlns:a16="http://schemas.microsoft.com/office/drawing/2014/main" id="{971B4F5E-4120-55FB-8439-903FCB97F1C1}"/>
              </a:ext>
            </a:extLst>
          </p:cNvPr>
          <p:cNvSpPr>
            <a:spLocks noGrp="1" noChangeArrowheads="1"/>
          </p:cNvSpPr>
          <p:nvPr>
            <p:ph type="ftr" sz="quarter" idx="10"/>
          </p:nvPr>
        </p:nvSpPr>
        <p:spPr>
          <a:ln/>
        </p:spPr>
        <p:txBody>
          <a:bodyPr/>
          <a:lstStyle>
            <a:lvl1pPr>
              <a:defRPr/>
            </a:lvl1pPr>
          </a:lstStyle>
          <a:p>
            <a:endParaRPr lang="en-US" altLang="en-US"/>
          </a:p>
        </p:txBody>
      </p:sp>
      <p:sp>
        <p:nvSpPr>
          <p:cNvPr id="3" name="Holder 5">
            <a:extLst>
              <a:ext uri="{FF2B5EF4-FFF2-40B4-BE49-F238E27FC236}">
                <a16:creationId xmlns:a16="http://schemas.microsoft.com/office/drawing/2014/main" id="{08F4863B-FB9D-391D-2F3E-D2B931135BD7}"/>
              </a:ext>
            </a:extLst>
          </p:cNvPr>
          <p:cNvSpPr>
            <a:spLocks noGrp="1" noChangeArrowheads="1"/>
          </p:cNvSpPr>
          <p:nvPr>
            <p:ph type="dt" sz="half" idx="11"/>
          </p:nvPr>
        </p:nvSpPr>
        <p:spPr>
          <a:ln/>
        </p:spPr>
        <p:txBody>
          <a:bodyPr/>
          <a:lstStyle>
            <a:lvl1pPr>
              <a:defRPr/>
            </a:lvl1pPr>
          </a:lstStyle>
          <a:p>
            <a:fld id="{E8ED33FE-9A2E-4C2A-BE9E-E865DEE3CA6E}" type="datetimeFigureOut">
              <a:rPr lang="en-US" altLang="en-US"/>
              <a:pPr/>
              <a:t>5/12/2026</a:t>
            </a:fld>
            <a:endParaRPr lang="en-US" altLang="en-US"/>
          </a:p>
        </p:txBody>
      </p:sp>
      <p:sp>
        <p:nvSpPr>
          <p:cNvPr id="4" name="Holder 6">
            <a:extLst>
              <a:ext uri="{FF2B5EF4-FFF2-40B4-BE49-F238E27FC236}">
                <a16:creationId xmlns:a16="http://schemas.microsoft.com/office/drawing/2014/main" id="{A5674C19-D144-F680-8C3D-120E8F3FC018}"/>
              </a:ext>
            </a:extLst>
          </p:cNvPr>
          <p:cNvSpPr>
            <a:spLocks noGrp="1" noChangeArrowheads="1"/>
          </p:cNvSpPr>
          <p:nvPr>
            <p:ph type="sldNum" sz="quarter" idx="12"/>
          </p:nvPr>
        </p:nvSpPr>
        <p:spPr>
          <a:ln/>
        </p:spPr>
        <p:txBody>
          <a:bodyPr/>
          <a:lstStyle>
            <a:lvl1pPr>
              <a:defRPr/>
            </a:lvl1pPr>
          </a:lstStyle>
          <a:p>
            <a:fld id="{C1A1A03A-7085-4891-ABC0-5E9D9D4A4835}" type="slidenum">
              <a:rPr lang="en-US" altLang="en-US"/>
              <a:pPr/>
              <a:t>‹#›</a:t>
            </a:fld>
            <a:endParaRPr lang="en-US" altLang="en-US"/>
          </a:p>
        </p:txBody>
      </p:sp>
    </p:spTree>
    <p:extLst>
      <p:ext uri="{BB962C8B-B14F-4D97-AF65-F5344CB8AC3E}">
        <p14:creationId xmlns:p14="http://schemas.microsoft.com/office/powerpoint/2010/main" val="2583526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a:extLst>
              <a:ext uri="{FF2B5EF4-FFF2-40B4-BE49-F238E27FC236}">
                <a16:creationId xmlns:a16="http://schemas.microsoft.com/office/drawing/2014/main" id="{44FAF9A0-6293-C5D1-B087-A3BF37DC1689}"/>
              </a:ext>
            </a:extLst>
          </p:cNvPr>
          <p:cNvSpPr>
            <a:spLocks noGrp="1" noChangeArrowheads="1"/>
          </p:cNvSpPr>
          <p:nvPr>
            <p:ph type="title"/>
          </p:nvPr>
        </p:nvSpPr>
        <p:spPr bwMode="auto">
          <a:xfrm>
            <a:off x="388938" y="401638"/>
            <a:ext cx="699452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7" name="Holder 3">
            <a:extLst>
              <a:ext uri="{FF2B5EF4-FFF2-40B4-BE49-F238E27FC236}">
                <a16:creationId xmlns:a16="http://schemas.microsoft.com/office/drawing/2014/main" id="{523CD705-4D11-A6E6-546E-4FDB4AFA8B41}"/>
              </a:ext>
            </a:extLst>
          </p:cNvPr>
          <p:cNvSpPr>
            <a:spLocks noGrp="1" noChangeArrowheads="1"/>
          </p:cNvSpPr>
          <p:nvPr>
            <p:ph type="body" idx="1"/>
          </p:nvPr>
        </p:nvSpPr>
        <p:spPr bwMode="auto">
          <a:xfrm>
            <a:off x="388938" y="2312988"/>
            <a:ext cx="6994525" cy="663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8" name="Holder 4">
            <a:extLst>
              <a:ext uri="{FF2B5EF4-FFF2-40B4-BE49-F238E27FC236}">
                <a16:creationId xmlns:a16="http://schemas.microsoft.com/office/drawing/2014/main" id="{A823A10C-DDE0-2776-4F53-18ED97327F7F}"/>
              </a:ext>
            </a:extLst>
          </p:cNvPr>
          <p:cNvSpPr>
            <a:spLocks noGrp="1" noChangeArrowheads="1"/>
          </p:cNvSpPr>
          <p:nvPr>
            <p:ph type="ftr" sz="quarter" idx="5"/>
          </p:nvPr>
        </p:nvSpPr>
        <p:spPr bwMode="auto">
          <a:xfrm>
            <a:off x="2643188" y="9353550"/>
            <a:ext cx="24860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lgn="ctr" eaLnBrk="1" hangingPunct="1">
              <a:defRPr>
                <a:solidFill>
                  <a:srgbClr val="898989"/>
                </a:solidFill>
              </a:defRPr>
            </a:lvl1pPr>
          </a:lstStyle>
          <a:p>
            <a:endParaRPr lang="en-US" altLang="en-US"/>
          </a:p>
        </p:txBody>
      </p:sp>
      <p:sp>
        <p:nvSpPr>
          <p:cNvPr id="1029" name="Holder 5">
            <a:extLst>
              <a:ext uri="{FF2B5EF4-FFF2-40B4-BE49-F238E27FC236}">
                <a16:creationId xmlns:a16="http://schemas.microsoft.com/office/drawing/2014/main" id="{79294C95-E4FA-0896-7401-5FE0130A21C6}"/>
              </a:ext>
            </a:extLst>
          </p:cNvPr>
          <p:cNvSpPr>
            <a:spLocks noGrp="1" noChangeArrowheads="1"/>
          </p:cNvSpPr>
          <p:nvPr>
            <p:ph type="dt" sz="half" idx="6"/>
          </p:nvPr>
        </p:nvSpPr>
        <p:spPr bwMode="auto">
          <a:xfrm>
            <a:off x="388938" y="9353550"/>
            <a:ext cx="17875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1" hangingPunct="1">
              <a:defRPr>
                <a:solidFill>
                  <a:srgbClr val="898989"/>
                </a:solidFill>
              </a:defRPr>
            </a:lvl1pPr>
          </a:lstStyle>
          <a:p>
            <a:fld id="{FFF425EE-6D85-4B71-A905-F4F0054C4EE3}" type="datetimeFigureOut">
              <a:rPr lang="en-US" altLang="en-US"/>
              <a:pPr/>
              <a:t>5/12/2026</a:t>
            </a:fld>
            <a:endParaRPr lang="en-US" altLang="en-US"/>
          </a:p>
        </p:txBody>
      </p:sp>
      <p:sp>
        <p:nvSpPr>
          <p:cNvPr id="1030" name="Holder 6">
            <a:extLst>
              <a:ext uri="{FF2B5EF4-FFF2-40B4-BE49-F238E27FC236}">
                <a16:creationId xmlns:a16="http://schemas.microsoft.com/office/drawing/2014/main" id="{4CC88F23-B196-E093-7E73-DD374ADEB0D5}"/>
              </a:ext>
            </a:extLst>
          </p:cNvPr>
          <p:cNvSpPr>
            <a:spLocks noGrp="1" noChangeArrowheads="1"/>
          </p:cNvSpPr>
          <p:nvPr>
            <p:ph type="sldNum" sz="quarter" idx="7"/>
          </p:nvPr>
        </p:nvSpPr>
        <p:spPr bwMode="auto">
          <a:xfrm>
            <a:off x="5595938" y="9353550"/>
            <a:ext cx="17875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fld id="{522F282B-7F38-424C-99E0-0BE011321DF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8F05B8D-3EA2-4A20-9B57-B8C2976703FB}"/>
              </a:ext>
            </a:extLst>
          </p:cNvPr>
          <p:cNvSpPr txBox="1"/>
          <p:nvPr/>
        </p:nvSpPr>
        <p:spPr>
          <a:xfrm>
            <a:off x="2081213" y="889000"/>
            <a:ext cx="3833812" cy="609600"/>
          </a:xfrm>
          <a:prstGeom prst="rect">
            <a:avLst/>
          </a:prstGeom>
        </p:spPr>
        <p:txBody>
          <a:bodyPr lIns="0" tIns="12065" rIns="0" bIns="0">
            <a:spAutoFit/>
          </a:bodyPr>
          <a:lstStyle/>
          <a:p>
            <a:pPr algn="ctr" eaLnBrk="1" fontAlgn="auto" hangingPunct="1">
              <a:spcBef>
                <a:spcPts val="95"/>
              </a:spcBef>
              <a:spcAft>
                <a:spcPts val="0"/>
              </a:spcAft>
              <a:defRPr/>
            </a:pPr>
            <a:r>
              <a:rPr sz="1600" b="1" kern="0" dirty="0">
                <a:solidFill>
                  <a:srgbClr val="1F4E79"/>
                </a:solidFill>
                <a:latin typeface="Times New Roman"/>
                <a:cs typeface="Times New Roman"/>
              </a:rPr>
              <a:t>PBL</a:t>
            </a:r>
            <a:r>
              <a:rPr sz="1600" kern="0" spc="-60" dirty="0">
                <a:solidFill>
                  <a:srgbClr val="1F4E79"/>
                </a:solidFill>
                <a:latin typeface="Times New Roman"/>
                <a:cs typeface="Times New Roman"/>
              </a:rPr>
              <a:t> </a:t>
            </a:r>
            <a:r>
              <a:rPr sz="1600" b="1" kern="0" spc="-10" dirty="0">
                <a:solidFill>
                  <a:srgbClr val="1F4E79"/>
                </a:solidFill>
                <a:latin typeface="Times New Roman"/>
                <a:cs typeface="Times New Roman"/>
              </a:rPr>
              <a:t>SECONDARY</a:t>
            </a:r>
            <a:r>
              <a:rPr sz="1600" kern="0" spc="-55" dirty="0">
                <a:solidFill>
                  <a:srgbClr val="1F4E79"/>
                </a:solidFill>
                <a:latin typeface="Times New Roman"/>
                <a:cs typeface="Times New Roman"/>
              </a:rPr>
              <a:t> </a:t>
            </a:r>
            <a:r>
              <a:rPr sz="1600" b="1" kern="0" dirty="0">
                <a:solidFill>
                  <a:srgbClr val="1F4E79"/>
                </a:solidFill>
                <a:latin typeface="Times New Roman"/>
                <a:cs typeface="Times New Roman"/>
              </a:rPr>
              <a:t>RESEARCH</a:t>
            </a:r>
            <a:r>
              <a:rPr sz="1600" kern="0" spc="-50" dirty="0">
                <a:solidFill>
                  <a:srgbClr val="1F4E79"/>
                </a:solidFill>
                <a:latin typeface="Times New Roman"/>
                <a:cs typeface="Times New Roman"/>
              </a:rPr>
              <a:t> </a:t>
            </a:r>
            <a:r>
              <a:rPr sz="1600" b="1" kern="0" spc="-10" dirty="0">
                <a:solidFill>
                  <a:srgbClr val="1F4E79"/>
                </a:solidFill>
                <a:latin typeface="Times New Roman"/>
                <a:cs typeface="Times New Roman"/>
              </a:rPr>
              <a:t>REPORT</a:t>
            </a:r>
            <a:endParaRPr sz="1600" kern="0">
              <a:solidFill>
                <a:sysClr val="windowText" lastClr="000000"/>
              </a:solidFill>
              <a:latin typeface="Times New Roman"/>
              <a:cs typeface="Times New Roman"/>
            </a:endParaRPr>
          </a:p>
          <a:p>
            <a:pPr marL="5080" algn="ctr" eaLnBrk="1" fontAlgn="auto" hangingPunct="1">
              <a:spcBef>
                <a:spcPts val="1005"/>
              </a:spcBef>
              <a:spcAft>
                <a:spcPts val="0"/>
              </a:spcAft>
              <a:defRPr/>
            </a:pPr>
            <a:r>
              <a:rPr sz="1400" b="1" kern="0" spc="-10" dirty="0">
                <a:solidFill>
                  <a:srgbClr val="2D75B6"/>
                </a:solidFill>
                <a:latin typeface="Times New Roman"/>
                <a:cs typeface="Times New Roman"/>
              </a:rPr>
              <a:t>FPGA-</a:t>
            </a:r>
            <a:r>
              <a:rPr sz="1400" b="1" kern="0" dirty="0">
                <a:solidFill>
                  <a:srgbClr val="2D75B6"/>
                </a:solidFill>
                <a:latin typeface="Times New Roman"/>
                <a:cs typeface="Times New Roman"/>
              </a:rPr>
              <a:t>Based</a:t>
            </a:r>
            <a:r>
              <a:rPr sz="1400" kern="0" spc="-25" dirty="0">
                <a:solidFill>
                  <a:srgbClr val="2D75B6"/>
                </a:solidFill>
                <a:latin typeface="Times New Roman"/>
                <a:cs typeface="Times New Roman"/>
              </a:rPr>
              <a:t> </a:t>
            </a:r>
            <a:r>
              <a:rPr sz="1400" b="1" kern="0" dirty="0">
                <a:solidFill>
                  <a:srgbClr val="2D75B6"/>
                </a:solidFill>
                <a:latin typeface="Times New Roman"/>
                <a:cs typeface="Times New Roman"/>
              </a:rPr>
              <a:t>Design</a:t>
            </a:r>
            <a:r>
              <a:rPr sz="1400" kern="0" spc="-15" dirty="0">
                <a:solidFill>
                  <a:srgbClr val="2D75B6"/>
                </a:solidFill>
                <a:latin typeface="Times New Roman"/>
                <a:cs typeface="Times New Roman"/>
              </a:rPr>
              <a:t> </a:t>
            </a:r>
            <a:r>
              <a:rPr sz="1400" b="1" kern="0" spc="-10" dirty="0">
                <a:solidFill>
                  <a:srgbClr val="2D75B6"/>
                </a:solidFill>
                <a:latin typeface="Times New Roman"/>
                <a:cs typeface="Times New Roman"/>
              </a:rPr>
              <a:t>Project</a:t>
            </a:r>
            <a:endParaRPr sz="1400" kern="0">
              <a:solidFill>
                <a:sysClr val="windowText" lastClr="000000"/>
              </a:solidFill>
              <a:latin typeface="Times New Roman"/>
              <a:cs typeface="Times New Roman"/>
            </a:endParaRPr>
          </a:p>
        </p:txBody>
      </p:sp>
      <p:sp>
        <p:nvSpPr>
          <p:cNvPr id="2051" name="object 3">
            <a:extLst>
              <a:ext uri="{FF2B5EF4-FFF2-40B4-BE49-F238E27FC236}">
                <a16:creationId xmlns:a16="http://schemas.microsoft.com/office/drawing/2014/main" id="{181F94FF-D5F0-C6BE-BA4E-6B30D5FD564A}"/>
              </a:ext>
            </a:extLst>
          </p:cNvPr>
          <p:cNvSpPr>
            <a:spLocks/>
          </p:cNvSpPr>
          <p:nvPr/>
        </p:nvSpPr>
        <p:spPr bwMode="auto">
          <a:xfrm>
            <a:off x="1125538" y="2087563"/>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4" name="object 4">
            <a:extLst>
              <a:ext uri="{FF2B5EF4-FFF2-40B4-BE49-F238E27FC236}">
                <a16:creationId xmlns:a16="http://schemas.microsoft.com/office/drawing/2014/main" id="{6048DE96-1F53-8319-63FE-C9E48E3310B1}"/>
              </a:ext>
            </a:extLst>
          </p:cNvPr>
          <p:cNvSpPr txBox="1"/>
          <p:nvPr/>
        </p:nvSpPr>
        <p:spPr>
          <a:xfrm>
            <a:off x="1168400" y="2366963"/>
            <a:ext cx="5659438" cy="963612"/>
          </a:xfrm>
          <a:prstGeom prst="rect">
            <a:avLst/>
          </a:prstGeom>
        </p:spPr>
        <p:txBody>
          <a:bodyPr lIns="0" tIns="104775" rIns="0" bIns="0">
            <a:spAutoFit/>
          </a:bodyPr>
          <a:lstStyle>
            <a:lvl1pPr marL="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ts val="825"/>
              </a:spcBef>
            </a:pPr>
            <a:r>
              <a:rPr lang="en-US" altLang="en-US" sz="1300" b="1">
                <a:solidFill>
                  <a:srgbClr val="1F4E79"/>
                </a:solidFill>
                <a:latin typeface="Times New Roman" panose="02020603050405020304" pitchFamily="18" charset="0"/>
                <a:cs typeface="Times New Roman" panose="02020603050405020304" pitchFamily="18" charset="0"/>
              </a:rPr>
              <a:t>Project</a:t>
            </a:r>
            <a:r>
              <a:rPr lang="en-US" altLang="en-US" sz="1300">
                <a:solidFill>
                  <a:srgbClr val="1F4E79"/>
                </a:solidFill>
                <a:latin typeface="Times New Roman" panose="02020603050405020304" pitchFamily="18" charset="0"/>
                <a:cs typeface="Times New Roman" panose="02020603050405020304" pitchFamily="18" charset="0"/>
              </a:rPr>
              <a:t> </a:t>
            </a:r>
            <a:r>
              <a:rPr lang="en-US" altLang="en-US" sz="1300" b="1">
                <a:solidFill>
                  <a:srgbClr val="1F4E79"/>
                </a:solidFill>
                <a:latin typeface="Times New Roman" panose="02020603050405020304" pitchFamily="18" charset="0"/>
                <a:cs typeface="Times New Roman" panose="02020603050405020304" pitchFamily="18" charset="0"/>
              </a:rPr>
              <a:t>Title:</a:t>
            </a:r>
            <a:endParaRPr lang="en-US" altLang="en-US" sz="1300">
              <a:solidFill>
                <a:srgbClr val="000000"/>
              </a:solidFill>
              <a:latin typeface="Times New Roman" panose="02020603050405020304" pitchFamily="18" charset="0"/>
              <a:cs typeface="Times New Roman" panose="02020603050405020304" pitchFamily="18" charset="0"/>
            </a:endParaRPr>
          </a:p>
          <a:p>
            <a:pPr algn="ctr" eaLnBrk="1" hangingPunct="1">
              <a:lnSpc>
                <a:spcPct val="136000"/>
              </a:lnSpc>
              <a:spcBef>
                <a:spcPts val="188"/>
              </a:spcBef>
            </a:pPr>
            <a:r>
              <a:rPr lang="en-US" altLang="en-US" sz="1500" b="1">
                <a:solidFill>
                  <a:srgbClr val="000000"/>
                </a:solidFill>
                <a:latin typeface="Times New Roman" panose="02020603050405020304" pitchFamily="18" charset="0"/>
                <a:cs typeface="Times New Roman" panose="02020603050405020304" pitchFamily="18" charset="0"/>
              </a:rPr>
              <a:t>FPGA</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Implementation</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of</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Modified</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Error</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Normalized</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LMS</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Adaptive</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Filter</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for</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ECG</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Noise</a:t>
            </a:r>
            <a:r>
              <a:rPr lang="en-US" altLang="en-US" sz="1500">
                <a:solidFill>
                  <a:srgbClr val="000000"/>
                </a:solidFill>
                <a:latin typeface="Times New Roman" panose="02020603050405020304" pitchFamily="18" charset="0"/>
                <a:cs typeface="Times New Roman" panose="02020603050405020304" pitchFamily="18" charset="0"/>
              </a:rPr>
              <a:t> </a:t>
            </a:r>
            <a:r>
              <a:rPr lang="en-US" altLang="en-US" sz="1500" b="1">
                <a:solidFill>
                  <a:srgbClr val="000000"/>
                </a:solidFill>
                <a:latin typeface="Times New Roman" panose="02020603050405020304" pitchFamily="18" charset="0"/>
                <a:cs typeface="Times New Roman" panose="02020603050405020304" pitchFamily="18" charset="0"/>
              </a:rPr>
              <a:t>Removal</a:t>
            </a:r>
            <a:endParaRPr lang="en-US" altLang="en-US" sz="1500">
              <a:solidFill>
                <a:srgbClr val="000000"/>
              </a:solidFill>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56F2A116-BB2F-3EB4-00CB-A148B1E948B1}"/>
              </a:ext>
            </a:extLst>
          </p:cNvPr>
          <p:cNvSpPr txBox="1"/>
          <p:nvPr/>
        </p:nvSpPr>
        <p:spPr>
          <a:xfrm>
            <a:off x="1873250" y="3794125"/>
            <a:ext cx="4257675" cy="531813"/>
          </a:xfrm>
          <a:prstGeom prst="rect">
            <a:avLst/>
          </a:prstGeom>
        </p:spPr>
        <p:txBody>
          <a:bodyPr lIns="0" tIns="12700" rIns="0" bIns="0">
            <a:spAutoFit/>
          </a:bodyPr>
          <a:lstStyle>
            <a:lvl1pPr marL="1165225" indent="-11525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51000"/>
              </a:lnSpc>
              <a:spcBef>
                <a:spcPts val="100"/>
              </a:spcBef>
            </a:pPr>
            <a:r>
              <a:rPr lang="en-US" altLang="en-US" sz="1100" i="1">
                <a:solidFill>
                  <a:srgbClr val="545454"/>
                </a:solidFill>
                <a:latin typeface="Times New Roman" panose="02020603050405020304" pitchFamily="18" charset="0"/>
                <a:cs typeface="Times New Roman" panose="02020603050405020304" pitchFamily="18" charset="0"/>
              </a:rPr>
              <a:t>Based</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on:</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Venkatesan</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et</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al.,</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Cluster</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Computing</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(2019)</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22:S12233–S12241</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DOI:</a:t>
            </a:r>
            <a:r>
              <a:rPr lang="en-US" altLang="en-US" sz="1100">
                <a:solidFill>
                  <a:srgbClr val="545454"/>
                </a:solidFill>
                <a:latin typeface="Times New Roman" panose="02020603050405020304" pitchFamily="18" charset="0"/>
                <a:cs typeface="Times New Roman" panose="02020603050405020304" pitchFamily="18" charset="0"/>
              </a:rPr>
              <a:t> </a:t>
            </a:r>
            <a:r>
              <a:rPr lang="en-US" altLang="en-US" sz="1100" i="1">
                <a:solidFill>
                  <a:srgbClr val="545454"/>
                </a:solidFill>
                <a:latin typeface="Times New Roman" panose="02020603050405020304" pitchFamily="18" charset="0"/>
                <a:cs typeface="Times New Roman" panose="02020603050405020304" pitchFamily="18" charset="0"/>
              </a:rPr>
              <a:t>10.1007/s10586-017-1602-0</a:t>
            </a:r>
            <a:endParaRPr lang="en-US" altLang="en-US" sz="1100">
              <a:solidFill>
                <a:srgbClr val="000000"/>
              </a:solidFill>
              <a:latin typeface="Times New Roman" panose="02020603050405020304" pitchFamily="18" charset="0"/>
              <a:cs typeface="Times New Roman" panose="02020603050405020304" pitchFamily="18" charset="0"/>
            </a:endParaRPr>
          </a:p>
        </p:txBody>
      </p:sp>
      <p:sp>
        <p:nvSpPr>
          <p:cNvPr id="2054" name="object 6">
            <a:extLst>
              <a:ext uri="{FF2B5EF4-FFF2-40B4-BE49-F238E27FC236}">
                <a16:creationId xmlns:a16="http://schemas.microsoft.com/office/drawing/2014/main" id="{16FA579C-99AB-29CD-05AA-5778327BE6C3}"/>
              </a:ext>
            </a:extLst>
          </p:cNvPr>
          <p:cNvSpPr>
            <a:spLocks/>
          </p:cNvSpPr>
          <p:nvPr/>
        </p:nvSpPr>
        <p:spPr bwMode="auto">
          <a:xfrm>
            <a:off x="1125538" y="4832350"/>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7" name="object 7">
            <a:extLst>
              <a:ext uri="{FF2B5EF4-FFF2-40B4-BE49-F238E27FC236}">
                <a16:creationId xmlns:a16="http://schemas.microsoft.com/office/drawing/2014/main" id="{8B8D4CD5-E631-E3EF-9690-BFA39399C24D}"/>
              </a:ext>
            </a:extLst>
          </p:cNvPr>
          <p:cNvSpPr txBox="1"/>
          <p:nvPr/>
        </p:nvSpPr>
        <p:spPr>
          <a:xfrm>
            <a:off x="1371600" y="5102225"/>
            <a:ext cx="5257800" cy="571500"/>
          </a:xfrm>
          <a:prstGeom prst="rect">
            <a:avLst/>
          </a:prstGeom>
        </p:spPr>
        <p:txBody>
          <a:bodyPr lIns="0" tIns="113664" rIns="0" bIns="0">
            <a:spAutoFit/>
          </a:bodyPr>
          <a:lstStyle/>
          <a:p>
            <a:pPr marL="635" algn="ctr" eaLnBrk="1" fontAlgn="auto" hangingPunct="1">
              <a:spcBef>
                <a:spcPts val="894"/>
              </a:spcBef>
              <a:spcAft>
                <a:spcPts val="0"/>
              </a:spcAft>
              <a:defRPr/>
            </a:pPr>
            <a:r>
              <a:rPr sz="1200" b="1" kern="0" dirty="0">
                <a:solidFill>
                  <a:sysClr val="windowText" lastClr="000000"/>
                </a:solidFill>
                <a:latin typeface="Times New Roman"/>
                <a:cs typeface="Times New Roman"/>
              </a:rPr>
              <a:t>Tools</a:t>
            </a:r>
            <a:r>
              <a:rPr sz="1200" kern="0" dirty="0">
                <a:solidFill>
                  <a:sysClr val="windowText" lastClr="000000"/>
                </a:solidFill>
                <a:latin typeface="Times New Roman"/>
                <a:cs typeface="Times New Roman"/>
              </a:rPr>
              <a:t> </a:t>
            </a:r>
            <a:r>
              <a:rPr sz="1200" b="1" kern="0" spc="-10" dirty="0">
                <a:solidFill>
                  <a:sysClr val="windowText" lastClr="000000"/>
                </a:solidFill>
                <a:latin typeface="Times New Roman"/>
                <a:cs typeface="Times New Roman"/>
              </a:rPr>
              <a:t>Used:</a:t>
            </a:r>
            <a:endParaRPr sz="1200" kern="0">
              <a:solidFill>
                <a:sysClr val="windowText" lastClr="000000"/>
              </a:solidFill>
              <a:latin typeface="Times New Roman"/>
              <a:cs typeface="Times New Roman"/>
            </a:endParaRPr>
          </a:p>
          <a:p>
            <a:pPr algn="ctr" eaLnBrk="1" fontAlgn="auto" hangingPunct="1">
              <a:spcBef>
                <a:spcPts val="735"/>
              </a:spcBef>
              <a:spcAft>
                <a:spcPts val="0"/>
              </a:spcAft>
              <a:defRPr/>
            </a:pPr>
            <a:r>
              <a:rPr sz="1100" kern="0" dirty="0">
                <a:solidFill>
                  <a:srgbClr val="323232"/>
                </a:solidFill>
                <a:latin typeface="Times New Roman"/>
                <a:cs typeface="Times New Roman"/>
              </a:rPr>
              <a:t>Verilog</a:t>
            </a:r>
            <a:r>
              <a:rPr sz="1100" kern="0" spc="-25" dirty="0">
                <a:solidFill>
                  <a:srgbClr val="323232"/>
                </a:solidFill>
                <a:latin typeface="Times New Roman"/>
                <a:cs typeface="Times New Roman"/>
              </a:rPr>
              <a:t> </a:t>
            </a:r>
            <a:r>
              <a:rPr sz="1100" kern="0" dirty="0">
                <a:solidFill>
                  <a:srgbClr val="323232"/>
                </a:solidFill>
                <a:latin typeface="Times New Roman"/>
                <a:cs typeface="Times New Roman"/>
              </a:rPr>
              <a:t>HDL</a:t>
            </a:r>
            <a:r>
              <a:rPr sz="1100" kern="0" spc="254" dirty="0">
                <a:solidFill>
                  <a:srgbClr val="323232"/>
                </a:solidFill>
                <a:latin typeface="Times New Roman"/>
                <a:cs typeface="Times New Roman"/>
              </a:rPr>
              <a:t> </a:t>
            </a:r>
            <a:r>
              <a:rPr sz="1100" kern="0" dirty="0">
                <a:solidFill>
                  <a:srgbClr val="323232"/>
                </a:solidFill>
                <a:latin typeface="Times New Roman"/>
                <a:cs typeface="Times New Roman"/>
              </a:rPr>
              <a:t>•</a:t>
            </a:r>
            <a:r>
              <a:rPr sz="1100" kern="0" spc="250" dirty="0">
                <a:solidFill>
                  <a:srgbClr val="323232"/>
                </a:solidFill>
                <a:latin typeface="Times New Roman"/>
                <a:cs typeface="Times New Roman"/>
              </a:rPr>
              <a:t> </a:t>
            </a:r>
            <a:r>
              <a:rPr sz="1100" kern="0" dirty="0">
                <a:solidFill>
                  <a:srgbClr val="323232"/>
                </a:solidFill>
                <a:latin typeface="Times New Roman"/>
                <a:cs typeface="Times New Roman"/>
              </a:rPr>
              <a:t>ModelSim</a:t>
            </a:r>
            <a:r>
              <a:rPr sz="1100" kern="0" spc="245" dirty="0">
                <a:solidFill>
                  <a:srgbClr val="323232"/>
                </a:solidFill>
                <a:latin typeface="Times New Roman"/>
                <a:cs typeface="Times New Roman"/>
              </a:rPr>
              <a:t> </a:t>
            </a:r>
            <a:r>
              <a:rPr sz="1100" kern="0" dirty="0">
                <a:solidFill>
                  <a:srgbClr val="323232"/>
                </a:solidFill>
                <a:latin typeface="Times New Roman"/>
                <a:cs typeface="Times New Roman"/>
              </a:rPr>
              <a:t>•</a:t>
            </a:r>
            <a:r>
              <a:rPr sz="1100" kern="0" spc="254" dirty="0">
                <a:solidFill>
                  <a:srgbClr val="323232"/>
                </a:solidFill>
                <a:latin typeface="Times New Roman"/>
                <a:cs typeface="Times New Roman"/>
              </a:rPr>
              <a:t> </a:t>
            </a:r>
            <a:r>
              <a:rPr sz="1100" kern="0" dirty="0">
                <a:solidFill>
                  <a:srgbClr val="323232"/>
                </a:solidFill>
                <a:latin typeface="Times New Roman"/>
                <a:cs typeface="Times New Roman"/>
              </a:rPr>
              <a:t>Xilinx</a:t>
            </a:r>
            <a:r>
              <a:rPr sz="1100" kern="0" spc="-10" dirty="0">
                <a:solidFill>
                  <a:srgbClr val="323232"/>
                </a:solidFill>
                <a:latin typeface="Times New Roman"/>
                <a:cs typeface="Times New Roman"/>
              </a:rPr>
              <a:t> </a:t>
            </a:r>
            <a:r>
              <a:rPr sz="1100" kern="0" dirty="0">
                <a:solidFill>
                  <a:srgbClr val="323232"/>
                </a:solidFill>
                <a:latin typeface="Times New Roman"/>
                <a:cs typeface="Times New Roman"/>
              </a:rPr>
              <a:t>ISE</a:t>
            </a:r>
            <a:r>
              <a:rPr sz="1100" kern="0" spc="245" dirty="0">
                <a:solidFill>
                  <a:srgbClr val="323232"/>
                </a:solidFill>
                <a:latin typeface="Times New Roman"/>
                <a:cs typeface="Times New Roman"/>
              </a:rPr>
              <a:t> </a:t>
            </a:r>
            <a:r>
              <a:rPr sz="1100" kern="0" dirty="0">
                <a:solidFill>
                  <a:srgbClr val="323232"/>
                </a:solidFill>
                <a:latin typeface="Times New Roman"/>
                <a:cs typeface="Times New Roman"/>
              </a:rPr>
              <a:t>•</a:t>
            </a:r>
            <a:r>
              <a:rPr sz="1100" kern="0" spc="254" dirty="0">
                <a:solidFill>
                  <a:srgbClr val="323232"/>
                </a:solidFill>
                <a:latin typeface="Times New Roman"/>
                <a:cs typeface="Times New Roman"/>
              </a:rPr>
              <a:t> </a:t>
            </a:r>
            <a:r>
              <a:rPr sz="1100" kern="0" dirty="0">
                <a:solidFill>
                  <a:srgbClr val="323232"/>
                </a:solidFill>
                <a:latin typeface="Times New Roman"/>
                <a:cs typeface="Times New Roman"/>
              </a:rPr>
              <a:t>Virtex</a:t>
            </a:r>
            <a:r>
              <a:rPr sz="1100" kern="0" spc="-10" dirty="0">
                <a:solidFill>
                  <a:srgbClr val="323232"/>
                </a:solidFill>
                <a:latin typeface="Times New Roman"/>
                <a:cs typeface="Times New Roman"/>
              </a:rPr>
              <a:t> </a:t>
            </a:r>
            <a:r>
              <a:rPr sz="1100" kern="0" dirty="0">
                <a:solidFill>
                  <a:srgbClr val="323232"/>
                </a:solidFill>
                <a:latin typeface="Times New Roman"/>
                <a:cs typeface="Times New Roman"/>
              </a:rPr>
              <a:t>5</a:t>
            </a:r>
            <a:r>
              <a:rPr sz="1100" kern="0" spc="-10" dirty="0">
                <a:solidFill>
                  <a:srgbClr val="323232"/>
                </a:solidFill>
                <a:latin typeface="Times New Roman"/>
                <a:cs typeface="Times New Roman"/>
              </a:rPr>
              <a:t> </a:t>
            </a:r>
            <a:r>
              <a:rPr sz="1100" kern="0" dirty="0">
                <a:solidFill>
                  <a:srgbClr val="323232"/>
                </a:solidFill>
                <a:latin typeface="Times New Roman"/>
                <a:cs typeface="Times New Roman"/>
              </a:rPr>
              <a:t>FPGA</a:t>
            </a:r>
            <a:r>
              <a:rPr sz="1100" kern="0" spc="-20" dirty="0">
                <a:solidFill>
                  <a:srgbClr val="323232"/>
                </a:solidFill>
                <a:latin typeface="Times New Roman"/>
                <a:cs typeface="Times New Roman"/>
              </a:rPr>
              <a:t> </a:t>
            </a:r>
            <a:r>
              <a:rPr sz="1100" kern="0" dirty="0">
                <a:solidFill>
                  <a:srgbClr val="323232"/>
                </a:solidFill>
                <a:latin typeface="Times New Roman"/>
                <a:cs typeface="Times New Roman"/>
              </a:rPr>
              <a:t>XC5LVX330</a:t>
            </a:r>
            <a:r>
              <a:rPr sz="1100" kern="0" spc="254" dirty="0">
                <a:solidFill>
                  <a:srgbClr val="323232"/>
                </a:solidFill>
                <a:latin typeface="Times New Roman"/>
                <a:cs typeface="Times New Roman"/>
              </a:rPr>
              <a:t> </a:t>
            </a:r>
            <a:r>
              <a:rPr sz="1100" kern="0" dirty="0">
                <a:solidFill>
                  <a:srgbClr val="323232"/>
                </a:solidFill>
                <a:latin typeface="Times New Roman"/>
                <a:cs typeface="Times New Roman"/>
              </a:rPr>
              <a:t>•</a:t>
            </a:r>
            <a:r>
              <a:rPr sz="1100" kern="0" spc="254" dirty="0">
                <a:solidFill>
                  <a:srgbClr val="323232"/>
                </a:solidFill>
                <a:latin typeface="Times New Roman"/>
                <a:cs typeface="Times New Roman"/>
              </a:rPr>
              <a:t> </a:t>
            </a:r>
            <a:r>
              <a:rPr sz="1100" kern="0" dirty="0">
                <a:solidFill>
                  <a:srgbClr val="323232"/>
                </a:solidFill>
                <a:latin typeface="Times New Roman"/>
                <a:cs typeface="Times New Roman"/>
              </a:rPr>
              <a:t>Microsoft</a:t>
            </a:r>
            <a:r>
              <a:rPr sz="1100" kern="0" spc="-5" dirty="0">
                <a:solidFill>
                  <a:srgbClr val="323232"/>
                </a:solidFill>
                <a:latin typeface="Times New Roman"/>
                <a:cs typeface="Times New Roman"/>
              </a:rPr>
              <a:t> </a:t>
            </a:r>
            <a:r>
              <a:rPr sz="1100" kern="0" spc="-10" dirty="0">
                <a:solidFill>
                  <a:srgbClr val="323232"/>
                </a:solidFill>
                <a:latin typeface="Times New Roman"/>
                <a:cs typeface="Times New Roman"/>
              </a:rPr>
              <a:t>Visio</a:t>
            </a:r>
            <a:endParaRPr sz="1100" kern="0">
              <a:solidFill>
                <a:sysClr val="windowText" lastClr="000000"/>
              </a:solidFill>
              <a:latin typeface="Times New Roman"/>
              <a:cs typeface="Times New Roman"/>
            </a:endParaRPr>
          </a:p>
        </p:txBody>
      </p:sp>
      <p:sp>
        <p:nvSpPr>
          <p:cNvPr id="8" name="object 8">
            <a:extLst>
              <a:ext uri="{FF2B5EF4-FFF2-40B4-BE49-F238E27FC236}">
                <a16:creationId xmlns:a16="http://schemas.microsoft.com/office/drawing/2014/main" id="{729C83DD-B5BC-3CDF-7D96-6688EF109949}"/>
              </a:ext>
            </a:extLst>
          </p:cNvPr>
          <p:cNvSpPr txBox="1"/>
          <p:nvPr/>
        </p:nvSpPr>
        <p:spPr>
          <a:xfrm>
            <a:off x="1130300" y="6929438"/>
            <a:ext cx="2914650" cy="269875"/>
          </a:xfrm>
          <a:prstGeom prst="rect">
            <a:avLst/>
          </a:prstGeom>
        </p:spPr>
        <p:txBody>
          <a:bodyPr lIns="0" tIns="12065" rIns="0" bIns="0">
            <a:spAutoFit/>
          </a:bodyPr>
          <a:lstStyle/>
          <a:p>
            <a:pPr marL="12700" eaLnBrk="1" fontAlgn="auto" hangingPunct="1">
              <a:spcBef>
                <a:spcPts val="95"/>
              </a:spcBef>
              <a:spcAft>
                <a:spcPts val="0"/>
              </a:spcAft>
              <a:defRPr/>
            </a:pPr>
            <a:r>
              <a:rPr sz="1600" b="1" kern="0" dirty="0">
                <a:solidFill>
                  <a:srgbClr val="1F4E79"/>
                </a:solidFill>
                <a:latin typeface="Times New Roman"/>
                <a:cs typeface="Times New Roman"/>
              </a:rPr>
              <a:t>CHAPTER</a:t>
            </a:r>
            <a:r>
              <a:rPr sz="1600" kern="0" spc="-60" dirty="0">
                <a:solidFill>
                  <a:srgbClr val="1F4E79"/>
                </a:solidFill>
                <a:latin typeface="Times New Roman"/>
                <a:cs typeface="Times New Roman"/>
              </a:rPr>
              <a:t> </a:t>
            </a:r>
            <a:r>
              <a:rPr sz="1600" b="1" kern="0" dirty="0">
                <a:solidFill>
                  <a:srgbClr val="1F4E79"/>
                </a:solidFill>
                <a:latin typeface="Times New Roman"/>
                <a:cs typeface="Times New Roman"/>
              </a:rPr>
              <a:t>1:</a:t>
            </a:r>
            <a:r>
              <a:rPr sz="1600" kern="0" spc="-45" dirty="0">
                <a:solidFill>
                  <a:srgbClr val="1F4E79"/>
                </a:solidFill>
                <a:latin typeface="Times New Roman"/>
                <a:cs typeface="Times New Roman"/>
              </a:rPr>
              <a:t> </a:t>
            </a:r>
            <a:r>
              <a:rPr sz="1600" b="1" kern="0" spc="-10" dirty="0">
                <a:solidFill>
                  <a:srgbClr val="1F4E79"/>
                </a:solidFill>
                <a:latin typeface="Times New Roman"/>
                <a:cs typeface="Times New Roman"/>
              </a:rPr>
              <a:t>INTRODUCTION</a:t>
            </a:r>
            <a:endParaRPr sz="1600" kern="0">
              <a:solidFill>
                <a:sysClr val="windowText" lastClr="000000"/>
              </a:solidFill>
              <a:latin typeface="Times New Roman"/>
              <a:cs typeface="Times New Roman"/>
            </a:endParaRPr>
          </a:p>
        </p:txBody>
      </p:sp>
      <p:sp>
        <p:nvSpPr>
          <p:cNvPr id="2057" name="object 9">
            <a:extLst>
              <a:ext uri="{FF2B5EF4-FFF2-40B4-BE49-F238E27FC236}">
                <a16:creationId xmlns:a16="http://schemas.microsoft.com/office/drawing/2014/main" id="{9053CA6F-D2B0-D8E2-BBF6-8807579DB720}"/>
              </a:ext>
            </a:extLst>
          </p:cNvPr>
          <p:cNvSpPr>
            <a:spLocks/>
          </p:cNvSpPr>
          <p:nvPr/>
        </p:nvSpPr>
        <p:spPr bwMode="auto">
          <a:xfrm>
            <a:off x="1125538" y="7662863"/>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10" name="object 10">
            <a:extLst>
              <a:ext uri="{FF2B5EF4-FFF2-40B4-BE49-F238E27FC236}">
                <a16:creationId xmlns:a16="http://schemas.microsoft.com/office/drawing/2014/main" id="{9016CCA6-38D5-66AD-358D-3A3966181A07}"/>
              </a:ext>
            </a:extLst>
          </p:cNvPr>
          <p:cNvSpPr txBox="1"/>
          <p:nvPr/>
        </p:nvSpPr>
        <p:spPr>
          <a:xfrm>
            <a:off x="1130300" y="7810500"/>
            <a:ext cx="5695950" cy="1301750"/>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a:solidFill>
                  <a:srgbClr val="2D75B6"/>
                </a:solidFill>
                <a:latin typeface="Times New Roman" panose="02020603050405020304" pitchFamily="18" charset="0"/>
                <a:cs typeface="Times New Roman" panose="02020603050405020304" pitchFamily="18" charset="0"/>
              </a:rPr>
              <a:t>1.1</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Background</a:t>
            </a:r>
            <a:endParaRPr lang="en-US" altLang="en-US" sz="1400">
              <a:solidFill>
                <a:srgbClr val="000000"/>
              </a:solidFill>
              <a:latin typeface="Times New Roman" panose="02020603050405020304" pitchFamily="18" charset="0"/>
              <a:cs typeface="Times New Roman" panose="02020603050405020304" pitchFamily="18" charset="0"/>
            </a:endParaRPr>
          </a:p>
          <a:p>
            <a:pPr eaLnBrk="1" hangingPunct="1">
              <a:lnSpc>
                <a:spcPct val="144000"/>
              </a:lnSpc>
              <a:spcBef>
                <a:spcPts val="750"/>
              </a:spcBef>
            </a:pPr>
            <a:r>
              <a:rPr lang="en-US" altLang="en-US" sz="1100">
                <a:solidFill>
                  <a:srgbClr val="000000"/>
                </a:solidFill>
                <a:latin typeface="Calibri" panose="020F0502020204030204" pitchFamily="34" charset="0"/>
                <a:cs typeface="Calibri" panose="020F0502020204030204" pitchFamily="34" charset="0"/>
              </a:rPr>
              <a:t>Fast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Fourier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Transform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(FFT)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widely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signal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applications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such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biomedical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signal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analysis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communication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systems,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image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frequency-domain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analysis.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monitoring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systems,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FFT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adaptive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techniques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help</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identifying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components.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80994E2-5A3C-C664-FD3A-2A1F320B2667}"/>
              </a:ext>
            </a:extLst>
          </p:cNvPr>
          <p:cNvSpPr txBox="1"/>
          <p:nvPr/>
        </p:nvSpPr>
        <p:spPr>
          <a:xfrm>
            <a:off x="1130300" y="820738"/>
            <a:ext cx="5732463" cy="1992725"/>
          </a:xfrm>
          <a:prstGeom prst="rect">
            <a:avLst/>
          </a:prstGeom>
        </p:spPr>
        <p:txBody>
          <a:bodyPr wrap="square" lIns="0" tIns="12700"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44000"/>
              </a:lnSpc>
              <a:spcBef>
                <a:spcPts val="100"/>
              </a:spcBef>
            </a:pPr>
            <a:r>
              <a:rPr lang="en-US" altLang="en-US" sz="1100" dirty="0">
                <a:solidFill>
                  <a:srgbClr val="000000"/>
                </a:solidFill>
                <a:latin typeface="Calibri" panose="020F0502020204030204" pitchFamily="34" charset="0"/>
                <a:cs typeface="Calibri" panose="020F0502020204030204" pitchFamily="34" charset="0"/>
              </a:rPr>
              <a:t>However,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signal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requires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high-speed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computation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continuous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handling.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Software-based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implementations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DSPs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microprocessors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often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fail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meet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these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demands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due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high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computational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complexity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slower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execution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Therefore,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hardware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acceleration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using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Field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Programmable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Gate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Arrays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has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become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essential.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provide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parallel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low</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latency,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high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throughput,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making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them</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suitable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biomedical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applications.</a:t>
            </a:r>
          </a:p>
          <a:p>
            <a:pPr eaLnBrk="1" hangingPunct="1">
              <a:lnSpc>
                <a:spcPct val="145000"/>
              </a:lnSpc>
              <a:spcBef>
                <a:spcPts val="388"/>
              </a:spcBef>
            </a:pPr>
            <a:r>
              <a:rPr lang="en-US" altLang="en-US" sz="1100" dirty="0">
                <a:solidFill>
                  <a:srgbClr val="000000"/>
                </a:solidFill>
                <a:latin typeface="Calibri" panose="020F0502020204030204" pitchFamily="34" charset="0"/>
                <a:cs typeface="Calibri" panose="020F0502020204030204" pitchFamily="34" charset="0"/>
              </a:rPr>
              <a:t>This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project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focuses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designing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architecture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using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pipelined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adaptive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technique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(DENLMS)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achieve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efficient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ECG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noise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removal.</a:t>
            </a:r>
          </a:p>
        </p:txBody>
      </p:sp>
      <p:sp>
        <p:nvSpPr>
          <p:cNvPr id="3" name="object 3">
            <a:extLst>
              <a:ext uri="{FF2B5EF4-FFF2-40B4-BE49-F238E27FC236}">
                <a16:creationId xmlns:a16="http://schemas.microsoft.com/office/drawing/2014/main" id="{19AA2475-E3B5-C1D8-E44F-FFABBDA08C36}"/>
              </a:ext>
            </a:extLst>
          </p:cNvPr>
          <p:cNvSpPr txBox="1"/>
          <p:nvPr/>
        </p:nvSpPr>
        <p:spPr>
          <a:xfrm>
            <a:off x="1130300" y="3336925"/>
            <a:ext cx="5630863" cy="2078038"/>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1.2</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Problem</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Statement</a:t>
            </a:r>
            <a:endParaRPr lang="en-US" altLang="en-US" sz="1400" dirty="0">
              <a:solidFill>
                <a:srgbClr val="000000"/>
              </a:solidFill>
              <a:latin typeface="Times New Roman" panose="02020603050405020304" pitchFamily="18" charset="0"/>
              <a:cs typeface="Times New Roman" panose="02020603050405020304" pitchFamily="18" charset="0"/>
            </a:endParaRPr>
          </a:p>
          <a:p>
            <a:pPr eaLnBrk="1" hangingPunct="1">
              <a:lnSpc>
                <a:spcPct val="144000"/>
              </a:lnSpc>
              <a:spcBef>
                <a:spcPts val="750"/>
              </a:spcBef>
            </a:pPr>
            <a:r>
              <a:rPr lang="en-US" altLang="en-US" sz="1100" dirty="0">
                <a:solidFill>
                  <a:srgbClr val="000000"/>
                </a:solidFill>
                <a:latin typeface="Calibri" panose="020F0502020204030204" pitchFamily="34" charset="0"/>
                <a:cs typeface="Calibri" panose="020F0502020204030204" pitchFamily="34" charset="0"/>
              </a:rPr>
              <a:t>In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signal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applications,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FFT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adaptive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operations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require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fast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continuous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computation.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However,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software-based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FFT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implementations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suffer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from</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high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latency,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limited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throughput,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increased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power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consumption,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making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them</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unsuitable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ECG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monitoring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systems.</a:t>
            </a:r>
          </a:p>
          <a:p>
            <a:pPr eaLnBrk="1" hangingPunct="1">
              <a:lnSpc>
                <a:spcPct val="144000"/>
              </a:lnSpc>
              <a:spcBef>
                <a:spcPts val="400"/>
              </a:spcBef>
            </a:pPr>
            <a:r>
              <a:rPr lang="en-US" altLang="en-US" sz="1100" dirty="0">
                <a:solidFill>
                  <a:srgbClr val="000000"/>
                </a:solidFill>
                <a:latin typeface="Calibri" panose="020F0502020204030204" pitchFamily="34" charset="0"/>
                <a:cs typeface="Calibri" panose="020F0502020204030204" pitchFamily="34" charset="0"/>
              </a:rPr>
              <a:t>Additionally,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direct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hardware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implementation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of</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conventional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algorithms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may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result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long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critical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paths,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reducing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Therefore,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need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hardware-efficient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design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that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reduces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delay,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improves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throughput,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supports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signal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p>
        </p:txBody>
      </p:sp>
      <p:sp>
        <p:nvSpPr>
          <p:cNvPr id="4" name="object 4">
            <a:extLst>
              <a:ext uri="{FF2B5EF4-FFF2-40B4-BE49-F238E27FC236}">
                <a16:creationId xmlns:a16="http://schemas.microsoft.com/office/drawing/2014/main" id="{E92679A2-632F-A5F4-AA3C-71E1875AA365}"/>
              </a:ext>
            </a:extLst>
          </p:cNvPr>
          <p:cNvSpPr txBox="1"/>
          <p:nvPr/>
        </p:nvSpPr>
        <p:spPr>
          <a:xfrm>
            <a:off x="1130300" y="5922963"/>
            <a:ext cx="5646738" cy="1771650"/>
          </a:xfrm>
          <a:prstGeom prst="rect">
            <a:avLst/>
          </a:prstGeom>
        </p:spPr>
        <p:txBody>
          <a:bodyPr lIns="0" tIns="13335" rIns="0" bIns="0">
            <a:spAutoFit/>
          </a:bodyPr>
          <a:lstStyle>
            <a:lvl1pPr marL="342900" indent="-342900">
              <a:tabLst>
                <a:tab pos="325438" algn="l"/>
              </a:tabLst>
              <a:defRPr>
                <a:solidFill>
                  <a:schemeClr val="tx1"/>
                </a:solidFill>
                <a:latin typeface="Arial" panose="020B0604020202020204" pitchFamily="34" charset="0"/>
              </a:defRPr>
            </a:lvl1pPr>
            <a:lvl2pPr marL="323850" indent="-312738">
              <a:tabLst>
                <a:tab pos="325438" algn="l"/>
              </a:tabLst>
              <a:defRPr>
                <a:solidFill>
                  <a:schemeClr val="tx1"/>
                </a:solidFill>
                <a:latin typeface="Arial" panose="020B0604020202020204" pitchFamily="34" charset="0"/>
              </a:defRPr>
            </a:lvl2pPr>
            <a:lvl3pPr marL="468313" indent="-228600">
              <a:tabLst>
                <a:tab pos="325438" algn="l"/>
              </a:tabLst>
              <a:defRPr>
                <a:solidFill>
                  <a:schemeClr val="tx1"/>
                </a:solidFill>
                <a:latin typeface="Arial" panose="020B0604020202020204" pitchFamily="34" charset="0"/>
              </a:defRPr>
            </a:lvl3pPr>
            <a:lvl4pPr marL="1600200" indent="-228600">
              <a:tabLst>
                <a:tab pos="325438" algn="l"/>
              </a:tabLst>
              <a:defRPr>
                <a:solidFill>
                  <a:schemeClr val="tx1"/>
                </a:solidFill>
                <a:latin typeface="Arial" panose="020B0604020202020204" pitchFamily="34" charset="0"/>
              </a:defRPr>
            </a:lvl4pPr>
            <a:lvl5pPr marL="2057400" indent="-228600">
              <a:tabLst>
                <a:tab pos="32543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2543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2543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2543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25438" algn="l"/>
              </a:tabLst>
              <a:defRPr>
                <a:solidFill>
                  <a:schemeClr val="tx1"/>
                </a:solidFill>
                <a:latin typeface="Arial" panose="020B0604020202020204" pitchFamily="34" charset="0"/>
              </a:defRPr>
            </a:lvl9pPr>
          </a:lstStyle>
          <a:p>
            <a:pPr lvl="1" eaLnBrk="1" hangingPunct="1">
              <a:spcBef>
                <a:spcPts val="100"/>
              </a:spcBef>
              <a:buFontTx/>
              <a:buAutoNum type="arabicPeriod" startAt="3"/>
            </a:pPr>
            <a:r>
              <a:rPr lang="en-US" altLang="en-US" sz="1400" b="1">
                <a:solidFill>
                  <a:srgbClr val="2D75B6"/>
                </a:solidFill>
                <a:latin typeface="Times New Roman" panose="02020603050405020304" pitchFamily="18" charset="0"/>
                <a:cs typeface="Times New Roman" panose="02020603050405020304" pitchFamily="18" charset="0"/>
              </a:rPr>
              <a:t>Objectives</a:t>
            </a:r>
            <a:endParaRPr lang="en-US" altLang="en-US" sz="1400">
              <a:solidFill>
                <a:srgbClr val="000000"/>
              </a:solidFill>
              <a:latin typeface="Times New Roman" panose="02020603050405020304" pitchFamily="18" charset="0"/>
              <a:cs typeface="Times New Roman" panose="02020603050405020304" pitchFamily="18" charset="0"/>
            </a:endParaRPr>
          </a:p>
          <a:p>
            <a:pPr lvl="2" eaLnBrk="1" hangingPunct="1">
              <a:lnSpc>
                <a:spcPct val="102000"/>
              </a:lnSpc>
              <a:spcBef>
                <a:spcPts val="1300"/>
              </a:spcBef>
              <a:buFontTx/>
              <a:buAutoNum type="arabicPeriod"/>
            </a:pP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study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FFT-based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signal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applications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adaptive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techniques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removal.</a:t>
            </a:r>
          </a:p>
          <a:p>
            <a:pPr lvl="2" eaLnBrk="1" hangingPunct="1">
              <a:spcBef>
                <a:spcPts val="25"/>
              </a:spcBef>
              <a:buFontTx/>
              <a:buAutoNum type="arabicPeriod"/>
            </a:pP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hardware-accelerated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architecture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suitable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p>
          <a:p>
            <a:pPr lvl="2" eaLnBrk="1" hangingPunct="1">
              <a:spcBef>
                <a:spcPts val="25"/>
              </a:spcBef>
              <a:buFontTx/>
              <a:buAutoNum type="arabicPeriod"/>
            </a:pP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implement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proposed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Verilog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HDL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perform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simulation.</a:t>
            </a:r>
          </a:p>
          <a:p>
            <a:pPr lvl="2" eaLnBrk="1" hangingPunct="1">
              <a:lnSpc>
                <a:spcPct val="102000"/>
              </a:lnSpc>
              <a:buFontTx/>
              <a:buAutoNum type="arabicPeriod"/>
            </a:pP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deploy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evaluate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performance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terms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speed,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latency,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power.</a:t>
            </a:r>
          </a:p>
          <a:p>
            <a:pPr lvl="2" eaLnBrk="1" hangingPunct="1">
              <a:spcBef>
                <a:spcPts val="25"/>
              </a:spcBef>
              <a:buFontTx/>
              <a:buAutoNum type="arabicPeriod"/>
            </a:pP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hardware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implementation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with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software-based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approaches.</a:t>
            </a:r>
          </a:p>
          <a:p>
            <a:pPr lvl="2" eaLnBrk="1" hangingPunct="1">
              <a:spcBef>
                <a:spcPts val="25"/>
              </a:spcBef>
              <a:buFontTx/>
              <a:buAutoNum type="arabicPeriod"/>
            </a:pP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achieve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throughput,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reduced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latency,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efficient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operation.</a:t>
            </a:r>
          </a:p>
        </p:txBody>
      </p:sp>
      <p:sp>
        <p:nvSpPr>
          <p:cNvPr id="5" name="object 5">
            <a:extLst>
              <a:ext uri="{FF2B5EF4-FFF2-40B4-BE49-F238E27FC236}">
                <a16:creationId xmlns:a16="http://schemas.microsoft.com/office/drawing/2014/main" id="{A5D392F2-CC80-EEEB-F228-0F3225185F25}"/>
              </a:ext>
            </a:extLst>
          </p:cNvPr>
          <p:cNvSpPr txBox="1"/>
          <p:nvPr/>
        </p:nvSpPr>
        <p:spPr>
          <a:xfrm>
            <a:off x="1130300" y="8156575"/>
            <a:ext cx="4935538" cy="687388"/>
          </a:xfrm>
          <a:prstGeom prst="rect">
            <a:avLst/>
          </a:prstGeom>
        </p:spPr>
        <p:txBody>
          <a:bodyPr lIns="0" tIns="12700"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36000"/>
              </a:lnSpc>
              <a:spcBef>
                <a:spcPts val="100"/>
              </a:spcBef>
            </a:pPr>
            <a:r>
              <a:rPr lang="en-US" altLang="en-US" sz="1600" b="1">
                <a:solidFill>
                  <a:srgbClr val="1F4E79"/>
                </a:solidFill>
                <a:latin typeface="Times New Roman" panose="02020603050405020304" pitchFamily="18" charset="0"/>
                <a:cs typeface="Times New Roman" panose="02020603050405020304" pitchFamily="18" charset="0"/>
              </a:rPr>
              <a:t>CHAPTER</a:t>
            </a:r>
            <a:r>
              <a:rPr lang="en-US" altLang="en-US" sz="1600">
                <a:solidFill>
                  <a:srgbClr val="1F4E79"/>
                </a:solidFill>
                <a:latin typeface="Times New Roman" panose="02020603050405020304" pitchFamily="18" charset="0"/>
                <a:cs typeface="Times New Roman" panose="02020603050405020304" pitchFamily="18" charset="0"/>
              </a:rPr>
              <a:t> </a:t>
            </a:r>
            <a:r>
              <a:rPr lang="en-US" altLang="en-US" sz="1600" b="1">
                <a:solidFill>
                  <a:srgbClr val="1F4E79"/>
                </a:solidFill>
                <a:latin typeface="Times New Roman" panose="02020603050405020304" pitchFamily="18" charset="0"/>
                <a:cs typeface="Times New Roman" panose="02020603050405020304" pitchFamily="18" charset="0"/>
              </a:rPr>
              <a:t>2:</a:t>
            </a:r>
            <a:r>
              <a:rPr lang="en-US" altLang="en-US" sz="1600">
                <a:solidFill>
                  <a:srgbClr val="1F4E79"/>
                </a:solidFill>
                <a:latin typeface="Times New Roman" panose="02020603050405020304" pitchFamily="18" charset="0"/>
                <a:cs typeface="Times New Roman" panose="02020603050405020304" pitchFamily="18" charset="0"/>
              </a:rPr>
              <a:t> </a:t>
            </a:r>
            <a:r>
              <a:rPr lang="en-US" altLang="en-US" sz="1600" b="1">
                <a:solidFill>
                  <a:srgbClr val="1F4E79"/>
                </a:solidFill>
                <a:latin typeface="Times New Roman" panose="02020603050405020304" pitchFamily="18" charset="0"/>
                <a:cs typeface="Times New Roman" panose="02020603050405020304" pitchFamily="18" charset="0"/>
              </a:rPr>
              <a:t>LITERATURE</a:t>
            </a:r>
            <a:r>
              <a:rPr lang="en-US" altLang="en-US" sz="1600">
                <a:solidFill>
                  <a:srgbClr val="1F4E79"/>
                </a:solidFill>
                <a:latin typeface="Times New Roman" panose="02020603050405020304" pitchFamily="18" charset="0"/>
                <a:cs typeface="Times New Roman" panose="02020603050405020304" pitchFamily="18" charset="0"/>
              </a:rPr>
              <a:t> </a:t>
            </a:r>
            <a:r>
              <a:rPr lang="en-US" altLang="en-US" sz="1600" b="1">
                <a:solidFill>
                  <a:srgbClr val="1F4E79"/>
                </a:solidFill>
                <a:latin typeface="Times New Roman" panose="02020603050405020304" pitchFamily="18" charset="0"/>
                <a:cs typeface="Times New Roman" panose="02020603050405020304" pitchFamily="18" charset="0"/>
              </a:rPr>
              <a:t>REVIEW</a:t>
            </a:r>
            <a:r>
              <a:rPr lang="en-US" altLang="en-US" sz="1600">
                <a:solidFill>
                  <a:srgbClr val="1F4E79"/>
                </a:solidFill>
                <a:latin typeface="Times New Roman" panose="02020603050405020304" pitchFamily="18" charset="0"/>
                <a:cs typeface="Times New Roman" panose="02020603050405020304" pitchFamily="18" charset="0"/>
              </a:rPr>
              <a:t> </a:t>
            </a:r>
            <a:r>
              <a:rPr lang="en-US" altLang="en-US" sz="1600" b="1">
                <a:solidFill>
                  <a:srgbClr val="1F4E79"/>
                </a:solidFill>
                <a:latin typeface="Times New Roman" panose="02020603050405020304" pitchFamily="18" charset="0"/>
                <a:cs typeface="Times New Roman" panose="02020603050405020304" pitchFamily="18" charset="0"/>
              </a:rPr>
              <a:t>(SECONDARY</a:t>
            </a:r>
            <a:r>
              <a:rPr lang="en-US" altLang="en-US" sz="1600">
                <a:solidFill>
                  <a:srgbClr val="1F4E79"/>
                </a:solidFill>
                <a:latin typeface="Times New Roman" panose="02020603050405020304" pitchFamily="18" charset="0"/>
                <a:cs typeface="Times New Roman" panose="02020603050405020304" pitchFamily="18" charset="0"/>
              </a:rPr>
              <a:t> </a:t>
            </a:r>
            <a:r>
              <a:rPr lang="en-US" altLang="en-US" sz="1600" b="1">
                <a:solidFill>
                  <a:srgbClr val="1F4E79"/>
                </a:solidFill>
                <a:latin typeface="Times New Roman" panose="02020603050405020304" pitchFamily="18" charset="0"/>
                <a:cs typeface="Times New Roman" panose="02020603050405020304" pitchFamily="18" charset="0"/>
              </a:rPr>
              <a:t>RESEARCH)</a:t>
            </a:r>
            <a:endParaRPr lang="en-US" altLang="en-US" sz="16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object 2">
            <a:extLst>
              <a:ext uri="{FF2B5EF4-FFF2-40B4-BE49-F238E27FC236}">
                <a16:creationId xmlns:a16="http://schemas.microsoft.com/office/drawing/2014/main" id="{9A508395-682C-07CB-03B4-1175BBD13822}"/>
              </a:ext>
            </a:extLst>
          </p:cNvPr>
          <p:cNvSpPr>
            <a:spLocks/>
          </p:cNvSpPr>
          <p:nvPr/>
        </p:nvSpPr>
        <p:spPr bwMode="auto">
          <a:xfrm>
            <a:off x="1125538" y="1174750"/>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3" name="object 3">
            <a:extLst>
              <a:ext uri="{FF2B5EF4-FFF2-40B4-BE49-F238E27FC236}">
                <a16:creationId xmlns:a16="http://schemas.microsoft.com/office/drawing/2014/main" id="{308C4813-4F0C-35B1-38A6-38CBA381DAFD}"/>
              </a:ext>
            </a:extLst>
          </p:cNvPr>
          <p:cNvSpPr txBox="1"/>
          <p:nvPr/>
        </p:nvSpPr>
        <p:spPr>
          <a:xfrm>
            <a:off x="1130300" y="1322388"/>
            <a:ext cx="5711825" cy="7710487"/>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a:solidFill>
                  <a:srgbClr val="2D75B6"/>
                </a:solidFill>
                <a:latin typeface="Times New Roman" panose="02020603050405020304" pitchFamily="18" charset="0"/>
                <a:cs typeface="Times New Roman" panose="02020603050405020304" pitchFamily="18" charset="0"/>
              </a:rPr>
              <a:t>2.1</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Review</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of</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Existing</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Work</a:t>
            </a:r>
            <a:endParaRPr lang="en-US" altLang="en-US" sz="1400">
              <a:solidFill>
                <a:srgbClr val="000000"/>
              </a:solidFill>
              <a:latin typeface="Times New Roman" panose="02020603050405020304" pitchFamily="18" charset="0"/>
              <a:cs typeface="Times New Roman" panose="02020603050405020304" pitchFamily="18" charset="0"/>
            </a:endParaRPr>
          </a:p>
          <a:p>
            <a:pPr eaLnBrk="1" hangingPunct="1">
              <a:lnSpc>
                <a:spcPct val="144000"/>
              </a:lnSpc>
              <a:spcBef>
                <a:spcPts val="750"/>
              </a:spcBef>
            </a:pP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review</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existing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literature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adaptive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techniques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their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implementations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been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conducted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establish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foundation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project.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reviewed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works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include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classical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methods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modern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hardware-accelerated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adaptive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algorithms.</a:t>
            </a:r>
          </a:p>
          <a:p>
            <a:pPr eaLnBrk="1" hangingPunct="1"/>
            <a:endParaRPr lang="en-US" altLang="en-US" sz="1100">
              <a:solidFill>
                <a:srgbClr val="000000"/>
              </a:solidFill>
              <a:latin typeface="Calibri" panose="020F0502020204030204" pitchFamily="34" charset="0"/>
              <a:cs typeface="Calibri" panose="020F0502020204030204" pitchFamily="34" charset="0"/>
            </a:endParaRP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44000"/>
              </a:lnSpc>
            </a:pPr>
            <a:r>
              <a:rPr lang="en-US" altLang="en-US" sz="1100" b="1">
                <a:solidFill>
                  <a:srgbClr val="000000"/>
                </a:solidFill>
                <a:latin typeface="Calibri" panose="020F0502020204030204" pitchFamily="34" charset="0"/>
                <a:cs typeface="Calibri" panose="020F0502020204030204" pitchFamily="34" charset="0"/>
              </a:rPr>
              <a:t>Chang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Liu</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(2011)</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proposed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method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combining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Wiener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Ensemble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Empirical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Mode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Decomposition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(EEMD)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white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Gaussian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from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signals.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Although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provides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good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SNR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method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involves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high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computational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complexity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suitable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applications.</a:t>
            </a:r>
          </a:p>
          <a:p>
            <a:pPr eaLnBrk="1" hangingPunct="1"/>
            <a:endParaRPr lang="en-US" altLang="en-US" sz="1100">
              <a:solidFill>
                <a:srgbClr val="000000"/>
              </a:solidFill>
              <a:latin typeface="Calibri" panose="020F0502020204030204" pitchFamily="34" charset="0"/>
              <a:cs typeface="Calibri" panose="020F0502020204030204" pitchFamily="34" charset="0"/>
            </a:endParaRP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44000"/>
              </a:lnSpc>
            </a:pPr>
            <a:r>
              <a:rPr lang="en-US" altLang="en-US" sz="1100" b="1">
                <a:solidFill>
                  <a:srgbClr val="000000"/>
                </a:solidFill>
                <a:latin typeface="Calibri" panose="020F0502020204030204" pitchFamily="34" charset="0"/>
                <a:cs typeface="Calibri" panose="020F0502020204030204" pitchFamily="34" charset="0"/>
              </a:rPr>
              <a:t>Sayadi</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Shamsollahi</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(2008)</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introduced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modified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Extended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Kalman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(EKF)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denoising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compression.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While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effective,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requires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complex</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computations,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accurate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initialization,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shows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slow</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convergence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dynamic</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environments.</a:t>
            </a:r>
          </a:p>
          <a:p>
            <a:pPr eaLnBrk="1" hangingPunct="1"/>
            <a:endParaRPr lang="en-US" altLang="en-US" sz="1100">
              <a:solidFill>
                <a:srgbClr val="000000"/>
              </a:solidFill>
              <a:latin typeface="Calibri" panose="020F0502020204030204" pitchFamily="34" charset="0"/>
              <a:cs typeface="Calibri" panose="020F0502020204030204" pitchFamily="34" charset="0"/>
            </a:endParaRP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44000"/>
              </a:lnSpc>
            </a:pPr>
            <a:r>
              <a:rPr lang="en-US" altLang="en-US" sz="1100" b="1">
                <a:solidFill>
                  <a:srgbClr val="000000"/>
                </a:solidFill>
                <a:latin typeface="Calibri" panose="020F0502020204030204" pitchFamily="34" charset="0"/>
                <a:cs typeface="Calibri" panose="020F0502020204030204" pitchFamily="34" charset="0"/>
              </a:rPr>
              <a:t>Elhossini,</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Areibi,</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Dony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(2006)</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implemented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adaptive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demonstrating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speed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through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parallel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However,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fixed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step</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size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limits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convergence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performance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accuracy.</a:t>
            </a:r>
          </a:p>
          <a:p>
            <a:pPr eaLnBrk="1" hangingPunct="1"/>
            <a:endParaRPr lang="en-US" altLang="en-US" sz="1100">
              <a:solidFill>
                <a:srgbClr val="000000"/>
              </a:solidFill>
              <a:latin typeface="Calibri" panose="020F0502020204030204" pitchFamily="34" charset="0"/>
              <a:cs typeface="Calibri" panose="020F0502020204030204" pitchFamily="34" charset="0"/>
            </a:endParaRP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44000"/>
              </a:lnSpc>
            </a:pPr>
            <a:r>
              <a:rPr lang="en-US" altLang="en-US" sz="1100" b="1">
                <a:solidFill>
                  <a:srgbClr val="000000"/>
                </a:solidFill>
                <a:latin typeface="Calibri" panose="020F0502020204030204" pitchFamily="34" charset="0"/>
                <a:cs typeface="Calibri" panose="020F0502020204030204" pitchFamily="34" charset="0"/>
              </a:rPr>
              <a:t>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Woods,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Cowan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(2005)</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presented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pipelined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predictor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showing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that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inserting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delay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elements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throughput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clock</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speed.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However,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absence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affects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performance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under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varying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conditions.</a:t>
            </a:r>
          </a:p>
          <a:p>
            <a:pPr eaLnBrk="1" hangingPunct="1"/>
            <a:endParaRPr lang="en-US" altLang="en-US" sz="1100">
              <a:solidFill>
                <a:srgbClr val="000000"/>
              </a:solidFill>
              <a:latin typeface="Calibri" panose="020F0502020204030204" pitchFamily="34" charset="0"/>
              <a:cs typeface="Calibri" panose="020F0502020204030204" pitchFamily="34" charset="0"/>
            </a:endParaRPr>
          </a:p>
          <a:p>
            <a:pPr eaLnBrk="1" hangingPunct="1">
              <a:spcBef>
                <a:spcPts val="13"/>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44000"/>
              </a:lnSpc>
            </a:pPr>
            <a:r>
              <a:rPr lang="en-US" altLang="en-US" sz="1100" b="1">
                <a:solidFill>
                  <a:srgbClr val="000000"/>
                </a:solidFill>
                <a:latin typeface="Calibri" panose="020F0502020204030204" pitchFamily="34" charset="0"/>
                <a:cs typeface="Calibri" panose="020F0502020204030204" pitchFamily="34" charset="0"/>
              </a:rPr>
              <a:t>Satheeskumaran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Sabrigiriraj</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(2016)</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proposed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LMS-based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method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combined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with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Discrete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Wavelet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Transform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(DWT).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Although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achieves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low</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power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consumption,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lack</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pipelining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results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reduced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speed.</a:t>
            </a:r>
          </a:p>
          <a:p>
            <a:pPr eaLnBrk="1" hangingPunct="1"/>
            <a:endParaRPr lang="en-US" altLang="en-US" sz="1100">
              <a:solidFill>
                <a:srgbClr val="000000"/>
              </a:solidFill>
              <a:latin typeface="Calibri" panose="020F0502020204030204" pitchFamily="34" charset="0"/>
              <a:cs typeface="Calibri" panose="020F0502020204030204" pitchFamily="34" charset="0"/>
            </a:endParaRP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44000"/>
              </a:lnSpc>
            </a:pPr>
            <a:r>
              <a:rPr lang="en-US" altLang="en-US" sz="1100" b="1">
                <a:solidFill>
                  <a:srgbClr val="000000"/>
                </a:solidFill>
                <a:latin typeface="Calibri" panose="020F0502020204030204" pitchFamily="34" charset="0"/>
                <a:cs typeface="Calibri" panose="020F0502020204030204" pitchFamily="34" charset="0"/>
              </a:rPr>
              <a:t>Mullins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Heneghan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b="1">
                <a:solidFill>
                  <a:srgbClr val="000000"/>
                </a:solidFill>
                <a:latin typeface="Calibri" panose="020F0502020204030204" pitchFamily="34" charset="0"/>
                <a:cs typeface="Calibri" panose="020F0502020204030204" pitchFamily="34" charset="0"/>
              </a:rPr>
              <a:t>(2002</a:t>
            </a:r>
            <a:r>
              <a:rPr lang="en-US" altLang="en-US" sz="1100">
                <a:solidFill>
                  <a:srgbClr val="000000"/>
                </a:solidFill>
                <a:latin typeface="Calibri" panose="020F0502020204030204" pitchFamily="34" charset="0"/>
                <a:cs typeface="Calibri" panose="020F0502020204030204" pitchFamily="34" charset="0"/>
              </a:rPr>
              <a: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explored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various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architectures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including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delayed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models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that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clock</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frequency.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However,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absence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of</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limits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performance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varying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3ED3B3E7-06E1-9E08-EC31-B1EED7FB3761}"/>
              </a:ext>
            </a:extLst>
          </p:cNvPr>
          <p:cNvGraphicFramePr>
            <a:graphicFrameLocks noGrp="1"/>
          </p:cNvGraphicFramePr>
          <p:nvPr>
            <p:extLst>
              <p:ext uri="{D42A27DB-BD31-4B8C-83A1-F6EECF244321}">
                <p14:modId xmlns:p14="http://schemas.microsoft.com/office/powerpoint/2010/main" val="4166635825"/>
              </p:ext>
            </p:extLst>
          </p:nvPr>
        </p:nvGraphicFramePr>
        <p:xfrm>
          <a:off x="1143000" y="1141410"/>
          <a:ext cx="5946775" cy="3816352"/>
        </p:xfrm>
        <a:graphic>
          <a:graphicData uri="http://schemas.openxmlformats.org/drawingml/2006/table">
            <a:tbl>
              <a:tblPr>
                <a:tableStyleId>{5940675A-B579-460E-94D1-54222C63F5DA}</a:tableStyleId>
              </a:tblPr>
              <a:tblGrid>
                <a:gridCol w="1143000">
                  <a:extLst>
                    <a:ext uri="{9D8B030D-6E8A-4147-A177-3AD203B41FA5}">
                      <a16:colId xmlns:a16="http://schemas.microsoft.com/office/drawing/2014/main" val="3643614890"/>
                    </a:ext>
                  </a:extLst>
                </a:gridCol>
                <a:gridCol w="1398588">
                  <a:extLst>
                    <a:ext uri="{9D8B030D-6E8A-4147-A177-3AD203B41FA5}">
                      <a16:colId xmlns:a16="http://schemas.microsoft.com/office/drawing/2014/main" val="948708995"/>
                    </a:ext>
                  </a:extLst>
                </a:gridCol>
                <a:gridCol w="1206500">
                  <a:extLst>
                    <a:ext uri="{9D8B030D-6E8A-4147-A177-3AD203B41FA5}">
                      <a16:colId xmlns:a16="http://schemas.microsoft.com/office/drawing/2014/main" val="1491150005"/>
                    </a:ext>
                  </a:extLst>
                </a:gridCol>
                <a:gridCol w="1206500">
                  <a:extLst>
                    <a:ext uri="{9D8B030D-6E8A-4147-A177-3AD203B41FA5}">
                      <a16:colId xmlns:a16="http://schemas.microsoft.com/office/drawing/2014/main" val="3467959945"/>
                    </a:ext>
                  </a:extLst>
                </a:gridCol>
                <a:gridCol w="992187">
                  <a:extLst>
                    <a:ext uri="{9D8B030D-6E8A-4147-A177-3AD203B41FA5}">
                      <a16:colId xmlns:a16="http://schemas.microsoft.com/office/drawing/2014/main" val="1272032410"/>
                    </a:ext>
                  </a:extLst>
                </a:gridCol>
              </a:tblGrid>
              <a:tr h="192088">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400"/>
                        </a:lnSpc>
                        <a:spcBef>
                          <a:spcPct val="0"/>
                        </a:spcBef>
                        <a:spcAft>
                          <a:spcPct val="0"/>
                        </a:spcAft>
                        <a:buClrTx/>
                        <a:buSzTx/>
                        <a:buFontTx/>
                        <a:buNone/>
                        <a:tabLst/>
                      </a:pPr>
                      <a:r>
                        <a:rPr kumimoji="0" lang="en-US" altLang="en-US" sz="1200" b="1" u="none" strike="noStrike" cap="none" normalizeH="0" baseline="0" dirty="0">
                          <a:ln>
                            <a:noFill/>
                          </a:ln>
                          <a:solidFill>
                            <a:schemeClr val="tx1"/>
                          </a:solidFill>
                          <a:effectLst/>
                        </a:rPr>
                        <a:t>Author/Year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400"/>
                        </a:lnSpc>
                        <a:spcBef>
                          <a:spcPct val="0"/>
                        </a:spcBef>
                        <a:spcAft>
                          <a:spcPct val="0"/>
                        </a:spcAft>
                        <a:buClrTx/>
                        <a:buSzTx/>
                        <a:buFontTx/>
                        <a:buNone/>
                        <a:tabLst/>
                      </a:pPr>
                      <a:r>
                        <a:rPr kumimoji="0" lang="en-US" altLang="en-US" sz="1200" b="1" u="none" strike="noStrike" cap="none" normalizeH="0" baseline="0">
                          <a:ln>
                            <a:noFill/>
                          </a:ln>
                          <a:solidFill>
                            <a:schemeClr val="tx1"/>
                          </a:solidFill>
                          <a:effectLst/>
                        </a:rPr>
                        <a:t>Method</a:t>
                      </a:r>
                      <a:endParaRPr kumimoji="0" lang="en-US" altLang="en-US" sz="12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400"/>
                        </a:lnSpc>
                        <a:spcBef>
                          <a:spcPct val="0"/>
                        </a:spcBef>
                        <a:spcAft>
                          <a:spcPct val="0"/>
                        </a:spcAft>
                        <a:buClrTx/>
                        <a:buSzTx/>
                        <a:buFontTx/>
                        <a:buNone/>
                        <a:tabLst/>
                      </a:pPr>
                      <a:r>
                        <a:rPr kumimoji="0" lang="en-US" altLang="en-US" sz="1200" b="1" u="none" strike="noStrike" cap="none" normalizeH="0" baseline="0">
                          <a:ln>
                            <a:noFill/>
                          </a:ln>
                          <a:solidFill>
                            <a:schemeClr val="tx1"/>
                          </a:solidFill>
                          <a:effectLst/>
                        </a:rPr>
                        <a:t>Noise</a:t>
                      </a:r>
                      <a:r>
                        <a:rPr kumimoji="0" lang="en-US" altLang="en-US" sz="1200" b="0" u="none" strike="noStrike" cap="none" normalizeH="0" baseline="0">
                          <a:ln>
                            <a:noFill/>
                          </a:ln>
                          <a:solidFill>
                            <a:schemeClr val="tx1"/>
                          </a:solidFill>
                          <a:effectLst/>
                        </a:rPr>
                        <a:t> </a:t>
                      </a:r>
                      <a:r>
                        <a:rPr kumimoji="0" lang="en-US" altLang="en-US" sz="1200" b="1" u="none" strike="noStrike" cap="none" normalizeH="0" baseline="0">
                          <a:ln>
                            <a:noFill/>
                          </a:ln>
                          <a:solidFill>
                            <a:schemeClr val="tx1"/>
                          </a:solidFill>
                          <a:effectLst/>
                        </a:rPr>
                        <a:t>Type</a:t>
                      </a:r>
                      <a:endParaRPr kumimoji="0" lang="en-US" altLang="en-US" sz="12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400"/>
                        </a:lnSpc>
                        <a:spcBef>
                          <a:spcPct val="0"/>
                        </a:spcBef>
                        <a:spcAft>
                          <a:spcPct val="0"/>
                        </a:spcAft>
                        <a:buClrTx/>
                        <a:buSzTx/>
                        <a:buFontTx/>
                        <a:buNone/>
                        <a:tabLst/>
                      </a:pPr>
                      <a:r>
                        <a:rPr kumimoji="0" lang="en-US" altLang="en-US" sz="1200" b="1" u="none" strike="noStrike" cap="none" normalizeH="0" baseline="0">
                          <a:ln>
                            <a:noFill/>
                          </a:ln>
                          <a:solidFill>
                            <a:schemeClr val="tx1"/>
                          </a:solidFill>
                          <a:effectLst/>
                        </a:rPr>
                        <a:t>Advantage</a:t>
                      </a:r>
                      <a:endParaRPr kumimoji="0" lang="en-US" altLang="en-US" sz="12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400"/>
                        </a:lnSpc>
                        <a:spcBef>
                          <a:spcPct val="0"/>
                        </a:spcBef>
                        <a:spcAft>
                          <a:spcPct val="0"/>
                        </a:spcAft>
                        <a:buClrTx/>
                        <a:buSzTx/>
                        <a:buFontTx/>
                        <a:buNone/>
                        <a:tabLst/>
                      </a:pPr>
                      <a:r>
                        <a:rPr kumimoji="0" lang="en-US" altLang="en-US" sz="1200" b="1" u="none" strike="noStrike" cap="none" normalizeH="0" baseline="0">
                          <a:ln>
                            <a:noFill/>
                          </a:ln>
                          <a:solidFill>
                            <a:schemeClr val="tx1"/>
                          </a:solidFill>
                          <a:effectLst/>
                        </a:rPr>
                        <a:t>Limitation</a:t>
                      </a:r>
                      <a:endParaRPr kumimoji="0" lang="en-US" altLang="en-US" sz="12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3784801825"/>
                  </a:ext>
                </a:extLst>
              </a:tr>
              <a:tr h="688975">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dirty="0">
                          <a:ln>
                            <a:noFill/>
                          </a:ln>
                          <a:solidFill>
                            <a:schemeClr val="tx1"/>
                          </a:solidFill>
                          <a:effectLst/>
                        </a:rPr>
                        <a:t>Chang &amp; Liu</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dirty="0">
                          <a:ln>
                            <a:noFill/>
                          </a:ln>
                          <a:solidFill>
                            <a:schemeClr val="tx1"/>
                          </a:solidFill>
                          <a:effectLst/>
                        </a:rPr>
                        <a:t>(2011)</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Wiener filter + EEMD</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White Gaussian</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Good SNR</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improvement</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High</a:t>
                      </a:r>
                    </a:p>
                    <a:p>
                      <a:pPr marL="66675" marR="0" lvl="0" indent="0" algn="l" defTabSz="914400" rtl="0" eaLnBrk="1" fontAlgn="base" latinLnBrk="0" hangingPunct="1">
                        <a:lnSpc>
                          <a:spcPct val="102000"/>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computational cost, not real- time</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705707497"/>
                  </a:ext>
                </a:extLst>
              </a:tr>
              <a:tr h="688975">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Sayadi &amp;</a:t>
                      </a:r>
                    </a:p>
                    <a:p>
                      <a:pPr marL="66675" marR="0" lvl="0" indent="0" algn="l" defTabSz="914400" rtl="0" eaLnBrk="1" fontAlgn="base" latinLnBrk="0" hangingPunct="1">
                        <a:lnSpc>
                          <a:spcPct val="102000"/>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Shamsollahi (2008)</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Modified Extended</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Kalman Filter</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dirty="0">
                          <a:ln>
                            <a:noFill/>
                          </a:ln>
                          <a:solidFill>
                            <a:schemeClr val="tx1"/>
                          </a:solidFill>
                          <a:effectLst/>
                        </a:rPr>
                        <a:t>General ECG noise</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Good denoising</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High</a:t>
                      </a:r>
                    </a:p>
                    <a:p>
                      <a:pPr marL="66675" marR="0" lvl="0" indent="0" algn="l" defTabSz="914400" rtl="0" eaLnBrk="1" fontAlgn="base" latinLnBrk="0" hangingPunct="1">
                        <a:lnSpc>
                          <a:spcPct val="102000"/>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complexity, slow convergence</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2620519106"/>
                  </a:ext>
                </a:extLst>
              </a:tr>
              <a:tr h="517525">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Elhossini et al.</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(2006)</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LMS on FPGA</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Audio noise</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Fast FPGA</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execution</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Fixed step size,</a:t>
                      </a:r>
                    </a:p>
                    <a:p>
                      <a:pPr marL="66675" marR="0" lvl="0" indent="0" algn="l" defTabSz="914400" rtl="0" eaLnBrk="1" fontAlgn="base" latinLnBrk="0" hangingPunct="1">
                        <a:lnSpc>
                          <a:spcPct val="102000"/>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poor convergence</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2241999302"/>
                  </a:ext>
                </a:extLst>
              </a:tr>
              <a:tr h="347663">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Ting et al. (2005)</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33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Pipelined LMS predictor</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ESM receivers</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33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High speed pipeline</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33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No error normalization</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1133486618"/>
                  </a:ext>
                </a:extLst>
              </a:tr>
              <a:tr h="515938">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Satheeskumaran</a:t>
                      </a:r>
                    </a:p>
                    <a:p>
                      <a:pPr marL="66675" marR="0" lvl="0" indent="0" algn="l" defTabSz="914400" rtl="0" eaLnBrk="1" fontAlgn="base" latinLnBrk="0" hangingPunct="1">
                        <a:lnSpc>
                          <a:spcPct val="101000"/>
                        </a:lnSpc>
                        <a:spcBef>
                          <a:spcPts val="13"/>
                        </a:spcBef>
                        <a:spcAft>
                          <a:spcPct val="0"/>
                        </a:spcAft>
                        <a:buClrTx/>
                        <a:buSzTx/>
                        <a:buFontTx/>
                        <a:buNone/>
                        <a:tabLst/>
                      </a:pPr>
                      <a:r>
                        <a:rPr kumimoji="0" lang="en-US" altLang="en-US" sz="1100" b="0" u="none" strike="noStrike" cap="none" normalizeH="0" baseline="0">
                          <a:ln>
                            <a:noFill/>
                          </a:ln>
                          <a:solidFill>
                            <a:schemeClr val="tx1"/>
                          </a:solidFill>
                          <a:effectLst/>
                        </a:rPr>
                        <a:t>&amp; Sabrigiriraj (2016)</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New LMS + DWT R-</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peak</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ECG biotelemetry</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Low power</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No pipelining,</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slow feedback</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2491825202"/>
                  </a:ext>
                </a:extLst>
              </a:tr>
              <a:tr h="347663">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Mullins &amp;</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Heneghan (2002)</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Delayed LMS FPGA</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architectures</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General signal</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Direct &amp;</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transposed forms</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No error</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normalization</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3292259983"/>
                  </a:ext>
                </a:extLst>
              </a:tr>
              <a:tr h="517525">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dirty="0">
                          <a:ln>
                            <a:noFill/>
                          </a:ln>
                          <a:solidFill>
                            <a:schemeClr val="tx1"/>
                          </a:solidFill>
                          <a:effectLst/>
                        </a:rPr>
                        <a:t>Venkatesan et al.</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dirty="0">
                          <a:ln>
                            <a:noFill/>
                          </a:ln>
                          <a:solidFill>
                            <a:schemeClr val="tx1"/>
                          </a:solidFill>
                          <a:effectLst/>
                        </a:rPr>
                        <a:t>(2019)</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dirty="0">
                          <a:ln>
                            <a:noFill/>
                          </a:ln>
                          <a:solidFill>
                            <a:schemeClr val="tx1"/>
                          </a:solidFill>
                          <a:effectLst/>
                        </a:rPr>
                        <a:t>[Proposed]</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DENLMS pipelined</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FPGA</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White Gaussian</a:t>
                      </a:r>
                    </a:p>
                    <a:p>
                      <a:pPr marL="66675"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ECG</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82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8263"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a:ln>
                            <a:noFill/>
                          </a:ln>
                          <a:solidFill>
                            <a:schemeClr val="tx1"/>
                          </a:solidFill>
                          <a:effectLst/>
                        </a:rPr>
                        <a:t>42mW, slack</a:t>
                      </a:r>
                    </a:p>
                    <a:p>
                      <a:pPr marL="68263" marR="0" lvl="0" indent="0" algn="l" defTabSz="914400" rtl="0" eaLnBrk="1" fontAlgn="base" latinLnBrk="0" hangingPunct="1">
                        <a:lnSpc>
                          <a:spcPct val="100000"/>
                        </a:lnSpc>
                        <a:spcBef>
                          <a:spcPts val="25"/>
                        </a:spcBef>
                        <a:spcAft>
                          <a:spcPct val="0"/>
                        </a:spcAft>
                        <a:buClrTx/>
                        <a:buSzTx/>
                        <a:buFontTx/>
                        <a:buNone/>
                        <a:tabLst/>
                      </a:pPr>
                      <a:r>
                        <a:rPr kumimoji="0" lang="en-US" altLang="en-US" sz="1100" b="0" u="none" strike="noStrike" cap="none" normalizeH="0" baseline="0">
                          <a:ln>
                            <a:noFill/>
                          </a:ln>
                          <a:solidFill>
                            <a:schemeClr val="tx1"/>
                          </a:solidFill>
                          <a:effectLst/>
                        </a:rPr>
                        <a:t>0.19ns</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tc>
                  <a:txBody>
                    <a:bodyPr/>
                    <a:lstStyle>
                      <a:lvl1pPr marL="666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66675" marR="0" lvl="0" indent="0" algn="l" defTabSz="914400" rtl="0" eaLnBrk="1" fontAlgn="base" latinLnBrk="0" hangingPunct="1">
                        <a:lnSpc>
                          <a:spcPts val="1288"/>
                        </a:lnSpc>
                        <a:spcBef>
                          <a:spcPct val="0"/>
                        </a:spcBef>
                        <a:spcAft>
                          <a:spcPct val="0"/>
                        </a:spcAft>
                        <a:buClrTx/>
                        <a:buSzTx/>
                        <a:buFontTx/>
                        <a:buNone/>
                        <a:tabLst/>
                      </a:pPr>
                      <a:r>
                        <a:rPr kumimoji="0" lang="en-US" altLang="en-US" sz="1100" b="0" u="none" strike="noStrike" cap="none" normalizeH="0" baseline="0" dirty="0">
                          <a:ln>
                            <a:noFill/>
                          </a:ln>
                          <a:solidFill>
                            <a:schemeClr val="tx1"/>
                          </a:solidFill>
                          <a:effectLst/>
                        </a:rPr>
                        <a:t>Slight area</a:t>
                      </a:r>
                    </a:p>
                    <a:p>
                      <a:pPr marL="66675" marR="0" lvl="0" indent="0" algn="l" defTabSz="914400" rtl="0" eaLnBrk="1" fontAlgn="base" latinLnBrk="0" hangingPunct="1">
                        <a:lnSpc>
                          <a:spcPct val="102000"/>
                        </a:lnSpc>
                        <a:spcBef>
                          <a:spcPct val="0"/>
                        </a:spcBef>
                        <a:spcAft>
                          <a:spcPct val="0"/>
                        </a:spcAft>
                        <a:buClrTx/>
                        <a:buSzTx/>
                        <a:buFontTx/>
                        <a:buNone/>
                        <a:tabLst/>
                      </a:pPr>
                      <a:r>
                        <a:rPr kumimoji="0" lang="en-US" altLang="en-US" sz="1100" b="0" u="none" strike="noStrike" cap="none" normalizeH="0" baseline="0" dirty="0">
                          <a:ln>
                            <a:noFill/>
                          </a:ln>
                          <a:solidFill>
                            <a:schemeClr val="tx1"/>
                          </a:solidFill>
                          <a:effectLst/>
                        </a:rPr>
                        <a:t>increase (20.4%)</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tc>
                <a:extLst>
                  <a:ext uri="{0D108BD9-81ED-4DB2-BD59-A6C34878D82A}">
                    <a16:rowId xmlns:a16="http://schemas.microsoft.com/office/drawing/2014/main" val="2319162037"/>
                  </a:ext>
                </a:extLst>
              </a:tr>
            </a:tbl>
          </a:graphicData>
        </a:graphic>
      </p:graphicFrame>
      <p:sp>
        <p:nvSpPr>
          <p:cNvPr id="3" name="object 3">
            <a:extLst>
              <a:ext uri="{FF2B5EF4-FFF2-40B4-BE49-F238E27FC236}">
                <a16:creationId xmlns:a16="http://schemas.microsoft.com/office/drawing/2014/main" id="{EF565810-4B37-0712-640C-5E837F5C04F6}"/>
              </a:ext>
            </a:extLst>
          </p:cNvPr>
          <p:cNvSpPr txBox="1"/>
          <p:nvPr/>
        </p:nvSpPr>
        <p:spPr>
          <a:xfrm>
            <a:off x="1130300" y="5476875"/>
            <a:ext cx="5743575" cy="1089025"/>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2.2</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Comparative</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Analysis</a:t>
            </a:r>
            <a:endParaRPr lang="en-US" altLang="en-US" sz="1400"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101000"/>
              </a:lnSpc>
              <a:spcBef>
                <a:spcPts val="1325"/>
              </a:spcBef>
            </a:pPr>
            <a:r>
              <a:rPr lang="en-US" altLang="en-US" sz="1100" dirty="0">
                <a:solidFill>
                  <a:srgbClr val="000000"/>
                </a:solidFill>
                <a:latin typeface="Calibri" panose="020F0502020204030204" pitchFamily="34" charset="0"/>
                <a:cs typeface="Calibri" panose="020F0502020204030204" pitchFamily="34" charset="0"/>
              </a:rPr>
              <a:t>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reviewed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literature,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systematic</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comparative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analysis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of</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key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adaptive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algorithms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implemented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hardware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presented.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comparison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focuses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computational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complexity,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power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consumption,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timing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performance,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accuracy,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these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critical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metrics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ECG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p>
        </p:txBody>
      </p:sp>
      <p:graphicFrame>
        <p:nvGraphicFramePr>
          <p:cNvPr id="4" name="object 4">
            <a:extLst>
              <a:ext uri="{FF2B5EF4-FFF2-40B4-BE49-F238E27FC236}">
                <a16:creationId xmlns:a16="http://schemas.microsoft.com/office/drawing/2014/main" id="{3C7DDC89-4CDC-8660-0824-D47DA69CB470}"/>
              </a:ext>
            </a:extLst>
          </p:cNvPr>
          <p:cNvGraphicFramePr>
            <a:graphicFrameLocks noGrp="1"/>
          </p:cNvGraphicFramePr>
          <p:nvPr>
            <p:extLst>
              <p:ext uri="{D42A27DB-BD31-4B8C-83A1-F6EECF244321}">
                <p14:modId xmlns:p14="http://schemas.microsoft.com/office/powerpoint/2010/main" val="2097104387"/>
              </p:ext>
            </p:extLst>
          </p:nvPr>
        </p:nvGraphicFramePr>
        <p:xfrm>
          <a:off x="1143000" y="7085013"/>
          <a:ext cx="6278563" cy="1990725"/>
        </p:xfrm>
        <a:graphic>
          <a:graphicData uri="http://schemas.openxmlformats.org/drawingml/2006/table">
            <a:tbl>
              <a:tblPr firstRow="1" bandRow="1">
                <a:tableStyleId>{5940675A-B579-460E-94D1-54222C63F5DA}</a:tableStyleId>
              </a:tblPr>
              <a:tblGrid>
                <a:gridCol w="1475965">
                  <a:extLst>
                    <a:ext uri="{9D8B030D-6E8A-4147-A177-3AD203B41FA5}">
                      <a16:colId xmlns:a16="http://schemas.microsoft.com/office/drawing/2014/main" val="20000"/>
                    </a:ext>
                  </a:extLst>
                </a:gridCol>
                <a:gridCol w="1099352">
                  <a:extLst>
                    <a:ext uri="{9D8B030D-6E8A-4147-A177-3AD203B41FA5}">
                      <a16:colId xmlns:a16="http://schemas.microsoft.com/office/drawing/2014/main" val="20001"/>
                    </a:ext>
                  </a:extLst>
                </a:gridCol>
                <a:gridCol w="1101257">
                  <a:extLst>
                    <a:ext uri="{9D8B030D-6E8A-4147-A177-3AD203B41FA5}">
                      <a16:colId xmlns:a16="http://schemas.microsoft.com/office/drawing/2014/main" val="20002"/>
                    </a:ext>
                  </a:extLst>
                </a:gridCol>
                <a:gridCol w="1099986">
                  <a:extLst>
                    <a:ext uri="{9D8B030D-6E8A-4147-A177-3AD203B41FA5}">
                      <a16:colId xmlns:a16="http://schemas.microsoft.com/office/drawing/2014/main" val="20003"/>
                    </a:ext>
                  </a:extLst>
                </a:gridCol>
                <a:gridCol w="1502003">
                  <a:extLst>
                    <a:ext uri="{9D8B030D-6E8A-4147-A177-3AD203B41FA5}">
                      <a16:colId xmlns:a16="http://schemas.microsoft.com/office/drawing/2014/main" val="20004"/>
                    </a:ext>
                  </a:extLst>
                </a:gridCol>
              </a:tblGrid>
              <a:tr h="240512">
                <a:tc>
                  <a:txBody>
                    <a:bodyPr/>
                    <a:lstStyle/>
                    <a:p>
                      <a:pPr marL="67945">
                        <a:lnSpc>
                          <a:spcPts val="1405"/>
                        </a:lnSpc>
                      </a:pPr>
                      <a:r>
                        <a:rPr sz="1200" b="1" spc="-10" dirty="0"/>
                        <a:t>Parameter</a:t>
                      </a:r>
                      <a:endParaRPr sz="1200">
                        <a:latin typeface="Calibri"/>
                        <a:cs typeface="Calibri"/>
                      </a:endParaRPr>
                    </a:p>
                  </a:txBody>
                  <a:tcPr marL="0" marR="0" marT="0" marB="0"/>
                </a:tc>
                <a:tc>
                  <a:txBody>
                    <a:bodyPr/>
                    <a:lstStyle/>
                    <a:p>
                      <a:pPr marL="68580">
                        <a:lnSpc>
                          <a:spcPts val="1405"/>
                        </a:lnSpc>
                      </a:pPr>
                      <a:r>
                        <a:rPr sz="1200" b="1" spc="-10" dirty="0"/>
                        <a:t>ENLMS</a:t>
                      </a:r>
                      <a:endParaRPr sz="1200">
                        <a:latin typeface="Calibri"/>
                        <a:cs typeface="Calibri"/>
                      </a:endParaRPr>
                    </a:p>
                  </a:txBody>
                  <a:tcPr marL="0" marR="0" marT="0" marB="0"/>
                </a:tc>
                <a:tc>
                  <a:txBody>
                    <a:bodyPr/>
                    <a:lstStyle/>
                    <a:p>
                      <a:pPr marL="67945">
                        <a:lnSpc>
                          <a:spcPts val="1405"/>
                        </a:lnSpc>
                      </a:pPr>
                      <a:r>
                        <a:rPr sz="1200" b="1" spc="-10" dirty="0"/>
                        <a:t>TDLMS</a:t>
                      </a:r>
                      <a:endParaRPr sz="1200">
                        <a:latin typeface="Calibri"/>
                        <a:cs typeface="Calibri"/>
                      </a:endParaRPr>
                    </a:p>
                  </a:txBody>
                  <a:tcPr marL="0" marR="0" marT="0" marB="0"/>
                </a:tc>
                <a:tc>
                  <a:txBody>
                    <a:bodyPr/>
                    <a:lstStyle/>
                    <a:p>
                      <a:pPr marL="66675">
                        <a:lnSpc>
                          <a:spcPts val="1405"/>
                        </a:lnSpc>
                      </a:pPr>
                      <a:r>
                        <a:rPr sz="1200" b="1" spc="-10" dirty="0"/>
                        <a:t>DNLMS</a:t>
                      </a:r>
                      <a:endParaRPr sz="1200">
                        <a:latin typeface="Calibri"/>
                        <a:cs typeface="Calibri"/>
                      </a:endParaRPr>
                    </a:p>
                  </a:txBody>
                  <a:tcPr marL="0" marR="0" marT="0" marB="0"/>
                </a:tc>
                <a:tc>
                  <a:txBody>
                    <a:bodyPr/>
                    <a:lstStyle/>
                    <a:p>
                      <a:pPr marL="67945">
                        <a:lnSpc>
                          <a:spcPts val="1405"/>
                        </a:lnSpc>
                      </a:pPr>
                      <a:r>
                        <a:rPr sz="1200" b="1" dirty="0"/>
                        <a:t>DENLMS</a:t>
                      </a:r>
                      <a:r>
                        <a:rPr sz="1200" spc="-50" dirty="0"/>
                        <a:t> </a:t>
                      </a:r>
                      <a:r>
                        <a:rPr sz="1200" b="1" spc="-10" dirty="0"/>
                        <a:t>(Proposed)</a:t>
                      </a:r>
                      <a:endParaRPr sz="1200">
                        <a:latin typeface="Calibri"/>
                        <a:cs typeface="Calibri"/>
                      </a:endParaRPr>
                    </a:p>
                  </a:txBody>
                  <a:tcPr marL="0" marR="0" marT="0" marB="0"/>
                </a:tc>
                <a:extLst>
                  <a:ext uri="{0D108BD9-81ED-4DB2-BD59-A6C34878D82A}">
                    <a16:rowId xmlns:a16="http://schemas.microsoft.com/office/drawing/2014/main" val="10000"/>
                  </a:ext>
                </a:extLst>
              </a:tr>
              <a:tr h="216397">
                <a:tc>
                  <a:txBody>
                    <a:bodyPr/>
                    <a:lstStyle/>
                    <a:p>
                      <a:pPr marL="67945">
                        <a:lnSpc>
                          <a:spcPts val="1290"/>
                        </a:lnSpc>
                      </a:pPr>
                      <a:r>
                        <a:rPr sz="1100" spc="-10" dirty="0"/>
                        <a:t>Multiplications</a:t>
                      </a:r>
                      <a:endParaRPr sz="1100">
                        <a:latin typeface="Calibri"/>
                        <a:cs typeface="Calibri"/>
                      </a:endParaRPr>
                    </a:p>
                  </a:txBody>
                  <a:tcPr marL="0" marR="0" marT="0" marB="0"/>
                </a:tc>
                <a:tc>
                  <a:txBody>
                    <a:bodyPr/>
                    <a:lstStyle/>
                    <a:p>
                      <a:pPr marL="68580">
                        <a:lnSpc>
                          <a:spcPts val="1290"/>
                        </a:lnSpc>
                      </a:pPr>
                      <a:r>
                        <a:rPr sz="1100" spc="-25" dirty="0"/>
                        <a:t>3N</a:t>
                      </a:r>
                      <a:endParaRPr sz="1100">
                        <a:latin typeface="Calibri"/>
                        <a:cs typeface="Calibri"/>
                      </a:endParaRPr>
                    </a:p>
                  </a:txBody>
                  <a:tcPr marL="0" marR="0" marT="0" marB="0"/>
                </a:tc>
                <a:tc>
                  <a:txBody>
                    <a:bodyPr/>
                    <a:lstStyle/>
                    <a:p>
                      <a:pPr marL="67945">
                        <a:lnSpc>
                          <a:spcPts val="1290"/>
                        </a:lnSpc>
                      </a:pPr>
                      <a:r>
                        <a:rPr sz="1100" spc="-20" dirty="0"/>
                        <a:t>6N+1</a:t>
                      </a:r>
                      <a:endParaRPr sz="1100">
                        <a:latin typeface="Calibri"/>
                        <a:cs typeface="Calibri"/>
                      </a:endParaRPr>
                    </a:p>
                  </a:txBody>
                  <a:tcPr marL="0" marR="0" marT="0" marB="0"/>
                </a:tc>
                <a:tc>
                  <a:txBody>
                    <a:bodyPr/>
                    <a:lstStyle/>
                    <a:p>
                      <a:pPr marL="66675">
                        <a:lnSpc>
                          <a:spcPts val="1290"/>
                        </a:lnSpc>
                      </a:pPr>
                      <a:r>
                        <a:rPr sz="1100" spc="-25" dirty="0"/>
                        <a:t>3N</a:t>
                      </a:r>
                      <a:endParaRPr sz="1100">
                        <a:latin typeface="Calibri"/>
                        <a:cs typeface="Calibri"/>
                      </a:endParaRPr>
                    </a:p>
                  </a:txBody>
                  <a:tcPr marL="0" marR="0" marT="0" marB="0"/>
                </a:tc>
                <a:tc>
                  <a:txBody>
                    <a:bodyPr/>
                    <a:lstStyle/>
                    <a:p>
                      <a:pPr marL="67945">
                        <a:lnSpc>
                          <a:spcPts val="1290"/>
                        </a:lnSpc>
                      </a:pPr>
                      <a:r>
                        <a:rPr sz="1100" spc="-25" dirty="0"/>
                        <a:t>3N</a:t>
                      </a:r>
                      <a:endParaRPr sz="1100">
                        <a:latin typeface="Calibri"/>
                        <a:cs typeface="Calibri"/>
                      </a:endParaRPr>
                    </a:p>
                  </a:txBody>
                  <a:tcPr marL="0" marR="0" marT="0" marB="0"/>
                </a:tc>
                <a:extLst>
                  <a:ext uri="{0D108BD9-81ED-4DB2-BD59-A6C34878D82A}">
                    <a16:rowId xmlns:a16="http://schemas.microsoft.com/office/drawing/2014/main" val="10001"/>
                  </a:ext>
                </a:extLst>
              </a:tr>
              <a:tr h="223378">
                <a:tc>
                  <a:txBody>
                    <a:bodyPr/>
                    <a:lstStyle/>
                    <a:p>
                      <a:pPr marL="67945">
                        <a:lnSpc>
                          <a:spcPts val="1290"/>
                        </a:lnSpc>
                      </a:pPr>
                      <a:r>
                        <a:rPr sz="1100" spc="-10" dirty="0"/>
                        <a:t>Additions</a:t>
                      </a:r>
                      <a:endParaRPr sz="1100">
                        <a:latin typeface="Calibri"/>
                        <a:cs typeface="Calibri"/>
                      </a:endParaRPr>
                    </a:p>
                  </a:txBody>
                  <a:tcPr marL="0" marR="0" marT="0" marB="0"/>
                </a:tc>
                <a:tc>
                  <a:txBody>
                    <a:bodyPr/>
                    <a:lstStyle/>
                    <a:p>
                      <a:pPr marL="68580">
                        <a:lnSpc>
                          <a:spcPts val="1290"/>
                        </a:lnSpc>
                      </a:pPr>
                      <a:r>
                        <a:rPr sz="1100" spc="-20" dirty="0"/>
                        <a:t>3N+1</a:t>
                      </a:r>
                      <a:endParaRPr sz="1100">
                        <a:latin typeface="Calibri"/>
                        <a:cs typeface="Calibri"/>
                      </a:endParaRPr>
                    </a:p>
                  </a:txBody>
                  <a:tcPr marL="0" marR="0" marT="0" marB="0"/>
                </a:tc>
                <a:tc>
                  <a:txBody>
                    <a:bodyPr/>
                    <a:lstStyle/>
                    <a:p>
                      <a:pPr marL="67945">
                        <a:lnSpc>
                          <a:spcPts val="1290"/>
                        </a:lnSpc>
                      </a:pPr>
                      <a:r>
                        <a:rPr sz="1100" spc="-25" dirty="0"/>
                        <a:t>3N</a:t>
                      </a:r>
                      <a:endParaRPr sz="1100">
                        <a:latin typeface="Calibri"/>
                        <a:cs typeface="Calibri"/>
                      </a:endParaRPr>
                    </a:p>
                  </a:txBody>
                  <a:tcPr marL="0" marR="0" marT="0" marB="0"/>
                </a:tc>
                <a:tc>
                  <a:txBody>
                    <a:bodyPr/>
                    <a:lstStyle/>
                    <a:p>
                      <a:pPr marL="66675">
                        <a:lnSpc>
                          <a:spcPts val="1290"/>
                        </a:lnSpc>
                      </a:pPr>
                      <a:r>
                        <a:rPr sz="1100" spc="-20" dirty="0"/>
                        <a:t>3N+1</a:t>
                      </a:r>
                      <a:endParaRPr sz="1100">
                        <a:latin typeface="Calibri"/>
                        <a:cs typeface="Calibri"/>
                      </a:endParaRPr>
                    </a:p>
                  </a:txBody>
                  <a:tcPr marL="0" marR="0" marT="0" marB="0"/>
                </a:tc>
                <a:tc>
                  <a:txBody>
                    <a:bodyPr/>
                    <a:lstStyle/>
                    <a:p>
                      <a:pPr marL="67945">
                        <a:lnSpc>
                          <a:spcPts val="1290"/>
                        </a:lnSpc>
                      </a:pPr>
                      <a:r>
                        <a:rPr sz="1100" spc="-20" dirty="0"/>
                        <a:t>3N+1</a:t>
                      </a:r>
                      <a:endParaRPr sz="1100">
                        <a:latin typeface="Calibri"/>
                        <a:cs typeface="Calibri"/>
                      </a:endParaRPr>
                    </a:p>
                  </a:txBody>
                  <a:tcPr marL="0" marR="0" marT="0" marB="0"/>
                </a:tc>
                <a:extLst>
                  <a:ext uri="{0D108BD9-81ED-4DB2-BD59-A6C34878D82A}">
                    <a16:rowId xmlns:a16="http://schemas.microsoft.com/office/drawing/2014/main" val="10002"/>
                  </a:ext>
                </a:extLst>
              </a:tr>
              <a:tr h="215762">
                <a:tc>
                  <a:txBody>
                    <a:bodyPr/>
                    <a:lstStyle/>
                    <a:p>
                      <a:pPr marL="67945">
                        <a:lnSpc>
                          <a:spcPts val="1290"/>
                        </a:lnSpc>
                      </a:pPr>
                      <a:r>
                        <a:rPr sz="1100" dirty="0"/>
                        <a:t>Delay</a:t>
                      </a:r>
                      <a:r>
                        <a:rPr sz="1100" spc="-50" dirty="0"/>
                        <a:t> </a:t>
                      </a:r>
                      <a:r>
                        <a:rPr sz="1100" spc="-10" dirty="0"/>
                        <a:t>Elements</a:t>
                      </a:r>
                      <a:endParaRPr sz="1100">
                        <a:latin typeface="Calibri"/>
                        <a:cs typeface="Calibri"/>
                      </a:endParaRPr>
                    </a:p>
                  </a:txBody>
                  <a:tcPr marL="0" marR="0" marT="0" marB="0"/>
                </a:tc>
                <a:tc>
                  <a:txBody>
                    <a:bodyPr/>
                    <a:lstStyle/>
                    <a:p>
                      <a:pPr marL="68580">
                        <a:lnSpc>
                          <a:spcPts val="1290"/>
                        </a:lnSpc>
                      </a:pPr>
                      <a:r>
                        <a:rPr sz="1100" dirty="0"/>
                        <a:t>0</a:t>
                      </a:r>
                      <a:endParaRPr sz="1100">
                        <a:latin typeface="Calibri"/>
                        <a:cs typeface="Calibri"/>
                      </a:endParaRPr>
                    </a:p>
                  </a:txBody>
                  <a:tcPr marL="0" marR="0" marT="0" marB="0"/>
                </a:tc>
                <a:tc>
                  <a:txBody>
                    <a:bodyPr/>
                    <a:lstStyle/>
                    <a:p>
                      <a:pPr marL="67945">
                        <a:lnSpc>
                          <a:spcPts val="1290"/>
                        </a:lnSpc>
                      </a:pPr>
                      <a:r>
                        <a:rPr sz="1100" dirty="0"/>
                        <a:t>0</a:t>
                      </a:r>
                      <a:endParaRPr sz="1100">
                        <a:latin typeface="Calibri"/>
                        <a:cs typeface="Calibri"/>
                      </a:endParaRPr>
                    </a:p>
                  </a:txBody>
                  <a:tcPr marL="0" marR="0" marT="0" marB="0"/>
                </a:tc>
                <a:tc>
                  <a:txBody>
                    <a:bodyPr/>
                    <a:lstStyle/>
                    <a:p>
                      <a:pPr marL="66675">
                        <a:lnSpc>
                          <a:spcPts val="1290"/>
                        </a:lnSpc>
                      </a:pPr>
                      <a:r>
                        <a:rPr sz="1100" dirty="0"/>
                        <a:t>1</a:t>
                      </a:r>
                      <a:endParaRPr sz="1100">
                        <a:latin typeface="Calibri"/>
                        <a:cs typeface="Calibri"/>
                      </a:endParaRPr>
                    </a:p>
                  </a:txBody>
                  <a:tcPr marL="0" marR="0" marT="0" marB="0"/>
                </a:tc>
                <a:tc>
                  <a:txBody>
                    <a:bodyPr/>
                    <a:lstStyle/>
                    <a:p>
                      <a:pPr marL="67945">
                        <a:lnSpc>
                          <a:spcPts val="1290"/>
                        </a:lnSpc>
                      </a:pPr>
                      <a:r>
                        <a:rPr sz="1100" dirty="0"/>
                        <a:t>1</a:t>
                      </a:r>
                      <a:endParaRPr sz="1100">
                        <a:latin typeface="Calibri"/>
                        <a:cs typeface="Calibri"/>
                      </a:endParaRPr>
                    </a:p>
                  </a:txBody>
                  <a:tcPr marL="0" marR="0" marT="0" marB="0"/>
                </a:tc>
                <a:extLst>
                  <a:ext uri="{0D108BD9-81ED-4DB2-BD59-A6C34878D82A}">
                    <a16:rowId xmlns:a16="http://schemas.microsoft.com/office/drawing/2014/main" val="10003"/>
                  </a:ext>
                </a:extLst>
              </a:tr>
              <a:tr h="441044">
                <a:tc>
                  <a:txBody>
                    <a:bodyPr/>
                    <a:lstStyle/>
                    <a:p>
                      <a:pPr marL="67945">
                        <a:lnSpc>
                          <a:spcPts val="1290"/>
                        </a:lnSpc>
                      </a:pPr>
                      <a:r>
                        <a:rPr sz="1100" dirty="0"/>
                        <a:t>Step</a:t>
                      </a:r>
                      <a:r>
                        <a:rPr sz="1100" spc="-45" dirty="0"/>
                        <a:t> </a:t>
                      </a:r>
                      <a:r>
                        <a:rPr sz="1100" dirty="0"/>
                        <a:t>Size</a:t>
                      </a:r>
                      <a:r>
                        <a:rPr sz="1100" spc="-40" dirty="0"/>
                        <a:t> </a:t>
                      </a:r>
                      <a:r>
                        <a:rPr sz="1100" spc="-20" dirty="0"/>
                        <a:t>Type</a:t>
                      </a:r>
                      <a:endParaRPr sz="1100">
                        <a:latin typeface="Calibri"/>
                        <a:cs typeface="Calibri"/>
                      </a:endParaRPr>
                    </a:p>
                  </a:txBody>
                  <a:tcPr marL="0" marR="0" marT="0" marB="0"/>
                </a:tc>
                <a:tc>
                  <a:txBody>
                    <a:bodyPr/>
                    <a:lstStyle/>
                    <a:p>
                      <a:pPr marL="68580">
                        <a:lnSpc>
                          <a:spcPts val="1290"/>
                        </a:lnSpc>
                      </a:pPr>
                      <a:r>
                        <a:rPr sz="1100" spc="-10" dirty="0"/>
                        <a:t>Fixed</a:t>
                      </a:r>
                      <a:endParaRPr sz="1100">
                        <a:latin typeface="Calibri"/>
                        <a:cs typeface="Calibri"/>
                      </a:endParaRPr>
                    </a:p>
                  </a:txBody>
                  <a:tcPr marL="0" marR="0" marT="0" marB="0"/>
                </a:tc>
                <a:tc>
                  <a:txBody>
                    <a:bodyPr/>
                    <a:lstStyle/>
                    <a:p>
                      <a:pPr marL="67945">
                        <a:lnSpc>
                          <a:spcPts val="1290"/>
                        </a:lnSpc>
                      </a:pPr>
                      <a:r>
                        <a:rPr sz="1100" spc="-10" dirty="0"/>
                        <a:t>Variable</a:t>
                      </a:r>
                      <a:endParaRPr sz="1100">
                        <a:latin typeface="Calibri"/>
                        <a:cs typeface="Calibri"/>
                      </a:endParaRPr>
                    </a:p>
                  </a:txBody>
                  <a:tcPr marL="0" marR="0" marT="0" marB="0"/>
                </a:tc>
                <a:tc>
                  <a:txBody>
                    <a:bodyPr/>
                    <a:lstStyle/>
                    <a:p>
                      <a:pPr marL="66675">
                        <a:lnSpc>
                          <a:spcPts val="1290"/>
                        </a:lnSpc>
                      </a:pPr>
                      <a:r>
                        <a:rPr sz="1100" spc="-10" dirty="0"/>
                        <a:t>Normalized</a:t>
                      </a:r>
                      <a:endParaRPr sz="1100"/>
                    </a:p>
                    <a:p>
                      <a:pPr marL="66675">
                        <a:lnSpc>
                          <a:spcPct val="100000"/>
                        </a:lnSpc>
                        <a:spcBef>
                          <a:spcPts val="25"/>
                        </a:spcBef>
                      </a:pPr>
                      <a:r>
                        <a:rPr sz="1100" spc="-10" dirty="0"/>
                        <a:t>input</a:t>
                      </a:r>
                      <a:endParaRPr sz="1100">
                        <a:latin typeface="Calibri"/>
                        <a:cs typeface="Calibri"/>
                      </a:endParaRPr>
                    </a:p>
                  </a:txBody>
                  <a:tcPr marL="0" marR="0" marT="0" marB="0"/>
                </a:tc>
                <a:tc>
                  <a:txBody>
                    <a:bodyPr/>
                    <a:lstStyle/>
                    <a:p>
                      <a:pPr marL="67945">
                        <a:lnSpc>
                          <a:spcPts val="1290"/>
                        </a:lnSpc>
                      </a:pPr>
                      <a:r>
                        <a:rPr sz="1100" dirty="0"/>
                        <a:t>Normalized</a:t>
                      </a:r>
                      <a:r>
                        <a:rPr sz="1100" spc="-50" dirty="0"/>
                        <a:t> </a:t>
                      </a:r>
                      <a:r>
                        <a:rPr sz="1100" spc="-20" dirty="0"/>
                        <a:t>error</a:t>
                      </a:r>
                      <a:endParaRPr sz="1100">
                        <a:latin typeface="Calibri"/>
                        <a:cs typeface="Calibri"/>
                      </a:endParaRPr>
                    </a:p>
                  </a:txBody>
                  <a:tcPr marL="0" marR="0" marT="0" marB="0"/>
                </a:tc>
                <a:extLst>
                  <a:ext uri="{0D108BD9-81ED-4DB2-BD59-A6C34878D82A}">
                    <a16:rowId xmlns:a16="http://schemas.microsoft.com/office/drawing/2014/main" val="10004"/>
                  </a:ext>
                </a:extLst>
              </a:tr>
              <a:tr h="215762">
                <a:tc>
                  <a:txBody>
                    <a:bodyPr/>
                    <a:lstStyle/>
                    <a:p>
                      <a:pPr marL="67945">
                        <a:lnSpc>
                          <a:spcPts val="1290"/>
                        </a:lnSpc>
                      </a:pPr>
                      <a:r>
                        <a:rPr sz="1100" dirty="0"/>
                        <a:t>Dynamic</a:t>
                      </a:r>
                      <a:r>
                        <a:rPr sz="1100" spc="-65" dirty="0"/>
                        <a:t> </a:t>
                      </a:r>
                      <a:r>
                        <a:rPr sz="1100" dirty="0"/>
                        <a:t>Power</a:t>
                      </a:r>
                      <a:r>
                        <a:rPr sz="1100" spc="-50" dirty="0"/>
                        <a:t> </a:t>
                      </a:r>
                      <a:r>
                        <a:rPr sz="1100" spc="-20" dirty="0"/>
                        <a:t>(mW)</a:t>
                      </a:r>
                      <a:endParaRPr sz="1100">
                        <a:latin typeface="Calibri"/>
                        <a:cs typeface="Calibri"/>
                      </a:endParaRPr>
                    </a:p>
                  </a:txBody>
                  <a:tcPr marL="0" marR="0" marT="0" marB="0"/>
                </a:tc>
                <a:tc>
                  <a:txBody>
                    <a:bodyPr/>
                    <a:lstStyle/>
                    <a:p>
                      <a:pPr marL="68580">
                        <a:lnSpc>
                          <a:spcPts val="1290"/>
                        </a:lnSpc>
                      </a:pPr>
                      <a:r>
                        <a:rPr sz="1100" spc="-25" dirty="0"/>
                        <a:t>74</a:t>
                      </a:r>
                      <a:endParaRPr sz="1100">
                        <a:latin typeface="Calibri"/>
                        <a:cs typeface="Calibri"/>
                      </a:endParaRPr>
                    </a:p>
                  </a:txBody>
                  <a:tcPr marL="0" marR="0" marT="0" marB="0"/>
                </a:tc>
                <a:tc>
                  <a:txBody>
                    <a:bodyPr/>
                    <a:lstStyle/>
                    <a:p>
                      <a:pPr marL="67945">
                        <a:lnSpc>
                          <a:spcPts val="1290"/>
                        </a:lnSpc>
                      </a:pPr>
                      <a:r>
                        <a:rPr sz="1100" dirty="0"/>
                        <a:t>—</a:t>
                      </a:r>
                      <a:endParaRPr sz="1100">
                        <a:latin typeface="Calibri"/>
                        <a:cs typeface="Calibri"/>
                      </a:endParaRPr>
                    </a:p>
                  </a:txBody>
                  <a:tcPr marL="0" marR="0" marT="0" marB="0"/>
                </a:tc>
                <a:tc>
                  <a:txBody>
                    <a:bodyPr/>
                    <a:lstStyle/>
                    <a:p>
                      <a:pPr marL="66675">
                        <a:lnSpc>
                          <a:spcPts val="1290"/>
                        </a:lnSpc>
                      </a:pPr>
                      <a:r>
                        <a:rPr sz="1100" spc="-25" dirty="0"/>
                        <a:t>64</a:t>
                      </a:r>
                      <a:endParaRPr sz="1100">
                        <a:latin typeface="Calibri"/>
                        <a:cs typeface="Calibri"/>
                      </a:endParaRPr>
                    </a:p>
                  </a:txBody>
                  <a:tcPr marL="0" marR="0" marT="0" marB="0"/>
                </a:tc>
                <a:tc>
                  <a:txBody>
                    <a:bodyPr/>
                    <a:lstStyle/>
                    <a:p>
                      <a:pPr marL="67945">
                        <a:lnSpc>
                          <a:spcPts val="1290"/>
                        </a:lnSpc>
                      </a:pPr>
                      <a:r>
                        <a:rPr sz="1100" spc="-25" dirty="0"/>
                        <a:t>42</a:t>
                      </a:r>
                      <a:endParaRPr sz="1100">
                        <a:latin typeface="Calibri"/>
                        <a:cs typeface="Calibri"/>
                      </a:endParaRPr>
                    </a:p>
                  </a:txBody>
                  <a:tcPr marL="0" marR="0" marT="0" marB="0"/>
                </a:tc>
                <a:extLst>
                  <a:ext uri="{0D108BD9-81ED-4DB2-BD59-A6C34878D82A}">
                    <a16:rowId xmlns:a16="http://schemas.microsoft.com/office/drawing/2014/main" val="10005"/>
                  </a:ext>
                </a:extLst>
              </a:tr>
              <a:tr h="223378">
                <a:tc>
                  <a:txBody>
                    <a:bodyPr/>
                    <a:lstStyle/>
                    <a:p>
                      <a:pPr marL="67945">
                        <a:lnSpc>
                          <a:spcPts val="1290"/>
                        </a:lnSpc>
                      </a:pPr>
                      <a:r>
                        <a:rPr sz="1100" dirty="0"/>
                        <a:t>Leakage</a:t>
                      </a:r>
                      <a:r>
                        <a:rPr sz="1100" spc="-15" dirty="0"/>
                        <a:t> </a:t>
                      </a:r>
                      <a:r>
                        <a:rPr sz="1100" dirty="0"/>
                        <a:t>Power</a:t>
                      </a:r>
                      <a:r>
                        <a:rPr sz="1100" spc="-25" dirty="0"/>
                        <a:t> </a:t>
                      </a:r>
                      <a:r>
                        <a:rPr sz="1100" spc="-20" dirty="0"/>
                        <a:t>(μW)</a:t>
                      </a:r>
                      <a:endParaRPr sz="1100">
                        <a:latin typeface="Calibri"/>
                        <a:cs typeface="Calibri"/>
                      </a:endParaRPr>
                    </a:p>
                  </a:txBody>
                  <a:tcPr marL="0" marR="0" marT="0" marB="0"/>
                </a:tc>
                <a:tc>
                  <a:txBody>
                    <a:bodyPr/>
                    <a:lstStyle/>
                    <a:p>
                      <a:pPr marL="68580">
                        <a:lnSpc>
                          <a:spcPts val="1290"/>
                        </a:lnSpc>
                      </a:pPr>
                      <a:r>
                        <a:rPr sz="1100" spc="-25" dirty="0"/>
                        <a:t>154</a:t>
                      </a:r>
                      <a:endParaRPr sz="1100">
                        <a:latin typeface="Calibri"/>
                        <a:cs typeface="Calibri"/>
                      </a:endParaRPr>
                    </a:p>
                  </a:txBody>
                  <a:tcPr marL="0" marR="0" marT="0" marB="0"/>
                </a:tc>
                <a:tc>
                  <a:txBody>
                    <a:bodyPr/>
                    <a:lstStyle/>
                    <a:p>
                      <a:pPr marL="67945">
                        <a:lnSpc>
                          <a:spcPts val="1290"/>
                        </a:lnSpc>
                      </a:pPr>
                      <a:r>
                        <a:rPr sz="1100" dirty="0"/>
                        <a:t>—</a:t>
                      </a:r>
                      <a:endParaRPr sz="1100">
                        <a:latin typeface="Calibri"/>
                        <a:cs typeface="Calibri"/>
                      </a:endParaRPr>
                    </a:p>
                  </a:txBody>
                  <a:tcPr marL="0" marR="0" marT="0" marB="0"/>
                </a:tc>
                <a:tc>
                  <a:txBody>
                    <a:bodyPr/>
                    <a:lstStyle/>
                    <a:p>
                      <a:pPr marL="66675">
                        <a:lnSpc>
                          <a:spcPts val="1290"/>
                        </a:lnSpc>
                      </a:pPr>
                      <a:r>
                        <a:rPr sz="1100" spc="-25" dirty="0"/>
                        <a:t>132</a:t>
                      </a:r>
                      <a:endParaRPr sz="1100">
                        <a:latin typeface="Calibri"/>
                        <a:cs typeface="Calibri"/>
                      </a:endParaRPr>
                    </a:p>
                  </a:txBody>
                  <a:tcPr marL="0" marR="0" marT="0" marB="0"/>
                </a:tc>
                <a:tc>
                  <a:txBody>
                    <a:bodyPr/>
                    <a:lstStyle/>
                    <a:p>
                      <a:pPr marL="67945">
                        <a:lnSpc>
                          <a:spcPts val="1290"/>
                        </a:lnSpc>
                      </a:pPr>
                      <a:r>
                        <a:rPr sz="1100" spc="-25" dirty="0"/>
                        <a:t>107</a:t>
                      </a:r>
                      <a:endParaRPr sz="1100">
                        <a:latin typeface="Calibri"/>
                        <a:cs typeface="Calibri"/>
                      </a:endParaRPr>
                    </a:p>
                  </a:txBody>
                  <a:tcPr marL="0" marR="0" marT="0" marB="0"/>
                </a:tc>
                <a:extLst>
                  <a:ext uri="{0D108BD9-81ED-4DB2-BD59-A6C34878D82A}">
                    <a16:rowId xmlns:a16="http://schemas.microsoft.com/office/drawing/2014/main" val="10006"/>
                  </a:ext>
                </a:extLst>
              </a:tr>
              <a:tr h="214492">
                <a:tc>
                  <a:txBody>
                    <a:bodyPr/>
                    <a:lstStyle/>
                    <a:p>
                      <a:pPr marL="67945">
                        <a:lnSpc>
                          <a:spcPts val="1290"/>
                        </a:lnSpc>
                      </a:pPr>
                      <a:r>
                        <a:rPr sz="1100" dirty="0"/>
                        <a:t>Timing</a:t>
                      </a:r>
                      <a:r>
                        <a:rPr sz="1100" spc="-40" dirty="0"/>
                        <a:t> </a:t>
                      </a:r>
                      <a:r>
                        <a:rPr sz="1100" dirty="0"/>
                        <a:t>Slack</a:t>
                      </a:r>
                      <a:r>
                        <a:rPr sz="1100" spc="-45" dirty="0"/>
                        <a:t> </a:t>
                      </a:r>
                      <a:r>
                        <a:rPr sz="1100" spc="-20" dirty="0"/>
                        <a:t>(ns)</a:t>
                      </a:r>
                      <a:endParaRPr sz="1100">
                        <a:latin typeface="Calibri"/>
                        <a:cs typeface="Calibri"/>
                      </a:endParaRPr>
                    </a:p>
                  </a:txBody>
                  <a:tcPr marL="0" marR="0" marT="0" marB="0"/>
                </a:tc>
                <a:tc>
                  <a:txBody>
                    <a:bodyPr/>
                    <a:lstStyle/>
                    <a:p>
                      <a:pPr marL="68580">
                        <a:lnSpc>
                          <a:spcPts val="1290"/>
                        </a:lnSpc>
                      </a:pPr>
                      <a:r>
                        <a:rPr sz="1100" spc="-20" dirty="0"/>
                        <a:t>0.27</a:t>
                      </a:r>
                      <a:endParaRPr sz="1100">
                        <a:latin typeface="Calibri"/>
                        <a:cs typeface="Calibri"/>
                      </a:endParaRPr>
                    </a:p>
                  </a:txBody>
                  <a:tcPr marL="0" marR="0" marT="0" marB="0"/>
                </a:tc>
                <a:tc>
                  <a:txBody>
                    <a:bodyPr/>
                    <a:lstStyle/>
                    <a:p>
                      <a:pPr marL="67945">
                        <a:lnSpc>
                          <a:spcPts val="1290"/>
                        </a:lnSpc>
                      </a:pPr>
                      <a:r>
                        <a:rPr sz="1100" dirty="0"/>
                        <a:t>—</a:t>
                      </a:r>
                      <a:endParaRPr sz="1100">
                        <a:latin typeface="Calibri"/>
                        <a:cs typeface="Calibri"/>
                      </a:endParaRPr>
                    </a:p>
                  </a:txBody>
                  <a:tcPr marL="0" marR="0" marT="0" marB="0"/>
                </a:tc>
                <a:tc>
                  <a:txBody>
                    <a:bodyPr/>
                    <a:lstStyle/>
                    <a:p>
                      <a:pPr marL="66675">
                        <a:lnSpc>
                          <a:spcPts val="1290"/>
                        </a:lnSpc>
                      </a:pPr>
                      <a:r>
                        <a:rPr sz="1100" spc="-20" dirty="0"/>
                        <a:t>0.31</a:t>
                      </a:r>
                      <a:endParaRPr sz="1100">
                        <a:latin typeface="Calibri"/>
                        <a:cs typeface="Calibri"/>
                      </a:endParaRPr>
                    </a:p>
                  </a:txBody>
                  <a:tcPr marL="0" marR="0" marT="0" marB="0"/>
                </a:tc>
                <a:tc>
                  <a:txBody>
                    <a:bodyPr/>
                    <a:lstStyle/>
                    <a:p>
                      <a:pPr marL="67945">
                        <a:lnSpc>
                          <a:spcPts val="1290"/>
                        </a:lnSpc>
                      </a:pPr>
                      <a:r>
                        <a:rPr sz="1100" spc="-20" dirty="0"/>
                        <a:t>0.19</a:t>
                      </a:r>
                      <a:endParaRPr sz="1100" dirty="0">
                        <a:latin typeface="Calibri"/>
                        <a:cs typeface="Calibri"/>
                      </a:endParaRPr>
                    </a:p>
                  </a:txBody>
                  <a:tcPr marL="0" marR="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E0F0D990-7A89-9CFE-B14F-5ECB358942AB}"/>
              </a:ext>
            </a:extLst>
          </p:cNvPr>
          <p:cNvGraphicFramePr>
            <a:graphicFrameLocks noGrp="1"/>
          </p:cNvGraphicFramePr>
          <p:nvPr>
            <p:extLst>
              <p:ext uri="{D42A27DB-BD31-4B8C-83A1-F6EECF244321}">
                <p14:modId xmlns:p14="http://schemas.microsoft.com/office/powerpoint/2010/main" val="138053827"/>
              </p:ext>
            </p:extLst>
          </p:nvPr>
        </p:nvGraphicFramePr>
        <p:xfrm>
          <a:off x="1143000" y="914400"/>
          <a:ext cx="6278563" cy="663574"/>
        </p:xfrm>
        <a:graphic>
          <a:graphicData uri="http://schemas.openxmlformats.org/drawingml/2006/table">
            <a:tbl>
              <a:tblPr firstRow="1" bandRow="1">
                <a:tableStyleId>{5940675A-B579-460E-94D1-54222C63F5DA}</a:tableStyleId>
              </a:tblPr>
              <a:tblGrid>
                <a:gridCol w="1475965">
                  <a:extLst>
                    <a:ext uri="{9D8B030D-6E8A-4147-A177-3AD203B41FA5}">
                      <a16:colId xmlns:a16="http://schemas.microsoft.com/office/drawing/2014/main" val="20000"/>
                    </a:ext>
                  </a:extLst>
                </a:gridCol>
                <a:gridCol w="1099352">
                  <a:extLst>
                    <a:ext uri="{9D8B030D-6E8A-4147-A177-3AD203B41FA5}">
                      <a16:colId xmlns:a16="http://schemas.microsoft.com/office/drawing/2014/main" val="20001"/>
                    </a:ext>
                  </a:extLst>
                </a:gridCol>
                <a:gridCol w="1101257">
                  <a:extLst>
                    <a:ext uri="{9D8B030D-6E8A-4147-A177-3AD203B41FA5}">
                      <a16:colId xmlns:a16="http://schemas.microsoft.com/office/drawing/2014/main" val="20002"/>
                    </a:ext>
                  </a:extLst>
                </a:gridCol>
                <a:gridCol w="1099986">
                  <a:extLst>
                    <a:ext uri="{9D8B030D-6E8A-4147-A177-3AD203B41FA5}">
                      <a16:colId xmlns:a16="http://schemas.microsoft.com/office/drawing/2014/main" val="20003"/>
                    </a:ext>
                  </a:extLst>
                </a:gridCol>
                <a:gridCol w="1502003">
                  <a:extLst>
                    <a:ext uri="{9D8B030D-6E8A-4147-A177-3AD203B41FA5}">
                      <a16:colId xmlns:a16="http://schemas.microsoft.com/office/drawing/2014/main" val="20004"/>
                    </a:ext>
                  </a:extLst>
                </a:gridCol>
              </a:tblGrid>
              <a:tr h="224154">
                <a:tc>
                  <a:txBody>
                    <a:bodyPr/>
                    <a:lstStyle/>
                    <a:p>
                      <a:pPr marL="67945">
                        <a:lnSpc>
                          <a:spcPts val="1290"/>
                        </a:lnSpc>
                      </a:pPr>
                      <a:r>
                        <a:rPr sz="1100" dirty="0"/>
                        <a:t>Critical</a:t>
                      </a:r>
                      <a:r>
                        <a:rPr sz="1100" spc="-55" dirty="0"/>
                        <a:t> </a:t>
                      </a:r>
                      <a:r>
                        <a:rPr sz="1100" spc="-10" dirty="0"/>
                        <a:t>Paths</a:t>
                      </a:r>
                      <a:endParaRPr sz="1100">
                        <a:latin typeface="Calibri"/>
                        <a:cs typeface="Calibri"/>
                      </a:endParaRPr>
                    </a:p>
                  </a:txBody>
                  <a:tcPr marL="0" marR="0" marT="0" marB="0"/>
                </a:tc>
                <a:tc>
                  <a:txBody>
                    <a:bodyPr/>
                    <a:lstStyle/>
                    <a:p>
                      <a:pPr marL="68580">
                        <a:lnSpc>
                          <a:spcPts val="1290"/>
                        </a:lnSpc>
                      </a:pPr>
                      <a:r>
                        <a:rPr sz="1100" spc="-25" dirty="0"/>
                        <a:t>56</a:t>
                      </a:r>
                      <a:endParaRPr sz="1100">
                        <a:latin typeface="Calibri"/>
                        <a:cs typeface="Calibri"/>
                      </a:endParaRPr>
                    </a:p>
                  </a:txBody>
                  <a:tcPr marL="0" marR="0" marT="0" marB="0"/>
                </a:tc>
                <a:tc>
                  <a:txBody>
                    <a:bodyPr/>
                    <a:lstStyle/>
                    <a:p>
                      <a:pPr marL="67945">
                        <a:lnSpc>
                          <a:spcPts val="1290"/>
                        </a:lnSpc>
                      </a:pPr>
                      <a:r>
                        <a:rPr sz="1100" dirty="0"/>
                        <a:t>—</a:t>
                      </a:r>
                      <a:endParaRPr sz="1100">
                        <a:latin typeface="Calibri"/>
                        <a:cs typeface="Calibri"/>
                      </a:endParaRPr>
                    </a:p>
                  </a:txBody>
                  <a:tcPr marL="0" marR="0" marT="0" marB="0"/>
                </a:tc>
                <a:tc>
                  <a:txBody>
                    <a:bodyPr/>
                    <a:lstStyle/>
                    <a:p>
                      <a:pPr marL="66675">
                        <a:lnSpc>
                          <a:spcPts val="1290"/>
                        </a:lnSpc>
                      </a:pPr>
                      <a:r>
                        <a:rPr sz="1100" spc="-25" dirty="0"/>
                        <a:t>304</a:t>
                      </a:r>
                      <a:endParaRPr sz="1100">
                        <a:latin typeface="Calibri"/>
                        <a:cs typeface="Calibri"/>
                      </a:endParaRPr>
                    </a:p>
                  </a:txBody>
                  <a:tcPr marL="0" marR="0" marT="0" marB="0"/>
                </a:tc>
                <a:tc>
                  <a:txBody>
                    <a:bodyPr/>
                    <a:lstStyle/>
                    <a:p>
                      <a:pPr marL="67945">
                        <a:lnSpc>
                          <a:spcPts val="1290"/>
                        </a:lnSpc>
                      </a:pPr>
                      <a:r>
                        <a:rPr sz="1100" spc="-25" dirty="0"/>
                        <a:t>322</a:t>
                      </a:r>
                      <a:endParaRPr sz="1100">
                        <a:latin typeface="Calibri"/>
                        <a:cs typeface="Calibri"/>
                      </a:endParaRPr>
                    </a:p>
                  </a:txBody>
                  <a:tcPr marL="0" marR="0" marT="0" marB="0"/>
                </a:tc>
                <a:extLst>
                  <a:ext uri="{0D108BD9-81ED-4DB2-BD59-A6C34878D82A}">
                    <a16:rowId xmlns:a16="http://schemas.microsoft.com/office/drawing/2014/main" val="10000"/>
                  </a:ext>
                </a:extLst>
              </a:tr>
              <a:tr h="215900">
                <a:tc>
                  <a:txBody>
                    <a:bodyPr/>
                    <a:lstStyle/>
                    <a:p>
                      <a:pPr marL="67945">
                        <a:lnSpc>
                          <a:spcPts val="1290"/>
                        </a:lnSpc>
                      </a:pPr>
                      <a:r>
                        <a:rPr sz="1100" dirty="0"/>
                        <a:t>Total</a:t>
                      </a:r>
                      <a:r>
                        <a:rPr sz="1100" spc="-50" dirty="0"/>
                        <a:t> </a:t>
                      </a:r>
                      <a:r>
                        <a:rPr sz="1100" dirty="0"/>
                        <a:t>4-input</a:t>
                      </a:r>
                      <a:r>
                        <a:rPr sz="1100" spc="-45" dirty="0"/>
                        <a:t> </a:t>
                      </a:r>
                      <a:r>
                        <a:rPr sz="1100" spc="-20" dirty="0"/>
                        <a:t>LUTs</a:t>
                      </a:r>
                      <a:endParaRPr sz="1100">
                        <a:latin typeface="Calibri"/>
                        <a:cs typeface="Calibri"/>
                      </a:endParaRPr>
                    </a:p>
                  </a:txBody>
                  <a:tcPr marL="0" marR="0" marT="0" marB="0"/>
                </a:tc>
                <a:tc>
                  <a:txBody>
                    <a:bodyPr/>
                    <a:lstStyle/>
                    <a:p>
                      <a:pPr marL="68580">
                        <a:lnSpc>
                          <a:spcPts val="1290"/>
                        </a:lnSpc>
                      </a:pPr>
                      <a:r>
                        <a:rPr sz="1100" spc="-20" dirty="0"/>
                        <a:t>7213</a:t>
                      </a:r>
                      <a:endParaRPr sz="1100">
                        <a:latin typeface="Calibri"/>
                        <a:cs typeface="Calibri"/>
                      </a:endParaRPr>
                    </a:p>
                  </a:txBody>
                  <a:tcPr marL="0" marR="0" marT="0" marB="0"/>
                </a:tc>
                <a:tc>
                  <a:txBody>
                    <a:bodyPr/>
                    <a:lstStyle/>
                    <a:p>
                      <a:pPr marL="67945">
                        <a:lnSpc>
                          <a:spcPts val="1290"/>
                        </a:lnSpc>
                      </a:pPr>
                      <a:r>
                        <a:rPr sz="1100" dirty="0"/>
                        <a:t>—</a:t>
                      </a:r>
                      <a:endParaRPr sz="1100">
                        <a:latin typeface="Calibri"/>
                        <a:cs typeface="Calibri"/>
                      </a:endParaRPr>
                    </a:p>
                  </a:txBody>
                  <a:tcPr marL="0" marR="0" marT="0" marB="0"/>
                </a:tc>
                <a:tc>
                  <a:txBody>
                    <a:bodyPr/>
                    <a:lstStyle/>
                    <a:p>
                      <a:pPr marL="66675">
                        <a:lnSpc>
                          <a:spcPts val="1290"/>
                        </a:lnSpc>
                      </a:pPr>
                      <a:r>
                        <a:rPr sz="1100" spc="-20" dirty="0"/>
                        <a:t>8725</a:t>
                      </a:r>
                      <a:endParaRPr sz="1100">
                        <a:latin typeface="Calibri"/>
                        <a:cs typeface="Calibri"/>
                      </a:endParaRPr>
                    </a:p>
                  </a:txBody>
                  <a:tcPr marL="0" marR="0" marT="0" marB="0"/>
                </a:tc>
                <a:tc>
                  <a:txBody>
                    <a:bodyPr/>
                    <a:lstStyle/>
                    <a:p>
                      <a:pPr marL="67945">
                        <a:lnSpc>
                          <a:spcPts val="1290"/>
                        </a:lnSpc>
                      </a:pPr>
                      <a:r>
                        <a:rPr sz="1100" spc="-20" dirty="0"/>
                        <a:t>8790</a:t>
                      </a:r>
                      <a:endParaRPr sz="1100">
                        <a:latin typeface="Calibri"/>
                        <a:cs typeface="Calibri"/>
                      </a:endParaRPr>
                    </a:p>
                  </a:txBody>
                  <a:tcPr marL="0" marR="0" marT="0" marB="0"/>
                </a:tc>
                <a:extLst>
                  <a:ext uri="{0D108BD9-81ED-4DB2-BD59-A6C34878D82A}">
                    <a16:rowId xmlns:a16="http://schemas.microsoft.com/office/drawing/2014/main" val="10001"/>
                  </a:ext>
                </a:extLst>
              </a:tr>
              <a:tr h="223520">
                <a:tc>
                  <a:txBody>
                    <a:bodyPr/>
                    <a:lstStyle/>
                    <a:p>
                      <a:pPr marL="67945">
                        <a:lnSpc>
                          <a:spcPts val="1290"/>
                        </a:lnSpc>
                      </a:pPr>
                      <a:r>
                        <a:rPr sz="1100" dirty="0"/>
                        <a:t>MSE</a:t>
                      </a:r>
                      <a:r>
                        <a:rPr sz="1100" spc="-40" dirty="0"/>
                        <a:t> </a:t>
                      </a:r>
                      <a:r>
                        <a:rPr sz="1100" dirty="0"/>
                        <a:t>(8th</a:t>
                      </a:r>
                      <a:r>
                        <a:rPr sz="1100" spc="-40" dirty="0"/>
                        <a:t> </a:t>
                      </a:r>
                      <a:r>
                        <a:rPr sz="1100" spc="-10" dirty="0"/>
                        <a:t>iteration)</a:t>
                      </a:r>
                      <a:endParaRPr sz="1100" dirty="0">
                        <a:latin typeface="Calibri"/>
                        <a:cs typeface="Calibri"/>
                      </a:endParaRPr>
                    </a:p>
                  </a:txBody>
                  <a:tcPr marL="0" marR="0" marT="0" marB="0"/>
                </a:tc>
                <a:tc>
                  <a:txBody>
                    <a:bodyPr/>
                    <a:lstStyle/>
                    <a:p>
                      <a:pPr marL="68580">
                        <a:lnSpc>
                          <a:spcPts val="1290"/>
                        </a:lnSpc>
                      </a:pPr>
                      <a:r>
                        <a:rPr sz="1100" spc="-10" dirty="0"/>
                        <a:t>38,403</a:t>
                      </a:r>
                      <a:endParaRPr sz="1100">
                        <a:latin typeface="Calibri"/>
                        <a:cs typeface="Calibri"/>
                      </a:endParaRPr>
                    </a:p>
                  </a:txBody>
                  <a:tcPr marL="0" marR="0" marT="0" marB="0"/>
                </a:tc>
                <a:tc>
                  <a:txBody>
                    <a:bodyPr/>
                    <a:lstStyle/>
                    <a:p>
                      <a:pPr marL="67945">
                        <a:lnSpc>
                          <a:spcPts val="1290"/>
                        </a:lnSpc>
                      </a:pPr>
                      <a:r>
                        <a:rPr sz="1100" dirty="0"/>
                        <a:t>—</a:t>
                      </a:r>
                      <a:endParaRPr sz="1100">
                        <a:latin typeface="Calibri"/>
                        <a:cs typeface="Calibri"/>
                      </a:endParaRPr>
                    </a:p>
                  </a:txBody>
                  <a:tcPr marL="0" marR="0" marT="0" marB="0"/>
                </a:tc>
                <a:tc>
                  <a:txBody>
                    <a:bodyPr/>
                    <a:lstStyle/>
                    <a:p>
                      <a:pPr marL="66675">
                        <a:lnSpc>
                          <a:spcPts val="1290"/>
                        </a:lnSpc>
                      </a:pPr>
                      <a:r>
                        <a:rPr sz="1100" spc="-10" dirty="0"/>
                        <a:t>Higher</a:t>
                      </a:r>
                      <a:endParaRPr sz="1100">
                        <a:latin typeface="Calibri"/>
                        <a:cs typeface="Calibri"/>
                      </a:endParaRPr>
                    </a:p>
                  </a:txBody>
                  <a:tcPr marL="0" marR="0" marT="0" marB="0"/>
                </a:tc>
                <a:tc>
                  <a:txBody>
                    <a:bodyPr/>
                    <a:lstStyle/>
                    <a:p>
                      <a:pPr marL="67945">
                        <a:lnSpc>
                          <a:spcPts val="1290"/>
                        </a:lnSpc>
                      </a:pPr>
                      <a:r>
                        <a:rPr sz="1100" spc="-10" dirty="0"/>
                        <a:t>34,647</a:t>
                      </a:r>
                      <a:endParaRPr sz="1100" dirty="0">
                        <a:latin typeface="Calibri"/>
                        <a:cs typeface="Calibri"/>
                      </a:endParaRPr>
                    </a:p>
                  </a:txBody>
                  <a:tcPr marL="0" marR="0" marT="0" marB="0"/>
                </a:tc>
                <a:extLst>
                  <a:ext uri="{0D108BD9-81ED-4DB2-BD59-A6C34878D82A}">
                    <a16:rowId xmlns:a16="http://schemas.microsoft.com/office/drawing/2014/main" val="10002"/>
                  </a:ext>
                </a:extLst>
              </a:tr>
            </a:tbl>
          </a:graphicData>
        </a:graphic>
      </p:graphicFrame>
      <p:sp>
        <p:nvSpPr>
          <p:cNvPr id="3" name="object 3">
            <a:extLst>
              <a:ext uri="{FF2B5EF4-FFF2-40B4-BE49-F238E27FC236}">
                <a16:creationId xmlns:a16="http://schemas.microsoft.com/office/drawing/2014/main" id="{36301258-7992-698B-48D8-90DBE5CAA216}"/>
              </a:ext>
            </a:extLst>
          </p:cNvPr>
          <p:cNvSpPr txBox="1"/>
          <p:nvPr/>
        </p:nvSpPr>
        <p:spPr>
          <a:xfrm>
            <a:off x="1130300" y="2214563"/>
            <a:ext cx="5670550" cy="1643062"/>
          </a:xfrm>
          <a:prstGeom prst="rect">
            <a:avLst/>
          </a:prstGeom>
        </p:spPr>
        <p:txBody>
          <a:bodyPr lIns="0" tIns="1079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1000"/>
              </a:lnSpc>
              <a:spcBef>
                <a:spcPts val="88"/>
              </a:spcBef>
            </a:pPr>
            <a:r>
              <a:rPr lang="en-US" altLang="en-US" sz="1100">
                <a:solidFill>
                  <a:srgbClr val="000000"/>
                </a:solidFill>
                <a:latin typeface="Calibri" panose="020F0502020204030204" pitchFamily="34" charset="0"/>
                <a:cs typeface="Calibri" panose="020F0502020204030204" pitchFamily="34" charset="0"/>
              </a:rPr>
              <a:t>From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comparative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analysis,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TDLMS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algorithm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computationally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expensive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due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high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multiplication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requirement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(6N+1)</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compared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others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(3N).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ENLMS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algorithm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provides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good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balance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but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limited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long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critical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path.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DNLMS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algorithm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introduces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pipelining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but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lacks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affecting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performance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high-noise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conditions.</a:t>
            </a:r>
          </a:p>
          <a:p>
            <a:pPr eaLnBrk="1" hangingPunct="1">
              <a:spcBef>
                <a:spcPts val="13"/>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lnSpc>
                <a:spcPct val="101000"/>
              </a:lnSpc>
            </a:pP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proposed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DENLMS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algorithm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combines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with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pipelined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architecture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delayed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feedback.</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achieves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lower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power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consumption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(42</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mW),</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better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timing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slack</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(0.19</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mean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square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making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suitable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removal</a:t>
            </a:r>
            <a:r>
              <a:rPr lang="en-US" altLang="en-US" sz="1200">
                <a:solidFill>
                  <a:srgbClr val="000000"/>
                </a:solidFill>
                <a:latin typeface="Times New Roman" panose="02020603050405020304" pitchFamily="18" charset="0"/>
                <a:cs typeface="Times New Roman" panose="02020603050405020304" pitchFamily="18" charset="0"/>
              </a:rPr>
              <a:t>.</a:t>
            </a:r>
          </a:p>
          <a:p>
            <a:pPr eaLnBrk="1" hangingPunct="1">
              <a:spcBef>
                <a:spcPts val="475"/>
              </a:spcBef>
            </a:pPr>
            <a:r>
              <a:rPr lang="en-US" altLang="en-US" sz="1200">
                <a:solidFill>
                  <a:srgbClr val="000000"/>
                </a:solidFill>
                <a:latin typeface="Times New Roman" panose="02020603050405020304" pitchFamily="18" charset="0"/>
                <a:cs typeface="Times New Roman" panose="02020603050405020304" pitchFamily="18" charset="0"/>
              </a:rPr>
              <a:t>.</a:t>
            </a:r>
          </a:p>
        </p:txBody>
      </p:sp>
      <p:sp>
        <p:nvSpPr>
          <p:cNvPr id="4" name="object 4">
            <a:extLst>
              <a:ext uri="{FF2B5EF4-FFF2-40B4-BE49-F238E27FC236}">
                <a16:creationId xmlns:a16="http://schemas.microsoft.com/office/drawing/2014/main" id="{7E21154B-9E61-00FC-BC17-D3FFD09EDC34}"/>
              </a:ext>
            </a:extLst>
          </p:cNvPr>
          <p:cNvSpPr txBox="1"/>
          <p:nvPr/>
        </p:nvSpPr>
        <p:spPr>
          <a:xfrm>
            <a:off x="1130300" y="4371975"/>
            <a:ext cx="5741988" cy="817563"/>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a:solidFill>
                  <a:srgbClr val="2D75B6"/>
                </a:solidFill>
                <a:latin typeface="Times New Roman" panose="02020603050405020304" pitchFamily="18" charset="0"/>
                <a:cs typeface="Times New Roman" panose="02020603050405020304" pitchFamily="18" charset="0"/>
              </a:rPr>
              <a:t>2.3</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Research</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Gap</a:t>
            </a:r>
            <a:r>
              <a:rPr lang="en-US" altLang="en-US" sz="1400">
                <a:solidFill>
                  <a:srgbClr val="2D75B6"/>
                </a:solidFill>
                <a:latin typeface="Times New Roman" panose="02020603050405020304" pitchFamily="18" charset="0"/>
                <a:cs typeface="Times New Roman" panose="02020603050405020304" pitchFamily="18" charset="0"/>
              </a:rPr>
              <a:t> </a:t>
            </a:r>
            <a:r>
              <a:rPr lang="en-US" altLang="en-US" sz="1400" b="1">
                <a:solidFill>
                  <a:srgbClr val="2D75B6"/>
                </a:solidFill>
                <a:latin typeface="Times New Roman" panose="02020603050405020304" pitchFamily="18" charset="0"/>
                <a:cs typeface="Times New Roman" panose="02020603050405020304" pitchFamily="18" charset="0"/>
              </a:rPr>
              <a:t>Identification</a:t>
            </a:r>
            <a:endParaRPr lang="en-US" altLang="en-US" sz="1400">
              <a:solidFill>
                <a:srgbClr val="000000"/>
              </a:solidFill>
              <a:latin typeface="Times New Roman" panose="02020603050405020304" pitchFamily="18" charset="0"/>
              <a:cs typeface="Times New Roman" panose="02020603050405020304" pitchFamily="18" charset="0"/>
            </a:endParaRPr>
          </a:p>
          <a:p>
            <a:pPr eaLnBrk="1" hangingPunct="1">
              <a:lnSpc>
                <a:spcPct val="144000"/>
              </a:lnSpc>
              <a:spcBef>
                <a:spcPts val="750"/>
              </a:spcBef>
            </a:pPr>
            <a:r>
              <a:rPr lang="en-US" altLang="en-US" sz="1100">
                <a:solidFill>
                  <a:srgbClr val="000000"/>
                </a:solidFill>
                <a:latin typeface="Calibri" panose="020F0502020204030204" pitchFamily="34" charset="0"/>
                <a:cs typeface="Calibri" panose="020F0502020204030204" pitchFamily="34" charset="0"/>
              </a:rPr>
              <a:t>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comprehensive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review</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comparative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analysis,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following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critical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research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gaps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been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identified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existing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literature:</a:t>
            </a:r>
          </a:p>
        </p:txBody>
      </p:sp>
      <p:sp>
        <p:nvSpPr>
          <p:cNvPr id="5" name="object 5">
            <a:extLst>
              <a:ext uri="{FF2B5EF4-FFF2-40B4-BE49-F238E27FC236}">
                <a16:creationId xmlns:a16="http://schemas.microsoft.com/office/drawing/2014/main" id="{DD6AFB84-4530-DEEE-3224-19AE631B9807}"/>
              </a:ext>
            </a:extLst>
          </p:cNvPr>
          <p:cNvSpPr txBox="1"/>
          <p:nvPr/>
        </p:nvSpPr>
        <p:spPr>
          <a:xfrm>
            <a:off x="1130300" y="5600700"/>
            <a:ext cx="5591175" cy="3263900"/>
          </a:xfrm>
          <a:prstGeom prst="rect">
            <a:avLst/>
          </a:prstGeom>
        </p:spPr>
        <p:txBody>
          <a:bodyPr lIns="0" tIns="13335" rIns="0" bIns="0">
            <a:spAutoFit/>
          </a:bodyPr>
          <a:lstStyle>
            <a:lvl1pPr marL="114300" indent="-101600">
              <a:tabLst>
                <a:tab pos="114300" algn="l"/>
              </a:tabLst>
              <a:defRPr>
                <a:solidFill>
                  <a:schemeClr val="tx1"/>
                </a:solidFill>
                <a:latin typeface="Arial" panose="020B0604020202020204" pitchFamily="34" charset="0"/>
              </a:defRPr>
            </a:lvl1pPr>
            <a:lvl2pPr marL="742950" indent="-285750">
              <a:tabLst>
                <a:tab pos="114300" algn="l"/>
              </a:tabLst>
              <a:defRPr>
                <a:solidFill>
                  <a:schemeClr val="tx1"/>
                </a:solidFill>
                <a:latin typeface="Arial" panose="020B0604020202020204" pitchFamily="34" charset="0"/>
              </a:defRPr>
            </a:lvl2pPr>
            <a:lvl3pPr marL="1143000" indent="-228600">
              <a:tabLst>
                <a:tab pos="114300" algn="l"/>
              </a:tabLst>
              <a:defRPr>
                <a:solidFill>
                  <a:schemeClr val="tx1"/>
                </a:solidFill>
                <a:latin typeface="Arial" panose="020B0604020202020204" pitchFamily="34" charset="0"/>
              </a:defRPr>
            </a:lvl3pPr>
            <a:lvl4pPr marL="1600200" indent="-228600">
              <a:tabLst>
                <a:tab pos="114300" algn="l"/>
              </a:tabLst>
              <a:defRPr>
                <a:solidFill>
                  <a:schemeClr val="tx1"/>
                </a:solidFill>
                <a:latin typeface="Arial" panose="020B0604020202020204" pitchFamily="34" charset="0"/>
              </a:defRPr>
            </a:lvl4pPr>
            <a:lvl5pPr marL="2057400" indent="-228600">
              <a:tabLst>
                <a:tab pos="1143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143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143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143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14300" algn="l"/>
              </a:tabLst>
              <a:defRPr>
                <a:solidFill>
                  <a:schemeClr val="tx1"/>
                </a:solidFill>
                <a:latin typeface="Arial" panose="020B0604020202020204" pitchFamily="34" charset="0"/>
              </a:defRPr>
            </a:lvl9pPr>
          </a:lstStyle>
          <a:p>
            <a:pPr eaLnBrk="1" hangingPunct="1">
              <a:spcBef>
                <a:spcPts val="100"/>
              </a:spcBef>
              <a:buFontTx/>
              <a:buChar char="•"/>
            </a:pPr>
            <a:r>
              <a:rPr lang="en-US" altLang="en-US" sz="1100">
                <a:solidFill>
                  <a:srgbClr val="000000"/>
                </a:solidFill>
                <a:latin typeface="Calibri" panose="020F0502020204030204" pitchFamily="34" charset="0"/>
                <a:cs typeface="Calibri" panose="020F0502020204030204" pitchFamily="34" charset="0"/>
              </a:rPr>
              <a:t>Gap 1 — Software-Based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Limitation:</a:t>
            </a:r>
          </a:p>
          <a:p>
            <a:pPr eaLnBrk="1" hangingPunct="1">
              <a:lnSpc>
                <a:spcPct val="102000"/>
              </a:lnSpc>
            </a:pPr>
            <a:r>
              <a:rPr lang="en-US" altLang="en-US" sz="1100">
                <a:solidFill>
                  <a:srgbClr val="000000"/>
                </a:solidFill>
                <a:latin typeface="Calibri" panose="020F0502020204030204" pitchFamily="34" charset="0"/>
                <a:cs typeface="Calibri" panose="020F0502020204030204" pitchFamily="34" charset="0"/>
              </a:rPr>
              <a:t>Most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removal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methods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implemented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software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DSP</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MATLAB.</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lack</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capability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due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high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latency.</a:t>
            </a:r>
          </a:p>
          <a:p>
            <a:pPr eaLnBrk="1" hangingPunct="1">
              <a:spcBef>
                <a:spcPts val="13"/>
              </a:spcBef>
            </a:pPr>
            <a:r>
              <a:rPr lang="en-US" altLang="en-US" sz="1100">
                <a:solidFill>
                  <a:srgbClr val="000000"/>
                </a:solidFill>
                <a:latin typeface="Calibri" panose="020F0502020204030204" pitchFamily="34" charset="0"/>
                <a:cs typeface="Calibri" panose="020F0502020204030204" pitchFamily="34" charset="0"/>
              </a:rPr>
              <a:t>Improvement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needed: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Faster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required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handle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continuous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real-time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ECG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signals.</a:t>
            </a: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buFontTx/>
              <a:buChar char="•"/>
            </a:pPr>
            <a:r>
              <a:rPr lang="en-US" altLang="en-US" sz="1100">
                <a:solidFill>
                  <a:srgbClr val="000000"/>
                </a:solidFill>
                <a:latin typeface="Calibri" panose="020F0502020204030204" pitchFamily="34" charset="0"/>
                <a:cs typeface="Calibri" panose="020F0502020204030204" pitchFamily="34" charset="0"/>
              </a:rPr>
              <a:t>Gap 2 — High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Power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Consumption:</a:t>
            </a:r>
          </a:p>
          <a:p>
            <a:pPr eaLnBrk="1" hangingPunct="1">
              <a:lnSpc>
                <a:spcPct val="102000"/>
              </a:lnSpc>
            </a:pPr>
            <a:r>
              <a:rPr lang="en-US" altLang="en-US" sz="1100">
                <a:solidFill>
                  <a:srgbClr val="000000"/>
                </a:solidFill>
                <a:latin typeface="Calibri" panose="020F0502020204030204" pitchFamily="34" charset="0"/>
                <a:cs typeface="Calibri" panose="020F0502020204030204" pitchFamily="34" charset="0"/>
              </a:rPr>
              <a:t>Software-based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techniques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consume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high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power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general-purpose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processors.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makes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unsuitable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wearable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battery-powered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devices.</a:t>
            </a:r>
          </a:p>
          <a:p>
            <a:pPr eaLnBrk="1" hangingPunct="1">
              <a:spcBef>
                <a:spcPts val="25"/>
              </a:spcBef>
            </a:pPr>
            <a:r>
              <a:rPr lang="en-US" altLang="en-US" sz="1100">
                <a:solidFill>
                  <a:srgbClr val="000000"/>
                </a:solidFill>
                <a:latin typeface="Calibri" panose="020F0502020204030204" pitchFamily="34" charset="0"/>
                <a:cs typeface="Calibri" panose="020F0502020204030204" pitchFamily="34" charset="0"/>
              </a:rPr>
              <a:t>Improvement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needed: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Low-power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hardware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solutions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required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long-term</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monitoring.</a:t>
            </a: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buFontTx/>
              <a:buChar char="•"/>
            </a:pPr>
            <a:r>
              <a:rPr lang="en-US" altLang="en-US" sz="1100">
                <a:solidFill>
                  <a:srgbClr val="000000"/>
                </a:solidFill>
                <a:latin typeface="Calibri" panose="020F0502020204030204" pitchFamily="34" charset="0"/>
                <a:cs typeface="Calibri" panose="020F0502020204030204" pitchFamily="34" charset="0"/>
              </a:rPr>
              <a:t>Gap 3 — Inefficient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Architectures:</a:t>
            </a:r>
          </a:p>
          <a:p>
            <a:pPr eaLnBrk="1" hangingPunct="1">
              <a:lnSpc>
                <a:spcPct val="102000"/>
              </a:lnSpc>
            </a:pPr>
            <a:r>
              <a:rPr lang="en-US" altLang="en-US" sz="1100">
                <a:solidFill>
                  <a:srgbClr val="000000"/>
                </a:solidFill>
                <a:latin typeface="Calibri" panose="020F0502020204030204" pitchFamily="34" charset="0"/>
                <a:cs typeface="Calibri" panose="020F0502020204030204" pitchFamily="34" charset="0"/>
              </a:rPr>
              <a:t>Existing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FPGA-based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LMS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mostly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non-pipelined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with</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long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critical</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paths.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These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limit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operating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speed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throughput.</a:t>
            </a:r>
          </a:p>
          <a:p>
            <a:pPr eaLnBrk="1" hangingPunct="1">
              <a:spcBef>
                <a:spcPts val="13"/>
              </a:spcBef>
            </a:pPr>
            <a:r>
              <a:rPr lang="en-US" altLang="en-US" sz="1100">
                <a:solidFill>
                  <a:srgbClr val="000000"/>
                </a:solidFill>
                <a:latin typeface="Calibri" panose="020F0502020204030204" pitchFamily="34" charset="0"/>
                <a:cs typeface="Calibri" panose="020F0502020204030204" pitchFamily="34" charset="0"/>
              </a:rPr>
              <a:t>Improvement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needed: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Efficient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pipelined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architectures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are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required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improve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speed.</a:t>
            </a:r>
          </a:p>
          <a:p>
            <a:pPr eaLnBrk="1" hangingPunct="1">
              <a:spcBef>
                <a:spcPts val="25"/>
              </a:spcBef>
            </a:pPr>
            <a:endParaRPr lang="en-US" altLang="en-US" sz="1100">
              <a:solidFill>
                <a:srgbClr val="000000"/>
              </a:solidFill>
              <a:latin typeface="Calibri" panose="020F0502020204030204" pitchFamily="34" charset="0"/>
              <a:cs typeface="Calibri" panose="020F0502020204030204" pitchFamily="34" charset="0"/>
            </a:endParaRPr>
          </a:p>
          <a:p>
            <a:pPr eaLnBrk="1" hangingPunct="1">
              <a:buFontTx/>
              <a:buChar char="•"/>
            </a:pPr>
            <a:r>
              <a:rPr lang="en-US" altLang="en-US" sz="1100">
                <a:solidFill>
                  <a:srgbClr val="000000"/>
                </a:solidFill>
                <a:latin typeface="Calibri" panose="020F0502020204030204" pitchFamily="34" charset="0"/>
                <a:cs typeface="Calibri" panose="020F0502020204030204" pitchFamily="34" charset="0"/>
              </a:rPr>
              <a:t>Gap 4 — Missing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p>
          <a:p>
            <a:pPr eaLnBrk="1" hangingPunct="1">
              <a:lnSpc>
                <a:spcPct val="102000"/>
              </a:lnSpc>
            </a:pPr>
            <a:r>
              <a:rPr lang="en-US" altLang="en-US" sz="1100">
                <a:solidFill>
                  <a:srgbClr val="000000"/>
                </a:solidFill>
                <a:latin typeface="Calibri" panose="020F0502020204030204" pitchFamily="34" charset="0"/>
                <a:cs typeface="Calibri" panose="020F0502020204030204" pitchFamily="34" charset="0"/>
              </a:rPr>
              <a:t>Many</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pipelined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FPGA</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designs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do</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include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error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This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results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in</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poor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convergence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under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varying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noise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conditions.</a:t>
            </a:r>
          </a:p>
          <a:p>
            <a:pPr eaLnBrk="1" hangingPunct="1">
              <a:spcBef>
                <a:spcPts val="25"/>
              </a:spcBef>
            </a:pPr>
            <a:r>
              <a:rPr lang="en-US" altLang="en-US" sz="1100">
                <a:solidFill>
                  <a:srgbClr val="000000"/>
                </a:solidFill>
                <a:latin typeface="Calibri" panose="020F0502020204030204" pitchFamily="34" charset="0"/>
                <a:cs typeface="Calibri" panose="020F0502020204030204" pitchFamily="34" charset="0"/>
              </a:rPr>
              <a:t>Improvement</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needed: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Stable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and</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adaptive</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filtering</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requires</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proper</a:t>
            </a:r>
            <a:r>
              <a:rPr lang="en-US" altLang="en-US" sz="1100">
                <a:solidFill>
                  <a:srgbClr val="000000"/>
                </a:solidFill>
                <a:latin typeface="Times New Roman" panose="02020603050405020304" pitchFamily="18" charset="0"/>
                <a:cs typeface="Times New Roman" panose="02020603050405020304" pitchFamily="18" charset="0"/>
              </a:rPr>
              <a:t> </a:t>
            </a:r>
            <a:r>
              <a:rPr lang="en-US" altLang="en-US" sz="1100">
                <a:solidFill>
                  <a:srgbClr val="000000"/>
                </a:solidFill>
                <a:latin typeface="Calibri" panose="020F0502020204030204" pitchFamily="34" charset="0"/>
                <a:cs typeface="Calibri" panose="020F0502020204030204" pitchFamily="34" charset="0"/>
              </a:rPr>
              <a:t>normalization.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FFDA141-87D7-984D-78BD-27E21605944E}"/>
              </a:ext>
            </a:extLst>
          </p:cNvPr>
          <p:cNvSpPr txBox="1"/>
          <p:nvPr/>
        </p:nvSpPr>
        <p:spPr>
          <a:xfrm>
            <a:off x="1130300" y="893763"/>
            <a:ext cx="5621338" cy="876300"/>
          </a:xfrm>
          <a:prstGeom prst="rect">
            <a:avLst/>
          </a:prstGeom>
        </p:spPr>
        <p:txBody>
          <a:bodyPr lIns="0" tIns="13335" rIns="0" bIns="0">
            <a:spAutoFit/>
          </a:bodyPr>
          <a:lstStyle>
            <a:lvl1pPr marL="114300" indent="-101600">
              <a:tabLst>
                <a:tab pos="114300" algn="l"/>
              </a:tabLst>
              <a:defRPr>
                <a:solidFill>
                  <a:schemeClr val="tx1"/>
                </a:solidFill>
                <a:latin typeface="Arial" panose="020B0604020202020204" pitchFamily="34" charset="0"/>
              </a:defRPr>
            </a:lvl1pPr>
            <a:lvl2pPr marL="742950" indent="-285750">
              <a:tabLst>
                <a:tab pos="114300" algn="l"/>
              </a:tabLst>
              <a:defRPr>
                <a:solidFill>
                  <a:schemeClr val="tx1"/>
                </a:solidFill>
                <a:latin typeface="Arial" panose="020B0604020202020204" pitchFamily="34" charset="0"/>
              </a:defRPr>
            </a:lvl2pPr>
            <a:lvl3pPr marL="1143000" indent="-228600">
              <a:tabLst>
                <a:tab pos="114300" algn="l"/>
              </a:tabLst>
              <a:defRPr>
                <a:solidFill>
                  <a:schemeClr val="tx1"/>
                </a:solidFill>
                <a:latin typeface="Arial" panose="020B0604020202020204" pitchFamily="34" charset="0"/>
              </a:defRPr>
            </a:lvl3pPr>
            <a:lvl4pPr marL="1600200" indent="-228600">
              <a:tabLst>
                <a:tab pos="114300" algn="l"/>
              </a:tabLst>
              <a:defRPr>
                <a:solidFill>
                  <a:schemeClr val="tx1"/>
                </a:solidFill>
                <a:latin typeface="Arial" panose="020B0604020202020204" pitchFamily="34" charset="0"/>
              </a:defRPr>
            </a:lvl4pPr>
            <a:lvl5pPr marL="2057400" indent="-228600">
              <a:tabLst>
                <a:tab pos="1143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143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143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143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14300" algn="l"/>
              </a:tabLst>
              <a:defRPr>
                <a:solidFill>
                  <a:schemeClr val="tx1"/>
                </a:solidFill>
                <a:latin typeface="Arial" panose="020B0604020202020204" pitchFamily="34" charset="0"/>
              </a:defRPr>
            </a:lvl9pPr>
          </a:lstStyle>
          <a:p>
            <a:pPr eaLnBrk="1" hangingPunct="1">
              <a:spcBef>
                <a:spcPts val="100"/>
              </a:spcBef>
              <a:buFontTx/>
              <a:buChar char="•"/>
            </a:pPr>
            <a:r>
              <a:rPr lang="en-US" altLang="en-US" sz="1100" dirty="0">
                <a:solidFill>
                  <a:srgbClr val="000000"/>
                </a:solidFill>
                <a:latin typeface="Calibri" panose="020F0502020204030204" pitchFamily="34" charset="0"/>
                <a:cs typeface="Calibri" panose="020F0502020204030204" pitchFamily="34" charset="0"/>
              </a:rPr>
              <a:t>Gap 5 — Lack</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of</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Combined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Optimization:</a:t>
            </a:r>
          </a:p>
          <a:p>
            <a:pPr eaLnBrk="1" hangingPunct="1">
              <a:lnSpc>
                <a:spcPct val="102000"/>
              </a:lnSpc>
            </a:pPr>
            <a:r>
              <a:rPr lang="en-US" altLang="en-US" sz="1100" dirty="0">
                <a:solidFill>
                  <a:srgbClr val="000000"/>
                </a:solidFill>
                <a:latin typeface="Calibri" panose="020F0502020204030204" pitchFamily="34" charset="0"/>
                <a:cs typeface="Calibri" panose="020F0502020204030204" pitchFamily="34" charset="0"/>
              </a:rPr>
              <a:t>Existing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designs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focus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either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pipelining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accuracy,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but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not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optimize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both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together.</a:t>
            </a:r>
          </a:p>
          <a:p>
            <a:pPr eaLnBrk="1" hangingPunct="1">
              <a:lnSpc>
                <a:spcPct val="101000"/>
              </a:lnSpc>
              <a:spcBef>
                <a:spcPts val="13"/>
              </a:spcBef>
            </a:pPr>
            <a:r>
              <a:rPr lang="en-US" altLang="en-US" sz="1100" dirty="0">
                <a:solidFill>
                  <a:srgbClr val="000000"/>
                </a:solidFill>
                <a:latin typeface="Calibri" panose="020F0502020204030204" pitchFamily="34" charset="0"/>
                <a:cs typeface="Calibri" panose="020F0502020204030204" pitchFamily="34" charset="0"/>
              </a:rPr>
              <a:t>Improvement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needed: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balanced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architecture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required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that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achieves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both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high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good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convergence.</a:t>
            </a:r>
          </a:p>
        </p:txBody>
      </p:sp>
      <p:sp>
        <p:nvSpPr>
          <p:cNvPr id="3" name="object 3">
            <a:extLst>
              <a:ext uri="{FF2B5EF4-FFF2-40B4-BE49-F238E27FC236}">
                <a16:creationId xmlns:a16="http://schemas.microsoft.com/office/drawing/2014/main" id="{587FF218-8FDD-2318-C768-965F6C6CD94D}"/>
              </a:ext>
            </a:extLst>
          </p:cNvPr>
          <p:cNvSpPr txBox="1"/>
          <p:nvPr/>
        </p:nvSpPr>
        <p:spPr>
          <a:xfrm>
            <a:off x="1130300" y="2670175"/>
            <a:ext cx="4108450" cy="268288"/>
          </a:xfrm>
          <a:prstGeom prst="rect">
            <a:avLst/>
          </a:prstGeom>
        </p:spPr>
        <p:txBody>
          <a:bodyPr lIns="0" tIns="12065" rIns="0" bIns="0">
            <a:spAutoFit/>
          </a:bodyPr>
          <a:lstStyle/>
          <a:p>
            <a:pPr marL="12700" eaLnBrk="1" fontAlgn="auto" hangingPunct="1">
              <a:spcBef>
                <a:spcPts val="95"/>
              </a:spcBef>
              <a:spcAft>
                <a:spcPts val="0"/>
              </a:spcAft>
              <a:defRPr/>
            </a:pPr>
            <a:r>
              <a:rPr sz="1600" b="1" kern="0" dirty="0">
                <a:solidFill>
                  <a:srgbClr val="1F4E79"/>
                </a:solidFill>
                <a:latin typeface="Times New Roman"/>
                <a:cs typeface="Times New Roman"/>
              </a:rPr>
              <a:t>CHAPTER</a:t>
            </a:r>
            <a:r>
              <a:rPr sz="1600" kern="0" spc="-60" dirty="0">
                <a:solidFill>
                  <a:srgbClr val="1F4E79"/>
                </a:solidFill>
                <a:latin typeface="Times New Roman"/>
                <a:cs typeface="Times New Roman"/>
              </a:rPr>
              <a:t> </a:t>
            </a:r>
            <a:r>
              <a:rPr sz="1600" b="1" kern="0" dirty="0">
                <a:solidFill>
                  <a:srgbClr val="1F4E79"/>
                </a:solidFill>
                <a:latin typeface="Times New Roman"/>
                <a:cs typeface="Times New Roman"/>
              </a:rPr>
              <a:t>3:</a:t>
            </a:r>
            <a:r>
              <a:rPr sz="1600" kern="0" spc="-45" dirty="0">
                <a:solidFill>
                  <a:srgbClr val="1F4E79"/>
                </a:solidFill>
                <a:latin typeface="Times New Roman"/>
                <a:cs typeface="Times New Roman"/>
              </a:rPr>
              <a:t> </a:t>
            </a:r>
            <a:r>
              <a:rPr sz="1600" b="1" kern="0" spc="-10" dirty="0">
                <a:solidFill>
                  <a:srgbClr val="1F4E79"/>
                </a:solidFill>
                <a:latin typeface="Times New Roman"/>
                <a:cs typeface="Times New Roman"/>
              </a:rPr>
              <a:t>PROPOSED</a:t>
            </a:r>
            <a:r>
              <a:rPr sz="1600" kern="0" spc="-45" dirty="0">
                <a:solidFill>
                  <a:srgbClr val="1F4E79"/>
                </a:solidFill>
                <a:latin typeface="Times New Roman"/>
                <a:cs typeface="Times New Roman"/>
              </a:rPr>
              <a:t> </a:t>
            </a:r>
            <a:r>
              <a:rPr sz="1600" b="1" kern="0" dirty="0">
                <a:solidFill>
                  <a:srgbClr val="1F4E79"/>
                </a:solidFill>
                <a:latin typeface="Times New Roman"/>
                <a:cs typeface="Times New Roman"/>
              </a:rPr>
              <a:t>SYSTEM</a:t>
            </a:r>
            <a:r>
              <a:rPr sz="1600" kern="0" spc="-50" dirty="0">
                <a:solidFill>
                  <a:srgbClr val="1F4E79"/>
                </a:solidFill>
                <a:latin typeface="Times New Roman"/>
                <a:cs typeface="Times New Roman"/>
              </a:rPr>
              <a:t> </a:t>
            </a:r>
            <a:r>
              <a:rPr sz="1600" b="1" kern="0" spc="-10" dirty="0">
                <a:solidFill>
                  <a:srgbClr val="1F4E79"/>
                </a:solidFill>
                <a:latin typeface="Times New Roman"/>
                <a:cs typeface="Times New Roman"/>
              </a:rPr>
              <a:t>DESIGN</a:t>
            </a:r>
            <a:endParaRPr sz="1600" kern="0">
              <a:solidFill>
                <a:sysClr val="windowText" lastClr="000000"/>
              </a:solidFill>
              <a:latin typeface="Times New Roman"/>
              <a:cs typeface="Times New Roman"/>
            </a:endParaRPr>
          </a:p>
        </p:txBody>
      </p:sp>
      <p:sp>
        <p:nvSpPr>
          <p:cNvPr id="7172" name="object 4">
            <a:extLst>
              <a:ext uri="{FF2B5EF4-FFF2-40B4-BE49-F238E27FC236}">
                <a16:creationId xmlns:a16="http://schemas.microsoft.com/office/drawing/2014/main" id="{E408DA6B-62BB-3ADD-32F4-C2562702384B}"/>
              </a:ext>
            </a:extLst>
          </p:cNvPr>
          <p:cNvSpPr>
            <a:spLocks/>
          </p:cNvSpPr>
          <p:nvPr/>
        </p:nvSpPr>
        <p:spPr bwMode="auto">
          <a:xfrm>
            <a:off x="1125538" y="3402013"/>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5">
            <a:extLst>
              <a:ext uri="{FF2B5EF4-FFF2-40B4-BE49-F238E27FC236}">
                <a16:creationId xmlns:a16="http://schemas.microsoft.com/office/drawing/2014/main" id="{ADDF6C8C-6755-0D95-5E2C-398742BF1476}"/>
              </a:ext>
            </a:extLst>
          </p:cNvPr>
          <p:cNvSpPr txBox="1"/>
          <p:nvPr/>
        </p:nvSpPr>
        <p:spPr>
          <a:xfrm>
            <a:off x="1130300" y="3549650"/>
            <a:ext cx="5654675" cy="2622550"/>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3.1</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Design</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Justification</a:t>
            </a:r>
            <a:endParaRPr lang="en-US" altLang="en-US" sz="1400" dirty="0">
              <a:solidFill>
                <a:srgbClr val="000000"/>
              </a:solidFill>
              <a:latin typeface="Times New Roman" panose="02020603050405020304" pitchFamily="18" charset="0"/>
              <a:cs typeface="Times New Roman" panose="02020603050405020304" pitchFamily="18" charset="0"/>
            </a:endParaRPr>
          </a:p>
          <a:p>
            <a:pPr eaLnBrk="1" hangingPunct="1">
              <a:lnSpc>
                <a:spcPct val="102000"/>
              </a:lnSpc>
              <a:spcBef>
                <a:spcPts val="1300"/>
              </a:spcBef>
            </a:pP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pipelined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DENLMS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adaptive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architecture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selected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implementation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achieve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efficient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ECG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noise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removal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with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improved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reduced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power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consumption.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pipelined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structure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introduces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delay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error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feedback</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path,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which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reduces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critical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path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length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allows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higher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operating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frequency.</a:t>
            </a:r>
          </a:p>
          <a:p>
            <a:pPr eaLnBrk="1" hangingPunct="1"/>
            <a:endParaRPr lang="en-US" altLang="en-US" sz="1100" dirty="0">
              <a:solidFill>
                <a:srgbClr val="000000"/>
              </a:solidFill>
              <a:latin typeface="Calibri" panose="020F0502020204030204" pitchFamily="34" charset="0"/>
              <a:cs typeface="Calibri" panose="020F0502020204030204" pitchFamily="34" charset="0"/>
            </a:endParaRPr>
          </a:p>
          <a:p>
            <a:pPr eaLnBrk="1" hangingPunct="1">
              <a:lnSpc>
                <a:spcPct val="102000"/>
              </a:lnSpc>
            </a:pPr>
            <a:r>
              <a:rPr lang="en-US" altLang="en-US" sz="1100" dirty="0">
                <a:solidFill>
                  <a:srgbClr val="000000"/>
                </a:solidFill>
                <a:latin typeface="Calibri" panose="020F0502020204030204" pitchFamily="34" charset="0"/>
                <a:cs typeface="Calibri" panose="020F0502020204030204" pitchFamily="34" charset="0"/>
              </a:rPr>
              <a:t>Compared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existing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ENLMS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LMS-based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designs,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proposed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DENLMS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architecture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improves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performance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enabling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faster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through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pipelining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while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maintaining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filtering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accuracy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using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error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normalization.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Unlike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previous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designs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that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focus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only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speed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simplicity,</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approach</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provides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balanced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solution.</a:t>
            </a:r>
          </a:p>
          <a:p>
            <a:pPr eaLnBrk="1" hangingPunct="1"/>
            <a:endParaRPr lang="en-US" altLang="en-US" sz="1100" dirty="0">
              <a:solidFill>
                <a:srgbClr val="000000"/>
              </a:solidFill>
              <a:latin typeface="Calibri" panose="020F0502020204030204" pitchFamily="34" charset="0"/>
              <a:cs typeface="Calibri" panose="020F0502020204030204" pitchFamily="34" charset="0"/>
            </a:endParaRPr>
          </a:p>
          <a:p>
            <a:pPr eaLnBrk="1" hangingPunct="1">
              <a:lnSpc>
                <a:spcPct val="102000"/>
              </a:lnSpc>
            </a:pPr>
            <a:r>
              <a:rPr lang="en-US" altLang="en-US" sz="1100" dirty="0">
                <a:solidFill>
                  <a:srgbClr val="000000"/>
                </a:solidFill>
                <a:latin typeface="Calibri" panose="020F0502020204030204" pitchFamily="34" charset="0"/>
                <a:cs typeface="Calibri" panose="020F0502020204030204" pitchFamily="34" charset="0"/>
              </a:rPr>
              <a:t>The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design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achieves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lower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dynamic</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power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consumption,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improved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timing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performance,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and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better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mean</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square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error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compared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to</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conventional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methods.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Therefore,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it</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is</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well-suited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for</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real-time</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FPGA-based</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biomedical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signal</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processing</a:t>
            </a:r>
            <a:r>
              <a:rPr lang="en-US" altLang="en-US" sz="1100" dirty="0">
                <a:solidFill>
                  <a:srgbClr val="000000"/>
                </a:solidFill>
                <a:latin typeface="Times New Roman" panose="02020603050405020304" pitchFamily="18" charset="0"/>
                <a:cs typeface="Times New Roman" panose="02020603050405020304" pitchFamily="18" charset="0"/>
              </a:rPr>
              <a:t> </a:t>
            </a:r>
            <a:r>
              <a:rPr lang="en-US" altLang="en-US" sz="1100" dirty="0">
                <a:solidFill>
                  <a:srgbClr val="000000"/>
                </a:solidFill>
                <a:latin typeface="Calibri" panose="020F0502020204030204" pitchFamily="34" charset="0"/>
                <a:cs typeface="Calibri" panose="020F0502020204030204" pitchFamily="34" charset="0"/>
              </a:rPr>
              <a:t>applications.</a:t>
            </a:r>
          </a:p>
        </p:txBody>
      </p:sp>
      <p:sp>
        <p:nvSpPr>
          <p:cNvPr id="6" name="object 6">
            <a:extLst>
              <a:ext uri="{FF2B5EF4-FFF2-40B4-BE49-F238E27FC236}">
                <a16:creationId xmlns:a16="http://schemas.microsoft.com/office/drawing/2014/main" id="{56B5879E-1ED9-4334-9DE1-7DC79B489EEB}"/>
              </a:ext>
            </a:extLst>
          </p:cNvPr>
          <p:cNvSpPr txBox="1"/>
          <p:nvPr/>
        </p:nvSpPr>
        <p:spPr>
          <a:xfrm>
            <a:off x="1130300" y="6602413"/>
            <a:ext cx="5743575" cy="1595950"/>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3.2</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Block</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Diagram</a:t>
            </a:r>
          </a:p>
          <a:p>
            <a:pPr algn="just" eaLnBrk="1" hangingPunct="1">
              <a:spcBef>
                <a:spcPts val="100"/>
              </a:spcBef>
            </a:pPr>
            <a:endPar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The system-level block diagram of the proposed DENLMS adaptive filter shows the signal flow from noisy ECG input to filtered output, including the delayed error feedback path.</a:t>
            </a:r>
          </a:p>
          <a:p>
            <a:r>
              <a:rPr lang="en-US" sz="1100" dirty="0">
                <a:latin typeface="Calibri" panose="020F0502020204030204" pitchFamily="34" charset="0"/>
                <a:ea typeface="Calibri" panose="020F0502020204030204" pitchFamily="34" charset="0"/>
                <a:cs typeface="Calibri" panose="020F0502020204030204" pitchFamily="34" charset="0"/>
              </a:rPr>
              <a:t>The system takes the noisy ECG signal x(n) as input to the N-tap FIR filter and the desired signal d(n) to the subtractor. The filter generates output y(n), and the error signal e(n) = d(n) − y(n) is computed. This error is delayed by </a:t>
            </a:r>
            <a:r>
              <a:rPr lang="en-US" sz="1100" dirty="0" err="1">
                <a:latin typeface="Calibri" panose="020F0502020204030204" pitchFamily="34" charset="0"/>
                <a:ea typeface="Calibri" panose="020F0502020204030204" pitchFamily="34" charset="0"/>
                <a:cs typeface="Calibri" panose="020F0502020204030204" pitchFamily="34" charset="0"/>
              </a:rPr>
              <a:t>kD</a:t>
            </a:r>
            <a:r>
              <a:rPr lang="en-US" sz="1100" dirty="0">
                <a:latin typeface="Calibri" panose="020F0502020204030204" pitchFamily="34" charset="0"/>
                <a:ea typeface="Calibri" panose="020F0502020204030204" pitchFamily="34" charset="0"/>
                <a:cs typeface="Calibri" panose="020F0502020204030204" pitchFamily="34" charset="0"/>
              </a:rPr>
              <a:t> clock cycles to produce e(n−</a:t>
            </a:r>
            <a:r>
              <a:rPr lang="en-US" sz="1100" dirty="0" err="1">
                <a:latin typeface="Calibri" panose="020F0502020204030204" pitchFamily="34" charset="0"/>
                <a:ea typeface="Calibri" panose="020F0502020204030204" pitchFamily="34" charset="0"/>
                <a:cs typeface="Calibri" panose="020F0502020204030204" pitchFamily="34" charset="0"/>
              </a:rPr>
              <a:t>kD</a:t>
            </a:r>
            <a:r>
              <a:rPr lang="en-US" sz="1100" dirty="0">
                <a:latin typeface="Calibri" panose="020F0502020204030204" pitchFamily="34" charset="0"/>
                <a:ea typeface="Calibri" panose="020F0502020204030204" pitchFamily="34" charset="0"/>
                <a:cs typeface="Calibri" panose="020F0502020204030204" pitchFamily="34" charset="0"/>
              </a:rPr>
              <a:t>), which is used to update the filter coefficients. The updated coefficients are fed back to the FIR filter, completing the adaptive filtering process.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1C6FCD3-0BAD-D5D9-28B2-D543A1044465}"/>
              </a:ext>
            </a:extLst>
          </p:cNvPr>
          <p:cNvSpPr txBox="1"/>
          <p:nvPr/>
        </p:nvSpPr>
        <p:spPr>
          <a:xfrm>
            <a:off x="1130300" y="825500"/>
            <a:ext cx="5740400" cy="237244"/>
          </a:xfrm>
          <a:prstGeom prst="rect">
            <a:avLst/>
          </a:prstGeom>
        </p:spPr>
        <p:txBody>
          <a:bodyPr lIns="0" tIns="12700"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36000"/>
              </a:lnSpc>
              <a:spcBef>
                <a:spcPts val="100"/>
              </a:spcBef>
            </a:pPr>
            <a:r>
              <a:rPr lang="en-US" altLang="en-US" sz="1200" dirty="0">
                <a:solidFill>
                  <a:srgbClr val="000000"/>
                </a:solidFill>
                <a:latin typeface="Times New Roman" panose="02020603050405020304" pitchFamily="18" charset="0"/>
                <a:cs typeface="Times New Roman" panose="02020603050405020304" pitchFamily="18" charset="0"/>
              </a:rPr>
              <a:t>.</a:t>
            </a:r>
          </a:p>
        </p:txBody>
      </p:sp>
      <p:sp>
        <p:nvSpPr>
          <p:cNvPr id="6" name="object 6">
            <a:extLst>
              <a:ext uri="{FF2B5EF4-FFF2-40B4-BE49-F238E27FC236}">
                <a16:creationId xmlns:a16="http://schemas.microsoft.com/office/drawing/2014/main" id="{25B00107-3A94-F0E1-7F5D-E2B75E76B138}"/>
              </a:ext>
            </a:extLst>
          </p:cNvPr>
          <p:cNvSpPr txBox="1"/>
          <p:nvPr/>
        </p:nvSpPr>
        <p:spPr>
          <a:xfrm>
            <a:off x="1014412" y="5943600"/>
            <a:ext cx="5743575" cy="2319225"/>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3.3</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Architecture</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Diagram </a:t>
            </a:r>
          </a:p>
          <a:p>
            <a:pPr algn="just" eaLnBrk="1" hangingPunct="1">
              <a:spcBef>
                <a:spcPts val="100"/>
              </a:spcBef>
            </a:pPr>
            <a:endParaRPr lang="en-US" altLang="en-US" sz="1400" dirty="0">
              <a:solidFill>
                <a:srgbClr val="000000"/>
              </a:solidFill>
              <a:latin typeface="Times New Roman" panose="02020603050405020304" pitchFamily="18" charset="0"/>
              <a:cs typeface="Times New Roman" panose="02020603050405020304" pitchFamily="18" charset="0"/>
            </a:endParaRPr>
          </a:p>
          <a:p>
            <a:r>
              <a:rPr lang="en-IN" sz="1100" dirty="0">
                <a:latin typeface="Calibri" panose="020F0502020204030204" pitchFamily="34" charset="0"/>
                <a:ea typeface="Calibri" panose="020F0502020204030204" pitchFamily="34" charset="0"/>
                <a:cs typeface="Calibri" panose="020F0502020204030204" pitchFamily="34" charset="0"/>
              </a:rPr>
              <a:t>The VLSI architecture of the proposed DENLMS filter is designed using a 16-bit data path and implemented in Verilog HDL. The RTL schematic is generated using Xilinx synthesis tools, ensuring efficient hardware realization and verification. </a:t>
            </a:r>
          </a:p>
          <a:p>
            <a:endParaRPr lang="en-IN" sz="1100" dirty="0">
              <a:latin typeface="Calibri" panose="020F0502020204030204" pitchFamily="34" charset="0"/>
              <a:ea typeface="Calibri" panose="020F0502020204030204" pitchFamily="34" charset="0"/>
              <a:cs typeface="Calibri" panose="020F0502020204030204" pitchFamily="34" charset="0"/>
            </a:endParaRPr>
          </a:p>
          <a:p>
            <a:r>
              <a:rPr lang="en-IN" sz="1100" dirty="0">
                <a:latin typeface="Calibri" panose="020F0502020204030204" pitchFamily="34" charset="0"/>
                <a:ea typeface="Calibri" panose="020F0502020204030204" pitchFamily="34" charset="0"/>
                <a:cs typeface="Calibri" panose="020F0502020204030204" pitchFamily="34" charset="0"/>
              </a:rPr>
              <a:t>The adaptive filter updates its coefficients based on the following equations:</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b="1" dirty="0">
                <a:latin typeface="Calibri" panose="020F0502020204030204" pitchFamily="34" charset="0"/>
                <a:ea typeface="Calibri" panose="020F0502020204030204" pitchFamily="34" charset="0"/>
                <a:cs typeface="Calibri" panose="020F0502020204030204" pitchFamily="34" charset="0"/>
              </a:rPr>
              <a:t>w(n+1) = w(n) + </a:t>
            </a:r>
            <a:r>
              <a:rPr lang="el-GR" sz="1100" b="1" dirty="0">
                <a:latin typeface="Calibri" panose="020F0502020204030204" pitchFamily="34" charset="0"/>
                <a:ea typeface="Calibri" panose="020F0502020204030204" pitchFamily="34" charset="0"/>
                <a:cs typeface="Calibri" panose="020F0502020204030204" pitchFamily="34" charset="0"/>
              </a:rPr>
              <a:t>μ</a:t>
            </a:r>
            <a:r>
              <a:rPr lang="en-IN" sz="1100" b="1" dirty="0">
                <a:latin typeface="Calibri" panose="020F0502020204030204" pitchFamily="34" charset="0"/>
                <a:ea typeface="Calibri" panose="020F0502020204030204" pitchFamily="34" charset="0"/>
                <a:cs typeface="Calibri" panose="020F0502020204030204" pitchFamily="34" charset="0"/>
              </a:rPr>
              <a:t>ₑₙ · e(n−</a:t>
            </a:r>
            <a:r>
              <a:rPr lang="en-IN" sz="1100" b="1" dirty="0" err="1">
                <a:latin typeface="Calibri" panose="020F0502020204030204" pitchFamily="34" charset="0"/>
                <a:ea typeface="Calibri" panose="020F0502020204030204" pitchFamily="34" charset="0"/>
                <a:cs typeface="Calibri" panose="020F0502020204030204" pitchFamily="34" charset="0"/>
              </a:rPr>
              <a:t>kD</a:t>
            </a:r>
            <a:r>
              <a:rPr lang="en-IN" sz="1100" b="1" dirty="0">
                <a:latin typeface="Calibri" panose="020F0502020204030204" pitchFamily="34" charset="0"/>
                <a:ea typeface="Calibri" panose="020F0502020204030204" pitchFamily="34" charset="0"/>
                <a:cs typeface="Calibri" panose="020F0502020204030204" pitchFamily="34" charset="0"/>
              </a:rPr>
              <a:t>) · x(n−</a:t>
            </a:r>
            <a:r>
              <a:rPr lang="en-IN" sz="1100" b="1" dirty="0" err="1">
                <a:latin typeface="Calibri" panose="020F0502020204030204" pitchFamily="34" charset="0"/>
                <a:ea typeface="Calibri" panose="020F0502020204030204" pitchFamily="34" charset="0"/>
                <a:cs typeface="Calibri" panose="020F0502020204030204" pitchFamily="34" charset="0"/>
              </a:rPr>
              <a:t>kD</a:t>
            </a:r>
            <a:r>
              <a:rPr lang="en-IN" sz="1100" b="1" dirty="0">
                <a:latin typeface="Calibri" panose="020F0502020204030204" pitchFamily="34" charset="0"/>
                <a:ea typeface="Calibri" panose="020F0502020204030204" pitchFamily="34" charset="0"/>
                <a:cs typeface="Calibri" panose="020F0502020204030204" pitchFamily="34" charset="0"/>
              </a:rPr>
              <a:t>)</a:t>
            </a:r>
            <a:br>
              <a:rPr lang="en-IN" sz="1100" dirty="0">
                <a:latin typeface="Calibri" panose="020F0502020204030204" pitchFamily="34" charset="0"/>
                <a:ea typeface="Calibri" panose="020F0502020204030204" pitchFamily="34" charset="0"/>
                <a:cs typeface="Calibri" panose="020F0502020204030204" pitchFamily="34" charset="0"/>
              </a:rPr>
            </a:br>
            <a:r>
              <a:rPr lang="el-GR" sz="1100" b="1" dirty="0">
                <a:latin typeface="Calibri" panose="020F0502020204030204" pitchFamily="34" charset="0"/>
                <a:ea typeface="Calibri" panose="020F0502020204030204" pitchFamily="34" charset="0"/>
                <a:cs typeface="Calibri" panose="020F0502020204030204" pitchFamily="34" charset="0"/>
              </a:rPr>
              <a:t>μ</a:t>
            </a:r>
            <a:r>
              <a:rPr lang="en-IN" sz="1100" b="1" dirty="0">
                <a:latin typeface="Calibri" panose="020F0502020204030204" pitchFamily="34" charset="0"/>
                <a:ea typeface="Calibri" panose="020F0502020204030204" pitchFamily="34" charset="0"/>
                <a:cs typeface="Calibri" panose="020F0502020204030204" pitchFamily="34" charset="0"/>
              </a:rPr>
              <a:t>ₑₙ = </a:t>
            </a:r>
            <a:r>
              <a:rPr lang="el-GR" sz="1100" b="1" dirty="0">
                <a:latin typeface="Calibri" panose="020F0502020204030204" pitchFamily="34" charset="0"/>
                <a:ea typeface="Calibri" panose="020F0502020204030204" pitchFamily="34" charset="0"/>
                <a:cs typeface="Calibri" panose="020F0502020204030204" pitchFamily="34" charset="0"/>
              </a:rPr>
              <a:t>μ / (</a:t>
            </a:r>
            <a:r>
              <a:rPr lang="en-IN" sz="1100" b="1" dirty="0">
                <a:latin typeface="Calibri" panose="020F0502020204030204" pitchFamily="34" charset="0"/>
                <a:ea typeface="Calibri" panose="020F0502020204030204" pitchFamily="34" charset="0"/>
                <a:cs typeface="Calibri" panose="020F0502020204030204" pitchFamily="34" charset="0"/>
              </a:rPr>
              <a:t>p + eᵀ(n)e(n))</a:t>
            </a:r>
          </a:p>
          <a:p>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where </a:t>
            </a:r>
            <a:r>
              <a:rPr lang="el-GR" sz="1100" dirty="0">
                <a:latin typeface="Calibri" panose="020F0502020204030204" pitchFamily="34" charset="0"/>
                <a:ea typeface="Calibri" panose="020F0502020204030204" pitchFamily="34" charset="0"/>
                <a:cs typeface="Calibri" panose="020F0502020204030204" pitchFamily="34" charset="0"/>
              </a:rPr>
              <a:t>μ</a:t>
            </a:r>
            <a:r>
              <a:rPr lang="en-IN" sz="1100" dirty="0">
                <a:latin typeface="Calibri" panose="020F0502020204030204" pitchFamily="34" charset="0"/>
                <a:ea typeface="Calibri" panose="020F0502020204030204" pitchFamily="34" charset="0"/>
                <a:cs typeface="Calibri" panose="020F0502020204030204" pitchFamily="34" charset="0"/>
              </a:rPr>
              <a:t>ₑₙ represents the normalized step size, which improves convergence stability under varying noise conditions.</a:t>
            </a:r>
          </a:p>
          <a:p>
            <a:endParaRPr lang="en-IN" sz="11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diagram of a computer program&#10;&#10;AI-generated content may be incorrect.">
            <a:extLst>
              <a:ext uri="{FF2B5EF4-FFF2-40B4-BE49-F238E27FC236}">
                <a16:creationId xmlns:a16="http://schemas.microsoft.com/office/drawing/2014/main" id="{347CEA78-019D-07B8-0243-45965E0245F2}"/>
              </a:ext>
            </a:extLst>
          </p:cNvPr>
          <p:cNvPicPr>
            <a:picLocks noChangeAspect="1"/>
          </p:cNvPicPr>
          <p:nvPr/>
        </p:nvPicPr>
        <p:blipFill>
          <a:blip r:embed="rId2"/>
          <a:stretch>
            <a:fillRect/>
          </a:stretch>
        </p:blipFill>
        <p:spPr>
          <a:xfrm>
            <a:off x="106680" y="619884"/>
            <a:ext cx="7543800" cy="2615952"/>
          </a:xfrm>
          <a:prstGeom prst="rect">
            <a:avLst/>
          </a:prstGeom>
        </p:spPr>
      </p:pic>
      <p:sp>
        <p:nvSpPr>
          <p:cNvPr id="12" name="TextBox 11">
            <a:extLst>
              <a:ext uri="{FF2B5EF4-FFF2-40B4-BE49-F238E27FC236}">
                <a16:creationId xmlns:a16="http://schemas.microsoft.com/office/drawing/2014/main" id="{B7A422ED-9C90-1B29-F3FB-E6A6D4E0121E}"/>
              </a:ext>
            </a:extLst>
          </p:cNvPr>
          <p:cNvSpPr txBox="1"/>
          <p:nvPr/>
        </p:nvSpPr>
        <p:spPr>
          <a:xfrm>
            <a:off x="1014412" y="3962400"/>
            <a:ext cx="5743575" cy="569387"/>
          </a:xfrm>
          <a:prstGeom prst="rect">
            <a:avLst/>
          </a:prstGeom>
          <a:noFill/>
        </p:spPr>
        <p:txBody>
          <a:bodyPr wrap="square" rtlCol="0">
            <a:sp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The main difference from the standard ENLMS is the delay element (</a:t>
            </a:r>
            <a:r>
              <a:rPr lang="en-US" sz="1000" dirty="0" err="1">
                <a:latin typeface="Calibri" panose="020F0502020204030204" pitchFamily="34" charset="0"/>
                <a:ea typeface="Calibri" panose="020F0502020204030204" pitchFamily="34" charset="0"/>
                <a:cs typeface="Calibri" panose="020F0502020204030204" pitchFamily="34" charset="0"/>
              </a:rPr>
              <a:t>mD</a:t>
            </a:r>
            <a:r>
              <a:rPr lang="en-US" sz="1000" dirty="0">
                <a:latin typeface="Calibri" panose="020F0502020204030204" pitchFamily="34" charset="0"/>
                <a:ea typeface="Calibri" panose="020F0502020204030204" pitchFamily="34" charset="0"/>
                <a:cs typeface="Calibri" panose="020F0502020204030204" pitchFamily="34" charset="0"/>
              </a:rPr>
              <a:t>) in the error feedback path. This enables pipelining, reduces the </a:t>
            </a:r>
            <a:r>
              <a:rPr lang="en-US" sz="1100" dirty="0">
                <a:latin typeface="Calibri" panose="020F0502020204030204" pitchFamily="34" charset="0"/>
                <a:ea typeface="Calibri" panose="020F0502020204030204" pitchFamily="34" charset="0"/>
                <a:cs typeface="Calibri" panose="020F0502020204030204" pitchFamily="34" charset="0"/>
              </a:rPr>
              <a:t>critical</a:t>
            </a:r>
            <a:r>
              <a:rPr lang="en-US" sz="1000" dirty="0">
                <a:latin typeface="Calibri" panose="020F0502020204030204" pitchFamily="34" charset="0"/>
                <a:ea typeface="Calibri" panose="020F0502020204030204" pitchFamily="34" charset="0"/>
                <a:cs typeface="Calibri" panose="020F0502020204030204" pitchFamily="34" charset="0"/>
              </a:rPr>
              <a:t> path, and increases the operating frequency.</a:t>
            </a:r>
            <a:endParaRPr lang="en-US" altLang="en-US" sz="1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IN"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692BAB7-8E0C-8863-0EEF-C135F41C02D3}"/>
              </a:ext>
            </a:extLst>
          </p:cNvPr>
          <p:cNvSpPr txBox="1"/>
          <p:nvPr/>
        </p:nvSpPr>
        <p:spPr>
          <a:xfrm>
            <a:off x="990600" y="1295400"/>
            <a:ext cx="5791200" cy="2292935"/>
          </a:xfrm>
          <a:prstGeom prst="rect">
            <a:avLst/>
          </a:prstGeom>
          <a:noFill/>
        </p:spPr>
        <p:txBody>
          <a:bodyPr wrap="square" rtlCol="0">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The optimal number of pipeline stages is determined using:</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b="1" dirty="0" err="1">
                <a:latin typeface="Calibri" panose="020F0502020204030204" pitchFamily="34" charset="0"/>
                <a:ea typeface="Calibri" panose="020F0502020204030204" pitchFamily="34" charset="0"/>
                <a:cs typeface="Calibri" panose="020F0502020204030204" pitchFamily="34" charset="0"/>
              </a:rPr>
              <a:t>Dₒpt</a:t>
            </a:r>
            <a:r>
              <a:rPr lang="en-US" sz="1100" b="1" dirty="0">
                <a:latin typeface="Calibri" panose="020F0502020204030204" pitchFamily="34" charset="0"/>
                <a:ea typeface="Calibri" panose="020F0502020204030204" pitchFamily="34" charset="0"/>
                <a:cs typeface="Calibri" panose="020F0502020204030204" pitchFamily="34" charset="0"/>
              </a:rPr>
              <a:t> = 2·log₂(b) + log₂(l) + 1</a:t>
            </a:r>
          </a:p>
          <a:p>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where </a:t>
            </a:r>
            <a:r>
              <a:rPr lang="en-US" sz="1100" i="1" dirty="0">
                <a:latin typeface="Calibri" panose="020F0502020204030204" pitchFamily="34" charset="0"/>
                <a:ea typeface="Calibri" panose="020F0502020204030204" pitchFamily="34" charset="0"/>
                <a:cs typeface="Calibri" panose="020F0502020204030204" pitchFamily="34" charset="0"/>
              </a:rPr>
              <a:t>b</a:t>
            </a:r>
            <a:r>
              <a:rPr lang="en-US" sz="1100" dirty="0">
                <a:latin typeface="Calibri" panose="020F0502020204030204" pitchFamily="34" charset="0"/>
                <a:ea typeface="Calibri" panose="020F0502020204030204" pitchFamily="34" charset="0"/>
                <a:cs typeface="Calibri" panose="020F0502020204030204" pitchFamily="34" charset="0"/>
              </a:rPr>
              <a:t> is the multiplier bit-width and </a:t>
            </a:r>
            <a:r>
              <a:rPr lang="en-US" sz="1100" i="1" dirty="0">
                <a:latin typeface="Calibri" panose="020F0502020204030204" pitchFamily="34" charset="0"/>
                <a:ea typeface="Calibri" panose="020F0502020204030204" pitchFamily="34" charset="0"/>
                <a:cs typeface="Calibri" panose="020F0502020204030204" pitchFamily="34" charset="0"/>
              </a:rPr>
              <a:t>l</a:t>
            </a:r>
            <a:r>
              <a:rPr lang="en-US" sz="1100" dirty="0">
                <a:latin typeface="Calibri" panose="020F0502020204030204" pitchFamily="34" charset="0"/>
                <a:ea typeface="Calibri" panose="020F0502020204030204" pitchFamily="34" charset="0"/>
                <a:cs typeface="Calibri" panose="020F0502020204030204" pitchFamily="34" charset="0"/>
              </a:rPr>
              <a:t> is the adder tree depth.</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For a 16-bit system with 4 filter taps:</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b="1" dirty="0" err="1">
                <a:latin typeface="Calibri" panose="020F0502020204030204" pitchFamily="34" charset="0"/>
                <a:ea typeface="Calibri" panose="020F0502020204030204" pitchFamily="34" charset="0"/>
                <a:cs typeface="Calibri" panose="020F0502020204030204" pitchFamily="34" charset="0"/>
              </a:rPr>
              <a:t>Dₒpt</a:t>
            </a:r>
            <a:r>
              <a:rPr lang="en-US" sz="1100" b="1" dirty="0">
                <a:latin typeface="Calibri" panose="020F0502020204030204" pitchFamily="34" charset="0"/>
                <a:ea typeface="Calibri" panose="020F0502020204030204" pitchFamily="34" charset="0"/>
                <a:cs typeface="Calibri" panose="020F0502020204030204" pitchFamily="34" charset="0"/>
              </a:rPr>
              <a:t> = 2·log₂(16) + log₂(4) + 1 = 11 stages</a:t>
            </a:r>
          </a:p>
          <a:p>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This pipelined structure reduces the critical path and enables higher operating frequency.</a:t>
            </a:r>
          </a:p>
          <a:p>
            <a:r>
              <a:rPr lang="en-US" sz="1100" dirty="0">
                <a:latin typeface="Calibri" panose="020F0502020204030204" pitchFamily="34" charset="0"/>
                <a:ea typeface="Calibri" panose="020F0502020204030204" pitchFamily="34" charset="0"/>
                <a:cs typeface="Calibri" panose="020F0502020204030204" pitchFamily="34" charset="0"/>
              </a:rPr>
              <a:t>The synthesized design utilizes FPGA resources efficiently and achieves positive timing slack, indicating that all timing constraints are satisfied and the design is suitable for real-time implementation.</a:t>
            </a:r>
          </a:p>
          <a:p>
            <a:endParaRPr lang="en-IN" sz="11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A73E7969-4059-5BCD-A9A4-B8BB13EF53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191000"/>
            <a:ext cx="7772400" cy="518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AA5E279-8231-5857-876D-9E75804E9888}"/>
              </a:ext>
            </a:extLst>
          </p:cNvPr>
          <p:cNvSpPr txBox="1"/>
          <p:nvPr/>
        </p:nvSpPr>
        <p:spPr>
          <a:xfrm>
            <a:off x="1130300" y="584200"/>
            <a:ext cx="3265488" cy="268288"/>
          </a:xfrm>
          <a:prstGeom prst="rect">
            <a:avLst/>
          </a:prstGeom>
        </p:spPr>
        <p:txBody>
          <a:bodyPr wrap="square" lIns="0" tIns="12065" rIns="0" bIns="0">
            <a:spAutoFit/>
          </a:bodyPr>
          <a:lstStyle/>
          <a:p>
            <a:pPr marL="12700" eaLnBrk="1" fontAlgn="auto" hangingPunct="1">
              <a:spcBef>
                <a:spcPts val="95"/>
              </a:spcBef>
              <a:spcAft>
                <a:spcPts val="0"/>
              </a:spcAft>
              <a:defRPr/>
            </a:pPr>
            <a:r>
              <a:rPr sz="1600" b="1" kern="0">
                <a:solidFill>
                  <a:srgbClr val="1F4E79"/>
                </a:solidFill>
                <a:latin typeface="Times New Roman"/>
                <a:cs typeface="Times New Roman"/>
              </a:rPr>
              <a:t>CHAPTER</a:t>
            </a:r>
            <a:r>
              <a:rPr sz="1600" kern="0" spc="-55">
                <a:solidFill>
                  <a:srgbClr val="1F4E79"/>
                </a:solidFill>
                <a:latin typeface="Times New Roman"/>
                <a:cs typeface="Times New Roman"/>
              </a:rPr>
              <a:t> </a:t>
            </a:r>
            <a:r>
              <a:rPr sz="1600" b="1" kern="0">
                <a:solidFill>
                  <a:srgbClr val="1F4E79"/>
                </a:solidFill>
                <a:latin typeface="Times New Roman"/>
                <a:cs typeface="Times New Roman"/>
              </a:rPr>
              <a:t>4:</a:t>
            </a:r>
            <a:r>
              <a:rPr sz="1600" kern="0" spc="-45">
                <a:solidFill>
                  <a:srgbClr val="1F4E79"/>
                </a:solidFill>
                <a:latin typeface="Times New Roman"/>
                <a:cs typeface="Times New Roman"/>
              </a:rPr>
              <a:t> </a:t>
            </a:r>
            <a:r>
              <a:rPr sz="1600" b="1" kern="0">
                <a:solidFill>
                  <a:srgbClr val="1F4E79"/>
                </a:solidFill>
                <a:latin typeface="Times New Roman"/>
                <a:cs typeface="Times New Roman"/>
              </a:rPr>
              <a:t>LEAF</a:t>
            </a:r>
            <a:r>
              <a:rPr sz="1600" kern="0" spc="-55">
                <a:solidFill>
                  <a:srgbClr val="1F4E79"/>
                </a:solidFill>
                <a:latin typeface="Times New Roman"/>
                <a:cs typeface="Times New Roman"/>
              </a:rPr>
              <a:t> </a:t>
            </a:r>
            <a:r>
              <a:rPr sz="1600" b="1" kern="0">
                <a:solidFill>
                  <a:srgbClr val="1F4E79"/>
                </a:solidFill>
                <a:latin typeface="Times New Roman"/>
                <a:cs typeface="Times New Roman"/>
              </a:rPr>
              <a:t>CELL</a:t>
            </a:r>
            <a:r>
              <a:rPr sz="1600" kern="0" spc="-40">
                <a:solidFill>
                  <a:srgbClr val="1F4E79"/>
                </a:solidFill>
                <a:latin typeface="Times New Roman"/>
                <a:cs typeface="Times New Roman"/>
              </a:rPr>
              <a:t> </a:t>
            </a:r>
            <a:r>
              <a:rPr sz="1600" b="1" kern="0" spc="-10">
                <a:solidFill>
                  <a:srgbClr val="1F4E79"/>
                </a:solidFill>
                <a:latin typeface="Times New Roman"/>
                <a:cs typeface="Times New Roman"/>
              </a:rPr>
              <a:t>DESIGN</a:t>
            </a:r>
            <a:endParaRPr sz="1600" kern="0">
              <a:solidFill>
                <a:sysClr val="windowText" lastClr="000000"/>
              </a:solidFill>
              <a:latin typeface="Times New Roman"/>
              <a:cs typeface="Times New Roman"/>
            </a:endParaRPr>
          </a:p>
        </p:txBody>
      </p:sp>
      <p:sp>
        <p:nvSpPr>
          <p:cNvPr id="10243" name="object 3">
            <a:extLst>
              <a:ext uri="{FF2B5EF4-FFF2-40B4-BE49-F238E27FC236}">
                <a16:creationId xmlns:a16="http://schemas.microsoft.com/office/drawing/2014/main" id="{4765B011-B571-DF3A-5C97-DFE2F4B2AC41}"/>
              </a:ext>
            </a:extLst>
          </p:cNvPr>
          <p:cNvSpPr>
            <a:spLocks/>
          </p:cNvSpPr>
          <p:nvPr/>
        </p:nvSpPr>
        <p:spPr bwMode="auto">
          <a:xfrm>
            <a:off x="1125538" y="1620838"/>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4" name="object 4">
            <a:extLst>
              <a:ext uri="{FF2B5EF4-FFF2-40B4-BE49-F238E27FC236}">
                <a16:creationId xmlns:a16="http://schemas.microsoft.com/office/drawing/2014/main" id="{2CB566C1-E49A-C124-70B7-B14B321ED4A4}"/>
              </a:ext>
            </a:extLst>
          </p:cNvPr>
          <p:cNvSpPr txBox="1"/>
          <p:nvPr/>
        </p:nvSpPr>
        <p:spPr>
          <a:xfrm>
            <a:off x="1130300" y="1766888"/>
            <a:ext cx="5741988" cy="4648067"/>
          </a:xfrm>
          <a:prstGeom prst="rect">
            <a:avLst/>
          </a:prstGeom>
        </p:spPr>
        <p:txBody>
          <a:bodyPr lIns="0" tIns="13335" rIns="0" bIns="0">
            <a:spAutoFit/>
          </a:bodyPr>
          <a:lstStyle>
            <a:lvl1pPr marL="12700" indent="455613">
              <a:tabLst>
                <a:tab pos="325438" algn="l"/>
              </a:tabLst>
              <a:defRPr>
                <a:solidFill>
                  <a:schemeClr val="tx1"/>
                </a:solidFill>
                <a:latin typeface="Arial" panose="020B0604020202020204" pitchFamily="34" charset="0"/>
              </a:defRPr>
            </a:lvl1pPr>
            <a:lvl2pPr marL="323850" indent="-312738">
              <a:tabLst>
                <a:tab pos="325438" algn="l"/>
              </a:tabLst>
              <a:defRPr>
                <a:solidFill>
                  <a:schemeClr val="tx1"/>
                </a:solidFill>
                <a:latin typeface="Arial" panose="020B0604020202020204" pitchFamily="34" charset="0"/>
              </a:defRPr>
            </a:lvl2pPr>
            <a:lvl3pPr marL="468313" indent="-228600">
              <a:tabLst>
                <a:tab pos="325438" algn="l"/>
              </a:tabLst>
              <a:defRPr>
                <a:solidFill>
                  <a:schemeClr val="tx1"/>
                </a:solidFill>
                <a:latin typeface="Arial" panose="020B0604020202020204" pitchFamily="34" charset="0"/>
              </a:defRPr>
            </a:lvl3pPr>
            <a:lvl4pPr marL="1600200" indent="-228600">
              <a:tabLst>
                <a:tab pos="325438" algn="l"/>
              </a:tabLst>
              <a:defRPr>
                <a:solidFill>
                  <a:schemeClr val="tx1"/>
                </a:solidFill>
                <a:latin typeface="Arial" panose="020B0604020202020204" pitchFamily="34" charset="0"/>
              </a:defRPr>
            </a:lvl4pPr>
            <a:lvl5pPr marL="2057400" indent="-228600">
              <a:tabLst>
                <a:tab pos="32543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2543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2543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2543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25438" algn="l"/>
              </a:tabLst>
              <a:defRPr>
                <a:solidFill>
                  <a:schemeClr val="tx1"/>
                </a:solidFill>
                <a:latin typeface="Arial" panose="020B0604020202020204" pitchFamily="34" charset="0"/>
              </a:defRPr>
            </a:lvl9pPr>
          </a:lstStyle>
          <a:p>
            <a:pPr lvl="1" algn="just" eaLnBrk="1" hangingPunct="1">
              <a:spcBef>
                <a:spcPts val="100"/>
              </a:spcBef>
              <a:buFontTx/>
              <a:buAutoNum type="arabicPeriod"/>
            </a:pPr>
            <a:r>
              <a:rPr lang="en-US" altLang="en-US" sz="1400" b="1" dirty="0">
                <a:solidFill>
                  <a:srgbClr val="2D75B6"/>
                </a:solidFill>
                <a:latin typeface="Times New Roman" panose="02020603050405020304" pitchFamily="18" charset="0"/>
                <a:cs typeface="Times New Roman" panose="02020603050405020304" pitchFamily="18" charset="0"/>
              </a:rPr>
              <a:t>Identification</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of</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Leaf</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Cells</a:t>
            </a:r>
            <a:endParaRPr lang="en-US" altLang="en-US" sz="1400"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136000"/>
              </a:lnSpc>
              <a:spcBef>
                <a:spcPts val="788"/>
              </a:spcBef>
            </a:pPr>
            <a:r>
              <a:rPr lang="en-US" altLang="en-US" sz="1100" dirty="0">
                <a:latin typeface="Calibri" panose="020F0502020204030204" pitchFamily="34" charset="0"/>
                <a:ea typeface="Calibri" panose="020F0502020204030204" pitchFamily="34" charset="0"/>
                <a:cs typeface="Calibri" panose="020F0502020204030204" pitchFamily="34" charset="0"/>
              </a:rPr>
              <a:t>In VLSI design methodology, a leaf cell refers to the lowest-level primitive module in the design hierarchy that cannot be further decomposed into sub-modules. The DENLMS adaptive filter architecture is hierarchically composed of multiple leaf cells, each performing a specific, well-defined arithmetic or memory operation. The identification of leaf cells is critical for FPGA synthesis, as each leaf cell maps directly to specific configurable logic blocks (CLBs), DSP slices, or block RAMs in the </a:t>
            </a:r>
            <a:r>
              <a:rPr lang="en-US" altLang="en-US" sz="1100" dirty="0" err="1">
                <a:latin typeface="Calibri" panose="020F0502020204030204" pitchFamily="34" charset="0"/>
                <a:ea typeface="Calibri" panose="020F0502020204030204" pitchFamily="34" charset="0"/>
                <a:cs typeface="Calibri" panose="020F0502020204030204" pitchFamily="34" charset="0"/>
              </a:rPr>
              <a:t>Virtex</a:t>
            </a:r>
            <a:r>
              <a:rPr lang="en-US" altLang="en-US" sz="1100" dirty="0">
                <a:latin typeface="Calibri" panose="020F0502020204030204" pitchFamily="34" charset="0"/>
                <a:ea typeface="Calibri" panose="020F0502020204030204" pitchFamily="34" charset="0"/>
                <a:cs typeface="Calibri" panose="020F0502020204030204" pitchFamily="34" charset="0"/>
              </a:rPr>
              <a:t> 5 FPGA device.</a:t>
            </a:r>
          </a:p>
          <a:p>
            <a:pPr algn="just" eaLnBrk="1" hangingPunct="1">
              <a:lnSpc>
                <a:spcPct val="136000"/>
              </a:lnSpc>
              <a:spcBef>
                <a:spcPts val="488"/>
              </a:spcBef>
            </a:pPr>
            <a:r>
              <a:rPr lang="en-US" altLang="en-US" sz="1100" dirty="0">
                <a:latin typeface="Calibri" panose="020F0502020204030204" pitchFamily="34" charset="0"/>
                <a:ea typeface="Calibri" panose="020F0502020204030204" pitchFamily="34" charset="0"/>
                <a:cs typeface="Calibri" panose="020F0502020204030204" pitchFamily="34" charset="0"/>
              </a:rPr>
              <a:t>The DENLMS filter architecture has been analyzed and the following eight leaf cells have been identified based on the RTL schematic generated by the Xilinx Synthesis Tool (XST):</a:t>
            </a:r>
          </a:p>
          <a:p>
            <a:pPr eaLnBrk="1" hangingPunct="1"/>
            <a:endParaRPr lang="en-US" altLang="en-US" sz="1100" dirty="0">
              <a:latin typeface="Calibri" panose="020F0502020204030204" pitchFamily="34" charset="0"/>
              <a:ea typeface="Calibri" panose="020F0502020204030204" pitchFamily="34" charset="0"/>
              <a:cs typeface="Calibri" panose="020F0502020204030204" pitchFamily="34" charset="0"/>
            </a:endParaRPr>
          </a:p>
          <a:p>
            <a:pPr eaLnBrk="1" hangingPunct="1">
              <a:spcBef>
                <a:spcPts val="38"/>
              </a:spcBef>
            </a:pPr>
            <a:endParaRPr lang="en-US" altLang="en-US" sz="1100" dirty="0">
              <a:latin typeface="Calibri" panose="020F0502020204030204" pitchFamily="34" charset="0"/>
              <a:ea typeface="Calibri" panose="020F0502020204030204" pitchFamily="34" charset="0"/>
              <a:cs typeface="Calibri" panose="020F0502020204030204" pitchFamily="34" charset="0"/>
            </a:endParaRPr>
          </a:p>
          <a:p>
            <a:pPr lvl="2" eaLnBrk="1" hangingPunct="1">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FIR Filter Leaf Cell (N-tap Multiply-Accumulate Unit)</a:t>
            </a:r>
          </a:p>
          <a:p>
            <a:pPr lvl="2" eaLnBrk="1" hangingPunct="1">
              <a:spcBef>
                <a:spcPts val="800"/>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Subtractor Leaf Cell (16-bit Combinational Subtractor)</a:t>
            </a:r>
          </a:p>
          <a:p>
            <a:pPr lvl="2" eaLnBrk="1" hangingPunct="1">
              <a:spcBef>
                <a:spcPts val="788"/>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Delay Register Leaf Cell (D Flip-Flop Pipeline Register)</a:t>
            </a:r>
          </a:p>
          <a:p>
            <a:pPr lvl="2" eaLnBrk="1" hangingPunct="1">
              <a:spcBef>
                <a:spcPts val="800"/>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Multiplier Leaf Cell (16-bit Signed Multiplier)</a:t>
            </a:r>
          </a:p>
          <a:p>
            <a:pPr lvl="2" eaLnBrk="1" hangingPunct="1">
              <a:spcBef>
                <a:spcPts val="800"/>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Adder Leaf Cell (16-bit Carry-Lookahead Adder)</a:t>
            </a:r>
          </a:p>
          <a:p>
            <a:pPr lvl="2" eaLnBrk="1" hangingPunct="1">
              <a:spcBef>
                <a:spcPts val="788"/>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Divider Leaf Cell (16-bit Sequential Divider for Error Normalization)</a:t>
            </a:r>
          </a:p>
          <a:p>
            <a:pPr lvl="2" eaLnBrk="1" hangingPunct="1">
              <a:spcBef>
                <a:spcPts val="800"/>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Memory Leaf Cell (8 x 16-bit Register File for Coefficients)</a:t>
            </a:r>
          </a:p>
          <a:p>
            <a:pPr lvl="2" eaLnBrk="1" hangingPunct="1">
              <a:spcBef>
                <a:spcPts val="800"/>
              </a:spcBef>
              <a:buFontTx/>
              <a:buChar char="•"/>
            </a:pPr>
            <a:r>
              <a:rPr lang="en-US" altLang="en-US" sz="1100" dirty="0">
                <a:latin typeface="Calibri" panose="020F0502020204030204" pitchFamily="34" charset="0"/>
                <a:ea typeface="Calibri" panose="020F0502020204030204" pitchFamily="34" charset="0"/>
                <a:cs typeface="Calibri" panose="020F0502020204030204" pitchFamily="34" charset="0"/>
              </a:rPr>
              <a:t>Control FSM Leaf Cell (Finite State Machine for Pipeline Control)</a:t>
            </a:r>
          </a:p>
        </p:txBody>
      </p:sp>
      <p:sp>
        <p:nvSpPr>
          <p:cNvPr id="5" name="object 5">
            <a:extLst>
              <a:ext uri="{FF2B5EF4-FFF2-40B4-BE49-F238E27FC236}">
                <a16:creationId xmlns:a16="http://schemas.microsoft.com/office/drawing/2014/main" id="{7FCACA17-2B79-FC83-9D49-3234253DAF43}"/>
              </a:ext>
            </a:extLst>
          </p:cNvPr>
          <p:cNvSpPr txBox="1"/>
          <p:nvPr/>
        </p:nvSpPr>
        <p:spPr>
          <a:xfrm>
            <a:off x="1130300" y="7496175"/>
            <a:ext cx="5738813" cy="807080"/>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4.2</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Description</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of</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Leaf</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Cells</a:t>
            </a:r>
            <a:endParaRPr lang="en-US" altLang="en-US" sz="1400"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136000"/>
              </a:lnSpc>
              <a:spcBef>
                <a:spcPts val="800"/>
              </a:spcBef>
            </a:pPr>
            <a:r>
              <a:rPr lang="en-US" altLang="en-US" sz="1200" dirty="0">
                <a:solidFill>
                  <a:srgbClr val="000000"/>
                </a:solidFill>
                <a:latin typeface="Times New Roman" panose="02020603050405020304" pitchFamily="18" charset="0"/>
                <a:cs typeface="Times New Roman" panose="02020603050405020304" pitchFamily="18" charset="0"/>
              </a:rPr>
              <a:t>A detailed description of all identified leaf cells in the DENLMS filter architecture, including their function, hardware implementation type, data width, and key operational property.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5879267D-DF60-2A43-F060-014E9B1A06A4}"/>
              </a:ext>
            </a:extLst>
          </p:cNvPr>
          <p:cNvGraphicFramePr>
            <a:graphicFrameLocks noGrp="1"/>
          </p:cNvGraphicFramePr>
          <p:nvPr>
            <p:extLst>
              <p:ext uri="{D42A27DB-BD31-4B8C-83A1-F6EECF244321}">
                <p14:modId xmlns:p14="http://schemas.microsoft.com/office/powerpoint/2010/main" val="294570447"/>
              </p:ext>
            </p:extLst>
          </p:nvPr>
        </p:nvGraphicFramePr>
        <p:xfrm>
          <a:off x="432594" y="1447800"/>
          <a:ext cx="7162799" cy="4989515"/>
        </p:xfrm>
        <a:graphic>
          <a:graphicData uri="http://schemas.openxmlformats.org/drawingml/2006/table">
            <a:tbl>
              <a:tblPr>
                <a:tableStyleId>{5940675A-B579-460E-94D1-54222C63F5DA}</a:tableStyleId>
              </a:tblPr>
              <a:tblGrid>
                <a:gridCol w="1071359">
                  <a:extLst>
                    <a:ext uri="{9D8B030D-6E8A-4147-A177-3AD203B41FA5}">
                      <a16:colId xmlns:a16="http://schemas.microsoft.com/office/drawing/2014/main" val="142491288"/>
                    </a:ext>
                  </a:extLst>
                </a:gridCol>
                <a:gridCol w="2433841">
                  <a:extLst>
                    <a:ext uri="{9D8B030D-6E8A-4147-A177-3AD203B41FA5}">
                      <a16:colId xmlns:a16="http://schemas.microsoft.com/office/drawing/2014/main" val="1172051481"/>
                    </a:ext>
                  </a:extLst>
                </a:gridCol>
                <a:gridCol w="1371600">
                  <a:extLst>
                    <a:ext uri="{9D8B030D-6E8A-4147-A177-3AD203B41FA5}">
                      <a16:colId xmlns:a16="http://schemas.microsoft.com/office/drawing/2014/main" val="1555505484"/>
                    </a:ext>
                  </a:extLst>
                </a:gridCol>
                <a:gridCol w="1066800">
                  <a:extLst>
                    <a:ext uri="{9D8B030D-6E8A-4147-A177-3AD203B41FA5}">
                      <a16:colId xmlns:a16="http://schemas.microsoft.com/office/drawing/2014/main" val="4091150509"/>
                    </a:ext>
                  </a:extLst>
                </a:gridCol>
                <a:gridCol w="1219199">
                  <a:extLst>
                    <a:ext uri="{9D8B030D-6E8A-4147-A177-3AD203B41FA5}">
                      <a16:colId xmlns:a16="http://schemas.microsoft.com/office/drawing/2014/main" val="1610527765"/>
                    </a:ext>
                  </a:extLst>
                </a:gridCol>
              </a:tblGrid>
              <a:tr h="293688">
                <a:tc>
                  <a:txBody>
                    <a:bodyPr/>
                    <a:lstStyle>
                      <a:lvl1pPr marL="1698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69863" marR="0" lvl="0" indent="0" algn="l" defTabSz="914400" rtl="0" eaLnBrk="1" fontAlgn="base" latinLnBrk="0" hangingPunct="1">
                        <a:lnSpc>
                          <a:spcPct val="100000"/>
                        </a:lnSpc>
                        <a:spcBef>
                          <a:spcPts val="450"/>
                        </a:spcBef>
                        <a:spcAft>
                          <a:spcPct val="0"/>
                        </a:spcAft>
                        <a:buClrTx/>
                        <a:buSzTx/>
                        <a:buFontTx/>
                        <a:buNone/>
                        <a:tabLst/>
                      </a:pPr>
                      <a:r>
                        <a:rPr lang="en-US" altLang="en-US" sz="1200" b="1" dirty="0"/>
                        <a:t>Leaf Cell</a:t>
                      </a:r>
                    </a:p>
                  </a:txBody>
                  <a:tcPr marL="0" marR="0" marT="57150" marB="0" horzOverflow="overflow">
                    <a:solidFill>
                      <a:schemeClr val="bg1"/>
                    </a:solidFill>
                  </a:tcPr>
                </a:tc>
                <a:tc>
                  <a:txBody>
                    <a:bodyPr/>
                    <a:lstStyle>
                      <a:lvl1pPr>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ts val="450"/>
                        </a:spcBef>
                        <a:spcAft>
                          <a:spcPct val="0"/>
                        </a:spcAft>
                        <a:buClrTx/>
                        <a:buSzTx/>
                        <a:buFontTx/>
                        <a:buNone/>
                        <a:tabLst/>
                      </a:pPr>
                      <a:r>
                        <a:rPr lang="en-US" altLang="en-US" sz="1200" b="1" dirty="0"/>
                        <a:t>Function</a:t>
                      </a:r>
                    </a:p>
                  </a:txBody>
                  <a:tcPr marL="0" marR="0" marT="57150" marB="0" horzOverflow="overflow">
                    <a:solidFill>
                      <a:schemeClr val="bg1"/>
                    </a:solidFill>
                  </a:tcPr>
                </a:tc>
                <a:tc>
                  <a:txBody>
                    <a:bodyPr/>
                    <a:lstStyle>
                      <a:lvl1pPr marL="15716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57163" marR="0" lvl="0" indent="0" algn="l" defTabSz="914400" rtl="0" eaLnBrk="1" fontAlgn="base" latinLnBrk="0" hangingPunct="1">
                        <a:lnSpc>
                          <a:spcPct val="100000"/>
                        </a:lnSpc>
                        <a:spcBef>
                          <a:spcPts val="450"/>
                        </a:spcBef>
                        <a:spcAft>
                          <a:spcPct val="0"/>
                        </a:spcAft>
                        <a:buClrTx/>
                        <a:buSzTx/>
                        <a:buFontTx/>
                        <a:buNone/>
                        <a:tabLst/>
                      </a:pPr>
                      <a:r>
                        <a:rPr lang="en-US" altLang="en-US" sz="1200" b="1" dirty="0"/>
                        <a:t>Hardware Type</a:t>
                      </a:r>
                    </a:p>
                  </a:txBody>
                  <a:tcPr marL="0" marR="0" marT="57150" marB="0" horzOverflow="overflow">
                    <a:solidFill>
                      <a:schemeClr val="bg1"/>
                    </a:solidFill>
                  </a:tcPr>
                </a:tc>
                <a:tc>
                  <a:txBody>
                    <a:bodyPr/>
                    <a:lstStyle>
                      <a:lvl1pPr marL="142875">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2875" marR="0" lvl="0" indent="0" algn="l" defTabSz="914400" rtl="0" eaLnBrk="1" fontAlgn="base" latinLnBrk="0" hangingPunct="1">
                        <a:lnSpc>
                          <a:spcPct val="100000"/>
                        </a:lnSpc>
                        <a:spcBef>
                          <a:spcPts val="450"/>
                        </a:spcBef>
                        <a:spcAft>
                          <a:spcPct val="0"/>
                        </a:spcAft>
                        <a:buClrTx/>
                        <a:buSzTx/>
                        <a:buFontTx/>
                        <a:buNone/>
                        <a:tabLst/>
                      </a:pPr>
                      <a:r>
                        <a:rPr lang="en-US" altLang="en-US" sz="1200" b="1" dirty="0"/>
                        <a:t>Data Width</a:t>
                      </a:r>
                    </a:p>
                  </a:txBody>
                  <a:tcPr marL="0" marR="0" marT="57150" marB="0" horzOverflow="overflow">
                    <a:solidFill>
                      <a:schemeClr val="bg1"/>
                    </a:solidFill>
                  </a:tcPr>
                </a:tc>
                <a:tc>
                  <a:txBody>
                    <a:bodyPr/>
                    <a:lstStyle>
                      <a:lvl1pPr marL="1651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65100" marR="0" lvl="0" indent="0" algn="l" defTabSz="914400" rtl="0" eaLnBrk="1" fontAlgn="base" latinLnBrk="0" hangingPunct="1">
                        <a:lnSpc>
                          <a:spcPct val="100000"/>
                        </a:lnSpc>
                        <a:spcBef>
                          <a:spcPts val="450"/>
                        </a:spcBef>
                        <a:spcAft>
                          <a:spcPct val="0"/>
                        </a:spcAft>
                        <a:buClrTx/>
                        <a:buSzTx/>
                        <a:buFontTx/>
                        <a:buNone/>
                        <a:tabLst/>
                      </a:pPr>
                      <a:r>
                        <a:rPr lang="en-US" altLang="en-US" sz="1200" b="1" dirty="0"/>
                        <a:t>Key Property</a:t>
                      </a:r>
                    </a:p>
                  </a:txBody>
                  <a:tcPr marL="0" marR="0" marT="57150" marB="0" horzOverflow="overflow">
                    <a:solidFill>
                      <a:schemeClr val="bg1"/>
                    </a:solidFill>
                  </a:tcPr>
                </a:tc>
                <a:extLst>
                  <a:ext uri="{0D108BD9-81ED-4DB2-BD59-A6C34878D82A}">
                    <a16:rowId xmlns:a16="http://schemas.microsoft.com/office/drawing/2014/main" val="3657883094"/>
                  </a:ext>
                </a:extLst>
              </a:tr>
              <a:tr h="874713">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100000"/>
                        </a:lnSpc>
                        <a:spcBef>
                          <a:spcPts val="350"/>
                        </a:spcBef>
                        <a:spcAft>
                          <a:spcPct val="0"/>
                        </a:spcAft>
                        <a:buClrTx/>
                        <a:buSzTx/>
                        <a:buFontTx/>
                        <a:buNone/>
                        <a:tabLst/>
                      </a:pPr>
                      <a:r>
                        <a:rPr lang="en-US" altLang="en-US" sz="1100"/>
                        <a:t>FIR Filter</a:t>
                      </a:r>
                    </a:p>
                  </a:txBody>
                  <a:tcPr marL="0" marR="0" marT="45085"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96000"/>
                        </a:lnSpc>
                        <a:spcBef>
                          <a:spcPts val="400"/>
                        </a:spcBef>
                        <a:spcAft>
                          <a:spcPct val="0"/>
                        </a:spcAft>
                        <a:buClrTx/>
                        <a:buSzTx/>
                        <a:buFontTx/>
                        <a:buNone/>
                        <a:tabLst/>
                      </a:pPr>
                      <a:r>
                        <a:rPr lang="en-US" altLang="en-US" sz="1100"/>
                        <a:t>Computes filter output y(n) by multiplying input samples with weight coefficients and accumulating results</a:t>
                      </a:r>
                    </a:p>
                  </a:txBody>
                  <a:tcPr marL="0" marR="0" marT="5143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96000"/>
                        </a:lnSpc>
                        <a:spcBef>
                          <a:spcPts val="400"/>
                        </a:spcBef>
                        <a:spcAft>
                          <a:spcPct val="0"/>
                        </a:spcAft>
                        <a:buClrTx/>
                        <a:buSzTx/>
                        <a:buFontTx/>
                        <a:buNone/>
                        <a:tabLst/>
                      </a:pPr>
                      <a:r>
                        <a:rPr lang="en-US" altLang="en-US" sz="1100"/>
                        <a:t>Multiplier- Accumulator (MAC) unit</a:t>
                      </a:r>
                    </a:p>
                  </a:txBody>
                  <a:tcPr marL="0" marR="0" marT="51435"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16-bit</a:t>
                      </a:r>
                    </a:p>
                  </a:txBody>
                  <a:tcPr marL="0" marR="0" marT="4508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96000"/>
                        </a:lnSpc>
                        <a:spcBef>
                          <a:spcPts val="400"/>
                        </a:spcBef>
                        <a:spcAft>
                          <a:spcPct val="0"/>
                        </a:spcAft>
                        <a:buClrTx/>
                        <a:buSzTx/>
                        <a:buFontTx/>
                        <a:buNone/>
                        <a:tabLst/>
                      </a:pPr>
                      <a:r>
                        <a:rPr lang="en-US" altLang="en-US" sz="1100" dirty="0"/>
                        <a:t>N=4 taps, pipelined multiply-add</a:t>
                      </a:r>
                    </a:p>
                  </a:txBody>
                  <a:tcPr marL="0" marR="0" marT="51435" marB="0" horzOverflow="overflow">
                    <a:solidFill>
                      <a:schemeClr val="bg1"/>
                    </a:solidFill>
                  </a:tcPr>
                </a:tc>
                <a:extLst>
                  <a:ext uri="{0D108BD9-81ED-4DB2-BD59-A6C34878D82A}">
                    <a16:rowId xmlns:a16="http://schemas.microsoft.com/office/drawing/2014/main" val="3584356660"/>
                  </a:ext>
                </a:extLst>
              </a:tr>
              <a:tr h="568325">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Subtractor (SUB)</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ts val="1238"/>
                        </a:lnSpc>
                        <a:spcBef>
                          <a:spcPts val="350"/>
                        </a:spcBef>
                        <a:spcAft>
                          <a:spcPct val="0"/>
                        </a:spcAft>
                        <a:buClrTx/>
                        <a:buSzTx/>
                        <a:buFontTx/>
                        <a:buNone/>
                        <a:tabLst/>
                      </a:pPr>
                      <a:r>
                        <a:rPr lang="en-US" altLang="en-US" sz="1100"/>
                        <a:t>Computes error signal e(n)</a:t>
                      </a:r>
                    </a:p>
                    <a:p>
                      <a:pPr marL="76200" marR="0" lvl="0" indent="0" algn="l" defTabSz="914400" rtl="0" eaLnBrk="1" fontAlgn="base" latinLnBrk="0" hangingPunct="1">
                        <a:lnSpc>
                          <a:spcPts val="1200"/>
                        </a:lnSpc>
                        <a:spcBef>
                          <a:spcPts val="63"/>
                        </a:spcBef>
                        <a:spcAft>
                          <a:spcPct val="0"/>
                        </a:spcAft>
                        <a:buClrTx/>
                        <a:buSzTx/>
                        <a:buFontTx/>
                        <a:buNone/>
                        <a:tabLst/>
                      </a:pPr>
                      <a:r>
                        <a:rPr lang="en-US" altLang="en-US" sz="1100"/>
                        <a:t>= d(n) - y(n) between desired and filter output</a:t>
                      </a:r>
                    </a:p>
                  </a:txBody>
                  <a:tcPr marL="0" marR="0" marT="4508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Combinational 16- bit subtractor</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16-bit</a:t>
                      </a:r>
                    </a:p>
                  </a:txBody>
                  <a:tcPr marL="0" marR="0" marT="4508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100000"/>
                        </a:lnSpc>
                        <a:spcBef>
                          <a:spcPts val="350"/>
                        </a:spcBef>
                        <a:spcAft>
                          <a:spcPct val="0"/>
                        </a:spcAft>
                        <a:buClrTx/>
                        <a:buSzTx/>
                        <a:buFontTx/>
                        <a:buNone/>
                        <a:tabLst/>
                      </a:pPr>
                      <a:r>
                        <a:rPr lang="en-US" altLang="en-US" sz="1100"/>
                        <a:t>1-cycle latency</a:t>
                      </a:r>
                    </a:p>
                  </a:txBody>
                  <a:tcPr marL="0" marR="0" marT="45085" marB="0" horzOverflow="overflow">
                    <a:solidFill>
                      <a:schemeClr val="bg1"/>
                    </a:solidFill>
                  </a:tcPr>
                </a:tc>
                <a:extLst>
                  <a:ext uri="{0D108BD9-81ED-4DB2-BD59-A6C34878D82A}">
                    <a16:rowId xmlns:a16="http://schemas.microsoft.com/office/drawing/2014/main" val="1696535016"/>
                  </a:ext>
                </a:extLst>
              </a:tr>
              <a:tr h="566738">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96000"/>
                        </a:lnSpc>
                        <a:spcBef>
                          <a:spcPts val="400"/>
                        </a:spcBef>
                        <a:spcAft>
                          <a:spcPct val="0"/>
                        </a:spcAft>
                        <a:buClrTx/>
                        <a:buSzTx/>
                        <a:buFontTx/>
                        <a:buNone/>
                        <a:tabLst/>
                      </a:pPr>
                      <a:r>
                        <a:rPr lang="en-US" altLang="en-US" sz="1100"/>
                        <a:t>Delay Register (mD)</a:t>
                      </a:r>
                    </a:p>
                  </a:txBody>
                  <a:tcPr marL="0" marR="0" marT="51435"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just" defTabSz="914400" rtl="0" eaLnBrk="1" fontAlgn="base" latinLnBrk="0" hangingPunct="1">
                        <a:lnSpc>
                          <a:spcPct val="96000"/>
                        </a:lnSpc>
                        <a:spcBef>
                          <a:spcPts val="400"/>
                        </a:spcBef>
                        <a:spcAft>
                          <a:spcPct val="0"/>
                        </a:spcAft>
                        <a:buClrTx/>
                        <a:buSzTx/>
                        <a:buFontTx/>
                        <a:buNone/>
                        <a:tabLst/>
                      </a:pPr>
                      <a:r>
                        <a:rPr lang="en-US" altLang="en-US" sz="1100"/>
                        <a:t>Introduces pipeline delay of kD cycles in error feedback path to break critical path</a:t>
                      </a:r>
                    </a:p>
                  </a:txBody>
                  <a:tcPr marL="0" marR="0" marT="5143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00"/>
                        </a:lnSpc>
                        <a:spcBef>
                          <a:spcPts val="450"/>
                        </a:spcBef>
                        <a:spcAft>
                          <a:spcPct val="0"/>
                        </a:spcAft>
                        <a:buClrTx/>
                        <a:buSzTx/>
                        <a:buFontTx/>
                        <a:buNone/>
                        <a:tabLst/>
                      </a:pPr>
                      <a:r>
                        <a:rPr lang="en-US" altLang="en-US" sz="1100"/>
                        <a:t>D flip-flop chain (register file)</a:t>
                      </a:r>
                    </a:p>
                  </a:txBody>
                  <a:tcPr marL="0" marR="0" marT="56515"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16-bit</a:t>
                      </a:r>
                    </a:p>
                  </a:txBody>
                  <a:tcPr marL="0" marR="0" marT="4508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00"/>
                        </a:lnSpc>
                        <a:spcBef>
                          <a:spcPts val="450"/>
                        </a:spcBef>
                        <a:spcAft>
                          <a:spcPct val="0"/>
                        </a:spcAft>
                        <a:buClrTx/>
                        <a:buSzTx/>
                        <a:buFontTx/>
                        <a:buNone/>
                        <a:tabLst/>
                      </a:pPr>
                      <a:r>
                        <a:rPr lang="en-US" altLang="en-US" sz="1100"/>
                        <a:t>kD = 1 delay stage</a:t>
                      </a:r>
                    </a:p>
                  </a:txBody>
                  <a:tcPr marL="0" marR="0" marT="56515" marB="0" horzOverflow="overflow">
                    <a:solidFill>
                      <a:schemeClr val="bg1"/>
                    </a:solidFill>
                  </a:tcPr>
                </a:tc>
                <a:extLst>
                  <a:ext uri="{0D108BD9-81ED-4DB2-BD59-A6C34878D82A}">
                    <a16:rowId xmlns:a16="http://schemas.microsoft.com/office/drawing/2014/main" val="4099037657"/>
                  </a:ext>
                </a:extLst>
              </a:tr>
              <a:tr h="568325">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Multiplier (MULT)</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ts val="1213"/>
                        </a:lnSpc>
                        <a:spcBef>
                          <a:spcPts val="438"/>
                        </a:spcBef>
                        <a:spcAft>
                          <a:spcPct val="0"/>
                        </a:spcAft>
                        <a:buClrTx/>
                        <a:buSzTx/>
                        <a:buFontTx/>
                        <a:buNone/>
                        <a:tabLst/>
                      </a:pPr>
                      <a:r>
                        <a:rPr lang="en-US" altLang="en-US" sz="1100"/>
                        <a:t>Performs signed 16x16 bit multiplication for weight update computation</a:t>
                      </a:r>
                    </a:p>
                  </a:txBody>
                  <a:tcPr marL="0" marR="0" marT="55244"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Dedicated DSP48 slice</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16×16→32-bit</a:t>
                      </a:r>
                    </a:p>
                  </a:txBody>
                  <a:tcPr marL="0" marR="0" marT="44450"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100000"/>
                        </a:lnSpc>
                        <a:spcBef>
                          <a:spcPts val="350"/>
                        </a:spcBef>
                        <a:spcAft>
                          <a:spcPct val="0"/>
                        </a:spcAft>
                        <a:buClrTx/>
                        <a:buSzTx/>
                        <a:buFontTx/>
                        <a:buNone/>
                        <a:tabLst/>
                      </a:pPr>
                      <a:r>
                        <a:rPr lang="en-US" altLang="en-US" sz="1100"/>
                        <a:t>Pipelined, 2-cycle</a:t>
                      </a:r>
                    </a:p>
                  </a:txBody>
                  <a:tcPr marL="0" marR="0" marT="44450" marB="0" horzOverflow="overflow">
                    <a:solidFill>
                      <a:schemeClr val="bg1"/>
                    </a:solidFill>
                  </a:tcPr>
                </a:tc>
                <a:extLst>
                  <a:ext uri="{0D108BD9-81ED-4DB2-BD59-A6C34878D82A}">
                    <a16:rowId xmlns:a16="http://schemas.microsoft.com/office/drawing/2014/main" val="1682418170"/>
                  </a:ext>
                </a:extLst>
              </a:tr>
              <a:tr h="568325">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Adder (ADD)</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96000"/>
                        </a:lnSpc>
                        <a:spcBef>
                          <a:spcPts val="400"/>
                        </a:spcBef>
                        <a:spcAft>
                          <a:spcPct val="0"/>
                        </a:spcAft>
                        <a:buClrTx/>
                        <a:buSzTx/>
                        <a:buFontTx/>
                        <a:buNone/>
                        <a:tabLst/>
                      </a:pPr>
                      <a:r>
                        <a:rPr lang="en-US" altLang="en-US" sz="1100"/>
                        <a:t>Performs weight accumulation: w(n) + mu_en * e * x</a:t>
                      </a:r>
                    </a:p>
                  </a:txBody>
                  <a:tcPr marL="0" marR="0" marT="5143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Ripple-carry / carry- lookahead adder</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16-bit</a:t>
                      </a:r>
                    </a:p>
                  </a:txBody>
                  <a:tcPr marL="0" marR="0" marT="44450"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100000"/>
                        </a:lnSpc>
                        <a:spcBef>
                          <a:spcPts val="350"/>
                        </a:spcBef>
                        <a:spcAft>
                          <a:spcPct val="0"/>
                        </a:spcAft>
                        <a:buClrTx/>
                        <a:buSzTx/>
                        <a:buFontTx/>
                        <a:buNone/>
                        <a:tabLst/>
                      </a:pPr>
                      <a:r>
                        <a:rPr lang="en-US" altLang="en-US" sz="1100"/>
                        <a:t>Single-cycle</a:t>
                      </a:r>
                    </a:p>
                  </a:txBody>
                  <a:tcPr marL="0" marR="0" marT="44450" marB="0" horzOverflow="overflow">
                    <a:solidFill>
                      <a:schemeClr val="bg1"/>
                    </a:solidFill>
                  </a:tcPr>
                </a:tc>
                <a:extLst>
                  <a:ext uri="{0D108BD9-81ED-4DB2-BD59-A6C34878D82A}">
                    <a16:rowId xmlns:a16="http://schemas.microsoft.com/office/drawing/2014/main" val="2915387135"/>
                  </a:ext>
                </a:extLst>
              </a:tr>
              <a:tr h="566738">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00"/>
                        </a:lnSpc>
                        <a:spcBef>
                          <a:spcPts val="438"/>
                        </a:spcBef>
                        <a:spcAft>
                          <a:spcPct val="0"/>
                        </a:spcAft>
                        <a:buClrTx/>
                        <a:buSzTx/>
                        <a:buFontTx/>
                        <a:buNone/>
                        <a:tabLst/>
                      </a:pPr>
                      <a:r>
                        <a:rPr lang="en-US" altLang="en-US" sz="1100"/>
                        <a:t>Divider (DIV)</a:t>
                      </a:r>
                    </a:p>
                  </a:txBody>
                  <a:tcPr marL="0" marR="0" marT="55880"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ts val="1225"/>
                        </a:lnSpc>
                        <a:spcBef>
                          <a:spcPts val="350"/>
                        </a:spcBef>
                        <a:spcAft>
                          <a:spcPct val="0"/>
                        </a:spcAft>
                        <a:buClrTx/>
                        <a:buSzTx/>
                        <a:buFontTx/>
                        <a:buNone/>
                        <a:tabLst/>
                      </a:pPr>
                      <a:r>
                        <a:rPr lang="en-US" altLang="en-US" sz="1100" dirty="0"/>
                        <a:t>Computes </a:t>
                      </a:r>
                      <a:r>
                        <a:rPr lang="en-US" altLang="en-US" sz="1100" dirty="0" err="1"/>
                        <a:t>mu_en</a:t>
                      </a:r>
                      <a:r>
                        <a:rPr lang="en-US" altLang="en-US" sz="1100" dirty="0"/>
                        <a:t> = mu / (p</a:t>
                      </a:r>
                    </a:p>
                    <a:p>
                      <a:pPr marL="76200" marR="0" lvl="0" indent="0" algn="l" defTabSz="914400" rtl="0" eaLnBrk="1" fontAlgn="base" latinLnBrk="0" hangingPunct="1">
                        <a:lnSpc>
                          <a:spcPts val="1213"/>
                        </a:lnSpc>
                        <a:spcBef>
                          <a:spcPts val="50"/>
                        </a:spcBef>
                        <a:spcAft>
                          <a:spcPct val="0"/>
                        </a:spcAft>
                        <a:buClrTx/>
                        <a:buSzTx/>
                        <a:buFontTx/>
                        <a:buNone/>
                        <a:tabLst/>
                      </a:pPr>
                      <a:r>
                        <a:rPr lang="en-US" altLang="en-US" sz="1100" dirty="0"/>
                        <a:t>+ e^2) for error normalization</a:t>
                      </a:r>
                    </a:p>
                  </a:txBody>
                  <a:tcPr marL="0" marR="0" marT="44450"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00"/>
                        </a:lnSpc>
                        <a:spcBef>
                          <a:spcPts val="438"/>
                        </a:spcBef>
                        <a:spcAft>
                          <a:spcPct val="0"/>
                        </a:spcAft>
                        <a:buClrTx/>
                        <a:buSzTx/>
                        <a:buFontTx/>
                        <a:buNone/>
                        <a:tabLst/>
                      </a:pPr>
                      <a:r>
                        <a:rPr lang="en-US" altLang="en-US" sz="1100"/>
                        <a:t>Sequential restoring divider</a:t>
                      </a:r>
                    </a:p>
                  </a:txBody>
                  <a:tcPr marL="0" marR="0" marT="55880"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16-bit</a:t>
                      </a:r>
                    </a:p>
                  </a:txBody>
                  <a:tcPr marL="0" marR="0" marT="44450"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100000"/>
                        </a:lnSpc>
                        <a:spcBef>
                          <a:spcPts val="350"/>
                        </a:spcBef>
                        <a:spcAft>
                          <a:spcPct val="0"/>
                        </a:spcAft>
                        <a:buClrTx/>
                        <a:buSzTx/>
                        <a:buFontTx/>
                        <a:buNone/>
                        <a:tabLst/>
                      </a:pPr>
                      <a:r>
                        <a:rPr lang="en-US" altLang="en-US" sz="1100"/>
                        <a:t>Multi-cycle</a:t>
                      </a:r>
                    </a:p>
                  </a:txBody>
                  <a:tcPr marL="0" marR="0" marT="44450" marB="0" horzOverflow="overflow">
                    <a:solidFill>
                      <a:schemeClr val="bg1"/>
                    </a:solidFill>
                  </a:tcPr>
                </a:tc>
                <a:extLst>
                  <a:ext uri="{0D108BD9-81ED-4DB2-BD59-A6C34878D82A}">
                    <a16:rowId xmlns:a16="http://schemas.microsoft.com/office/drawing/2014/main" val="3712540906"/>
                  </a:ext>
                </a:extLst>
              </a:tr>
              <a:tr h="414338">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Memory (MEM)</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ts val="1213"/>
                        </a:lnSpc>
                        <a:spcBef>
                          <a:spcPts val="438"/>
                        </a:spcBef>
                        <a:spcAft>
                          <a:spcPct val="0"/>
                        </a:spcAft>
                        <a:buClrTx/>
                        <a:buSzTx/>
                        <a:buFontTx/>
                        <a:buNone/>
                        <a:tabLst/>
                      </a:pPr>
                      <a:r>
                        <a:rPr lang="en-US" altLang="en-US" sz="1100"/>
                        <a:t>Stores and retrieves current filter coefficients c0-c7</a:t>
                      </a:r>
                    </a:p>
                  </a:txBody>
                  <a:tcPr marL="0" marR="0" marT="55244"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Register file (8 x 16- bit)</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8×16-bit</a:t>
                      </a:r>
                    </a:p>
                  </a:txBody>
                  <a:tcPr marL="0" marR="0" marT="44450"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Synchronous read/write</a:t>
                      </a:r>
                    </a:p>
                  </a:txBody>
                  <a:tcPr marL="0" marR="0" marT="55244" marB="0" horzOverflow="overflow">
                    <a:solidFill>
                      <a:schemeClr val="bg1"/>
                    </a:solidFill>
                  </a:tcPr>
                </a:tc>
                <a:extLst>
                  <a:ext uri="{0D108BD9-81ED-4DB2-BD59-A6C34878D82A}">
                    <a16:rowId xmlns:a16="http://schemas.microsoft.com/office/drawing/2014/main" val="1872970556"/>
                  </a:ext>
                </a:extLst>
              </a:tr>
              <a:tr h="568325">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ct val="100000"/>
                        </a:lnSpc>
                        <a:spcBef>
                          <a:spcPts val="350"/>
                        </a:spcBef>
                        <a:spcAft>
                          <a:spcPct val="0"/>
                        </a:spcAft>
                        <a:buClrTx/>
                        <a:buSzTx/>
                        <a:buFontTx/>
                        <a:buNone/>
                        <a:tabLst/>
                      </a:pPr>
                      <a:r>
                        <a:rPr lang="en-US" altLang="en-US" sz="1100"/>
                        <a:t>Control FSM</a:t>
                      </a:r>
                    </a:p>
                  </a:txBody>
                  <a:tcPr marL="0" marR="0" marT="45085"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just" defTabSz="914400" rtl="0" eaLnBrk="1" fontAlgn="base" latinLnBrk="0" hangingPunct="1">
                        <a:lnSpc>
                          <a:spcPts val="1213"/>
                        </a:lnSpc>
                        <a:spcBef>
                          <a:spcPts val="438"/>
                        </a:spcBef>
                        <a:spcAft>
                          <a:spcPct val="0"/>
                        </a:spcAft>
                        <a:buClrTx/>
                        <a:buSzTx/>
                        <a:buFontTx/>
                        <a:buNone/>
                        <a:tabLst/>
                      </a:pPr>
                      <a:r>
                        <a:rPr lang="en-US" altLang="en-US" sz="1100"/>
                        <a:t>Generates sel_f1, sel_f2, sel_n control signals for pipeline stage selection</a:t>
                      </a:r>
                    </a:p>
                  </a:txBody>
                  <a:tcPr marL="0" marR="0" marT="55244"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a:t>Finite State Machine (3 states)</a:t>
                      </a:r>
                    </a:p>
                  </a:txBody>
                  <a:tcPr marL="0" marR="0" marT="55244" marB="0" horzOverflow="overflow">
                    <a:solidFill>
                      <a:schemeClr val="bg1"/>
                    </a:solidFill>
                  </a:tcPr>
                </a:tc>
                <a:tc>
                  <a:txBody>
                    <a:bodyPr/>
                    <a:lstStyle>
                      <a:lvl1pPr marL="76200">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6200" marR="0" lvl="0" indent="0" algn="l" defTabSz="914400" rtl="0" eaLnBrk="1" fontAlgn="base" latinLnBrk="0" hangingPunct="1">
                        <a:lnSpc>
                          <a:spcPct val="100000"/>
                        </a:lnSpc>
                        <a:spcBef>
                          <a:spcPts val="350"/>
                        </a:spcBef>
                        <a:spcAft>
                          <a:spcPct val="0"/>
                        </a:spcAft>
                        <a:buClrTx/>
                        <a:buSzTx/>
                        <a:buFontTx/>
                        <a:buNone/>
                        <a:tabLst/>
                      </a:pPr>
                      <a:r>
                        <a:rPr lang="en-US" altLang="en-US" sz="1100"/>
                        <a:t>3 control bits</a:t>
                      </a:r>
                    </a:p>
                  </a:txBody>
                  <a:tcPr marL="0" marR="0" marT="45085" marB="0" horzOverflow="overflow">
                    <a:solidFill>
                      <a:schemeClr val="bg1"/>
                    </a:solidFill>
                  </a:tcPr>
                </a:tc>
                <a:tc>
                  <a:txBody>
                    <a:bodyPr/>
                    <a:lstStyle>
                      <a:lvl1pPr marL="74613">
                        <a:spcBef>
                          <a:spcPct val="20000"/>
                        </a:spcBef>
                        <a:defRPr sz="1600">
                          <a:solidFill>
                            <a:schemeClr val="tx1"/>
                          </a:solidFill>
                          <a:latin typeface="Calibri" panose="020F0502020204030204" pitchFamily="34" charset="0"/>
                        </a:defRPr>
                      </a:lvl1pPr>
                      <a:lvl2pPr marL="742950" indent="-285750">
                        <a:spcBef>
                          <a:spcPct val="20000"/>
                        </a:spcBef>
                        <a:defRPr sz="1600">
                          <a:solidFill>
                            <a:schemeClr val="tx1"/>
                          </a:solidFill>
                          <a:latin typeface="Calibri" panose="020F0502020204030204" pitchFamily="34" charset="0"/>
                        </a:defRPr>
                      </a:lvl2pPr>
                      <a:lvl3pPr marL="1143000" indent="-228600">
                        <a:spcBef>
                          <a:spcPct val="20000"/>
                        </a:spcBef>
                        <a:defRPr sz="1600">
                          <a:solidFill>
                            <a:schemeClr val="tx1"/>
                          </a:solidFill>
                          <a:latin typeface="Calibri" panose="020F0502020204030204" pitchFamily="34" charset="0"/>
                        </a:defRPr>
                      </a:lvl3pPr>
                      <a:lvl4pPr marL="1600200" indent="-228600">
                        <a:spcBef>
                          <a:spcPct val="20000"/>
                        </a:spcBef>
                        <a:defRPr sz="1600">
                          <a:solidFill>
                            <a:schemeClr val="tx1"/>
                          </a:solidFill>
                          <a:latin typeface="Calibri" panose="020F0502020204030204" pitchFamily="34" charset="0"/>
                        </a:defRPr>
                      </a:lvl4pPr>
                      <a:lvl5pPr marL="2057400" indent="-22860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74613" marR="0" lvl="0" indent="0" algn="l" defTabSz="914400" rtl="0" eaLnBrk="1" fontAlgn="base" latinLnBrk="0" hangingPunct="1">
                        <a:lnSpc>
                          <a:spcPts val="1213"/>
                        </a:lnSpc>
                        <a:spcBef>
                          <a:spcPts val="438"/>
                        </a:spcBef>
                        <a:spcAft>
                          <a:spcPct val="0"/>
                        </a:spcAft>
                        <a:buClrTx/>
                        <a:buSzTx/>
                        <a:buFontTx/>
                        <a:buNone/>
                        <a:tabLst/>
                      </a:pPr>
                      <a:r>
                        <a:rPr lang="en-US" altLang="en-US" sz="1100" dirty="0"/>
                        <a:t>Synchronous Moore FSM</a:t>
                      </a:r>
                    </a:p>
                  </a:txBody>
                  <a:tcPr marL="0" marR="0" marT="55244" marB="0" horzOverflow="overflow">
                    <a:solidFill>
                      <a:schemeClr val="bg1"/>
                    </a:solidFill>
                  </a:tcPr>
                </a:tc>
                <a:extLst>
                  <a:ext uri="{0D108BD9-81ED-4DB2-BD59-A6C34878D82A}">
                    <a16:rowId xmlns:a16="http://schemas.microsoft.com/office/drawing/2014/main" val="2809855097"/>
                  </a:ext>
                </a:extLst>
              </a:tr>
            </a:tbl>
          </a:graphicData>
        </a:graphic>
      </p:graphicFrame>
      <p:sp>
        <p:nvSpPr>
          <p:cNvPr id="4" name="object 4">
            <a:extLst>
              <a:ext uri="{FF2B5EF4-FFF2-40B4-BE49-F238E27FC236}">
                <a16:creationId xmlns:a16="http://schemas.microsoft.com/office/drawing/2014/main" id="{CCF66829-66F1-BDF8-5FAA-D6A1C8A58232}"/>
              </a:ext>
            </a:extLst>
          </p:cNvPr>
          <p:cNvSpPr txBox="1"/>
          <p:nvPr/>
        </p:nvSpPr>
        <p:spPr>
          <a:xfrm>
            <a:off x="1143000" y="7620000"/>
            <a:ext cx="5741988" cy="875881"/>
          </a:xfrm>
          <a:prstGeom prst="rect">
            <a:avLst/>
          </a:prstGeom>
        </p:spPr>
        <p:txBody>
          <a:bodyPr lIns="0" tIns="13970" rIns="0" bIns="0">
            <a:spAutoFit/>
          </a:bodyPr>
          <a:lstStyle>
            <a:lvl1pPr marL="12700" indent="455613">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100" b="1" dirty="0">
                <a:latin typeface="Calibri" panose="020F0502020204030204" pitchFamily="34" charset="0"/>
                <a:ea typeface="Calibri" panose="020F0502020204030204" pitchFamily="34" charset="0"/>
                <a:cs typeface="Calibri" panose="020F0502020204030204" pitchFamily="34" charset="0"/>
              </a:rPr>
              <a:t>FIR Filter Leaf Cell:</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The FIR filter is the main signal processing unit, implementing y(n) = wᵀ(n) · x(n) using N = 4 multipliers and an adder tree. It is pipelined to process one sample per clock cycle. The coefficients are fetched from memory and updated continuously.</a:t>
            </a:r>
          </a:p>
          <a:p>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5D9781A-E0D4-A063-A287-77F502B75EB6}"/>
              </a:ext>
            </a:extLst>
          </p:cNvPr>
          <p:cNvSpPr txBox="1"/>
          <p:nvPr/>
        </p:nvSpPr>
        <p:spPr>
          <a:xfrm>
            <a:off x="1130300" y="864172"/>
            <a:ext cx="5743575" cy="3736920"/>
          </a:xfrm>
          <a:prstGeom prst="rect">
            <a:avLst/>
          </a:prstGeom>
        </p:spPr>
        <p:txBody>
          <a:bodyPr lIns="0" tIns="12700" rIns="0" bIns="0">
            <a:spAutoFit/>
          </a:bodyPr>
          <a:lstStyle>
            <a:lvl1pPr marL="12700" indent="455613">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100" b="1" dirty="0">
                <a:latin typeface="Calibri" panose="020F0502020204030204" pitchFamily="34" charset="0"/>
                <a:ea typeface="Calibri" panose="020F0502020204030204" pitchFamily="34" charset="0"/>
                <a:cs typeface="Calibri" panose="020F0502020204030204" pitchFamily="34" charset="0"/>
              </a:rPr>
              <a:t>Subtractor Leaf Cell:</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The subtractor computes the error e(n) = d(n) − y(n) using 16-bit subtraction. Its output is used for both delay insertion and normalization, with single-cycle latency and simple FPGA logic implementation</a:t>
            </a:r>
            <a:r>
              <a:rPr lang="en-US" sz="1100" dirty="0"/>
              <a:t>.</a:t>
            </a:r>
          </a:p>
          <a:p>
            <a:endParaRPr lang="en-US" sz="1100" dirty="0"/>
          </a:p>
          <a:p>
            <a:r>
              <a:rPr lang="en-US" sz="1100" b="1" dirty="0">
                <a:latin typeface="Calibri" panose="020F0502020204030204" pitchFamily="34" charset="0"/>
                <a:ea typeface="Calibri" panose="020F0502020204030204" pitchFamily="34" charset="0"/>
                <a:cs typeface="Calibri" panose="020F0502020204030204" pitchFamily="34" charset="0"/>
              </a:rPr>
              <a:t>Delay Register Leaf Cell:</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This is the key component of the DENLMS design. It consists of D flip-flops that introduce a delay of </a:t>
            </a:r>
            <a:r>
              <a:rPr lang="en-US" sz="1100" dirty="0" err="1">
                <a:latin typeface="Calibri" panose="020F0502020204030204" pitchFamily="34" charset="0"/>
                <a:ea typeface="Calibri" panose="020F0502020204030204" pitchFamily="34" charset="0"/>
                <a:cs typeface="Calibri" panose="020F0502020204030204" pitchFamily="34" charset="0"/>
              </a:rPr>
              <a:t>kD</a:t>
            </a:r>
            <a:r>
              <a:rPr lang="en-US" sz="1100" dirty="0">
                <a:latin typeface="Calibri" panose="020F0502020204030204" pitchFamily="34" charset="0"/>
                <a:ea typeface="Calibri" panose="020F0502020204030204" pitchFamily="34" charset="0"/>
                <a:cs typeface="Calibri" panose="020F0502020204030204" pitchFamily="34" charset="0"/>
              </a:rPr>
              <a:t> = 1 in the error feedback path, implementing e(n−</a:t>
            </a:r>
            <a:r>
              <a:rPr lang="en-US" sz="1100" dirty="0" err="1">
                <a:latin typeface="Calibri" panose="020F0502020204030204" pitchFamily="34" charset="0"/>
                <a:ea typeface="Calibri" panose="020F0502020204030204" pitchFamily="34" charset="0"/>
                <a:cs typeface="Calibri" panose="020F0502020204030204" pitchFamily="34" charset="0"/>
              </a:rPr>
              <a:t>kD</a:t>
            </a:r>
            <a:r>
              <a:rPr lang="en-US" sz="1100" dirty="0">
                <a:latin typeface="Calibri" panose="020F0502020204030204" pitchFamily="34" charset="0"/>
                <a:ea typeface="Calibri" panose="020F0502020204030204" pitchFamily="34" charset="0"/>
                <a:cs typeface="Calibri" panose="020F0502020204030204" pitchFamily="34" charset="0"/>
              </a:rPr>
              <a:t>). This delay enables pipelining by breaking the combinational feedback loop and reducing the critical path. </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Multiplier Leaf Cell:</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Performs signed 16×16-bit multiplication to produce a 32-bit result. It is used in both FIR filtering and coefficient update operations. On the Virtex-5 FPGA, it maps to DSP48E slices, providing efficient pipelined multiplication.</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Divider Leaf Cell:</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Implements error normalization μₑₙ = μ / (p + eᵀ(n)e(n)). Since division is hardware-intensive, a sequential divider is used, completing the operation over multiple clock cycles and storing the result.</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Memory Leaf Cell:</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An 8×16-bit register file storing filter coefficients. It supports simultaneous read and write operations per clock cycle and is implemented using FPGA memory resources.</a:t>
            </a:r>
          </a:p>
        </p:txBody>
      </p:sp>
      <p:sp>
        <p:nvSpPr>
          <p:cNvPr id="3" name="object 3">
            <a:extLst>
              <a:ext uri="{FF2B5EF4-FFF2-40B4-BE49-F238E27FC236}">
                <a16:creationId xmlns:a16="http://schemas.microsoft.com/office/drawing/2014/main" id="{3A5384C1-B47A-37AD-5FEF-61741AEA6E2D}"/>
              </a:ext>
            </a:extLst>
          </p:cNvPr>
          <p:cNvSpPr txBox="1"/>
          <p:nvPr/>
        </p:nvSpPr>
        <p:spPr>
          <a:xfrm>
            <a:off x="1130300" y="6026150"/>
            <a:ext cx="5743575" cy="1378904"/>
          </a:xfrm>
          <a:prstGeom prst="rect">
            <a:avLst/>
          </a:prstGeom>
        </p:spPr>
        <p:txBody>
          <a:bodyPr lIns="0" tIns="13335" rIns="0" bIns="0">
            <a:spAutoFit/>
          </a:bodyPr>
          <a:lstStyle>
            <a:lvl1pPr marL="12700" indent="455613">
              <a:tabLst>
                <a:tab pos="325438" algn="l"/>
              </a:tabLst>
              <a:defRPr>
                <a:solidFill>
                  <a:schemeClr val="tx1"/>
                </a:solidFill>
                <a:latin typeface="Arial" panose="020B0604020202020204" pitchFamily="34" charset="0"/>
              </a:defRPr>
            </a:lvl1pPr>
            <a:lvl2pPr marL="323850" indent="-312738">
              <a:tabLst>
                <a:tab pos="325438" algn="l"/>
              </a:tabLst>
              <a:defRPr>
                <a:solidFill>
                  <a:schemeClr val="tx1"/>
                </a:solidFill>
                <a:latin typeface="Arial" panose="020B0604020202020204" pitchFamily="34" charset="0"/>
              </a:defRPr>
            </a:lvl2pPr>
            <a:lvl3pPr marL="393700" indent="-381000">
              <a:tabLst>
                <a:tab pos="325438" algn="l"/>
              </a:tabLst>
              <a:defRPr>
                <a:solidFill>
                  <a:schemeClr val="tx1"/>
                </a:solidFill>
                <a:latin typeface="Arial" panose="020B0604020202020204" pitchFamily="34" charset="0"/>
              </a:defRPr>
            </a:lvl3pPr>
            <a:lvl4pPr marL="1600200" indent="-228600">
              <a:tabLst>
                <a:tab pos="325438" algn="l"/>
              </a:tabLst>
              <a:defRPr>
                <a:solidFill>
                  <a:schemeClr val="tx1"/>
                </a:solidFill>
                <a:latin typeface="Arial" panose="020B0604020202020204" pitchFamily="34" charset="0"/>
              </a:defRPr>
            </a:lvl4pPr>
            <a:lvl5pPr marL="2057400" indent="-228600">
              <a:tabLst>
                <a:tab pos="32543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2543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2543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2543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25438" algn="l"/>
              </a:tabLst>
              <a:defRPr>
                <a:solidFill>
                  <a:schemeClr val="tx1"/>
                </a:solidFill>
                <a:latin typeface="Arial" panose="020B0604020202020204" pitchFamily="34" charset="0"/>
              </a:defRPr>
            </a:lvl9pPr>
          </a:lstStyle>
          <a:p>
            <a:pPr lvl="1" eaLnBrk="1" hangingPunct="1">
              <a:spcBef>
                <a:spcPts val="100"/>
              </a:spcBef>
              <a:buFontTx/>
              <a:buAutoNum type="arabicPeriod" startAt="3"/>
            </a:pPr>
            <a:r>
              <a:rPr lang="en-US" altLang="en-US" sz="1400" b="1" dirty="0">
                <a:solidFill>
                  <a:srgbClr val="2D75B6"/>
                </a:solidFill>
                <a:latin typeface="Times New Roman" panose="02020603050405020304" pitchFamily="18" charset="0"/>
                <a:cs typeface="Times New Roman" panose="02020603050405020304" pitchFamily="18" charset="0"/>
              </a:rPr>
              <a:t>Leaf</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Cell</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Simulation</a:t>
            </a:r>
            <a:endParaRPr lang="en-US" altLang="en-US" sz="1400" dirty="0">
              <a:solidFill>
                <a:srgbClr val="000000"/>
              </a:solidFill>
              <a:latin typeface="Times New Roman" panose="02020603050405020304" pitchFamily="18" charset="0"/>
              <a:cs typeface="Times New Roman" panose="02020603050405020304" pitchFamily="18" charset="0"/>
            </a:endParaRPr>
          </a:p>
          <a:p>
            <a:pPr lvl="1" eaLnBrk="1" hangingPunct="1">
              <a:buClr>
                <a:srgbClr val="2D75B6"/>
              </a:buClr>
              <a:buFont typeface="Times New Roman" panose="02020603050405020304" pitchFamily="18" charset="0"/>
              <a:buAutoNum type="arabicPeriod" startAt="3"/>
            </a:pPr>
            <a:endParaRPr lang="en-US" altLang="en-US" sz="1400" dirty="0">
              <a:solidFill>
                <a:srgbClr val="000000"/>
              </a:solidFill>
              <a:latin typeface="Times New Roman" panose="02020603050405020304" pitchFamily="18" charset="0"/>
              <a:cs typeface="Times New Roman" panose="02020603050405020304" pitchFamily="18" charset="0"/>
            </a:endParaRPr>
          </a:p>
          <a:p>
            <a:pPr lvl="2" algn="just" eaLnBrk="1" hangingPunct="1">
              <a:buFontTx/>
              <a:buAutoNum type="arabicPeriod"/>
            </a:pPr>
            <a:r>
              <a:rPr lang="en-US" altLang="en-US" sz="1200" b="1" u="sng" dirty="0">
                <a:solidFill>
                  <a:srgbClr val="1F4E79"/>
                </a:solidFill>
                <a:latin typeface="Times New Roman" panose="02020603050405020304" pitchFamily="18" charset="0"/>
                <a:cs typeface="Times New Roman" panose="02020603050405020304" pitchFamily="18" charset="0"/>
              </a:rPr>
              <a:t>Verilog</a:t>
            </a:r>
            <a:r>
              <a:rPr lang="en-US" altLang="en-US" sz="1200" u="sng" dirty="0">
                <a:solidFill>
                  <a:srgbClr val="1F4E79"/>
                </a:solidFill>
                <a:latin typeface="Times New Roman" panose="02020603050405020304" pitchFamily="18" charset="0"/>
                <a:cs typeface="Times New Roman" panose="02020603050405020304" pitchFamily="18" charset="0"/>
              </a:rPr>
              <a:t> </a:t>
            </a:r>
            <a:r>
              <a:rPr lang="en-US" altLang="en-US" sz="1200" b="1" u="sng" dirty="0">
                <a:solidFill>
                  <a:srgbClr val="1F4E79"/>
                </a:solidFill>
                <a:latin typeface="Times New Roman" panose="02020603050405020304" pitchFamily="18" charset="0"/>
                <a:cs typeface="Times New Roman" panose="02020603050405020304" pitchFamily="18" charset="0"/>
              </a:rPr>
              <a:t>HDL</a:t>
            </a:r>
            <a:r>
              <a:rPr lang="en-US" altLang="en-US" sz="1200" u="sng" dirty="0">
                <a:solidFill>
                  <a:srgbClr val="1F4E79"/>
                </a:solidFill>
                <a:latin typeface="Times New Roman" panose="02020603050405020304" pitchFamily="18" charset="0"/>
                <a:cs typeface="Times New Roman" panose="02020603050405020304" pitchFamily="18" charset="0"/>
              </a:rPr>
              <a:t> </a:t>
            </a:r>
            <a:r>
              <a:rPr lang="en-US" altLang="en-US" sz="1200" b="1" u="sng" dirty="0">
                <a:solidFill>
                  <a:srgbClr val="1F4E79"/>
                </a:solidFill>
                <a:latin typeface="Times New Roman" panose="02020603050405020304" pitchFamily="18" charset="0"/>
                <a:cs typeface="Times New Roman" panose="02020603050405020304" pitchFamily="18" charset="0"/>
              </a:rPr>
              <a:t>Code</a:t>
            </a:r>
            <a:endParaRPr lang="en-US" altLang="en-US" sz="1200"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136000"/>
              </a:lnSpc>
              <a:spcBef>
                <a:spcPts val="488"/>
              </a:spcBef>
            </a:pPr>
            <a:r>
              <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complete Verilog HDL implementation of the DENLMS adaptive filter, including the testbench, is provided below. The code was written in data-flow modeling style and simulated using </a:t>
            </a:r>
            <a:r>
              <a:rPr lang="en-US" alt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ModelSim</a:t>
            </a:r>
            <a:r>
              <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The design was then synthesized using Xilinx ISE targeting the </a:t>
            </a:r>
            <a:r>
              <a:rPr lang="en-US" alt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Virtex</a:t>
            </a:r>
            <a:r>
              <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5 FPGA XC5LVX330</a:t>
            </a:r>
            <a:r>
              <a:rPr lang="en-US" altLang="en-US" sz="1200" dirty="0">
                <a:solidFill>
                  <a:srgbClr val="000000"/>
                </a:solidFill>
                <a:latin typeface="Times New Roman" panose="02020603050405020304" pitchFamily="18" charset="0"/>
                <a:cs typeface="Times New Roman" panose="02020603050405020304" pitchFamily="18" charset="0"/>
              </a:rPr>
              <a:t>.</a:t>
            </a:r>
          </a:p>
        </p:txBody>
      </p:sp>
      <p:sp>
        <p:nvSpPr>
          <p:cNvPr id="12294" name="object 6">
            <a:extLst>
              <a:ext uri="{FF2B5EF4-FFF2-40B4-BE49-F238E27FC236}">
                <a16:creationId xmlns:a16="http://schemas.microsoft.com/office/drawing/2014/main" id="{1A7892D6-2BC1-F6A7-8656-F522023C9500}"/>
              </a:ext>
            </a:extLst>
          </p:cNvPr>
          <p:cNvSpPr>
            <a:spLocks/>
          </p:cNvSpPr>
          <p:nvPr/>
        </p:nvSpPr>
        <p:spPr bwMode="auto">
          <a:xfrm>
            <a:off x="1012825" y="8736013"/>
            <a:ext cx="12700" cy="249237"/>
          </a:xfrm>
          <a:custGeom>
            <a:avLst/>
            <a:gdLst>
              <a:gd name="T0" fmla="*/ 12191 w 12700"/>
              <a:gd name="T1" fmla="*/ 0 h 248920"/>
              <a:gd name="T2" fmla="*/ 0 w 12700"/>
              <a:gd name="T3" fmla="*/ 0 h 248920"/>
              <a:gd name="T4" fmla="*/ 0 w 12700"/>
              <a:gd name="T5" fmla="*/ 248411 h 248920"/>
              <a:gd name="T6" fmla="*/ 12191 w 12700"/>
              <a:gd name="T7" fmla="*/ 248411 h 248920"/>
              <a:gd name="T8" fmla="*/ 12191 w 12700"/>
              <a:gd name="T9" fmla="*/ 0 h 248920"/>
            </a:gdLst>
            <a:ahLst/>
            <a:cxnLst>
              <a:cxn ang="0">
                <a:pos x="T0" y="T1"/>
              </a:cxn>
              <a:cxn ang="0">
                <a:pos x="T2" y="T3"/>
              </a:cxn>
              <a:cxn ang="0">
                <a:pos x="T4" y="T5"/>
              </a:cxn>
              <a:cxn ang="0">
                <a:pos x="T6" y="T7"/>
              </a:cxn>
              <a:cxn ang="0">
                <a:pos x="T8" y="T9"/>
              </a:cxn>
            </a:cxnLst>
            <a:rect l="0" t="0" r="r" b="b"/>
            <a:pathLst>
              <a:path w="12700" h="248920">
                <a:moveTo>
                  <a:pt x="12191" y="0"/>
                </a:moveTo>
                <a:lnTo>
                  <a:pt x="0" y="0"/>
                </a:lnTo>
                <a:lnTo>
                  <a:pt x="0" y="248411"/>
                </a:lnTo>
                <a:lnTo>
                  <a:pt x="12191" y="248411"/>
                </a:lnTo>
                <a:lnTo>
                  <a:pt x="12191"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03A8F5-F43B-643A-4167-471B4C72B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742950"/>
            <a:ext cx="6553200" cy="8572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 name="object 49">
            <a:extLst>
              <a:ext uri="{FF2B5EF4-FFF2-40B4-BE49-F238E27FC236}">
                <a16:creationId xmlns:a16="http://schemas.microsoft.com/office/drawing/2014/main" id="{08CB1C5D-2C7F-2AAC-0B0E-288CDFAF40A7}"/>
              </a:ext>
            </a:extLst>
          </p:cNvPr>
          <p:cNvSpPr txBox="1"/>
          <p:nvPr/>
        </p:nvSpPr>
        <p:spPr>
          <a:xfrm>
            <a:off x="1126671" y="7467600"/>
            <a:ext cx="5740400" cy="1490473"/>
          </a:xfrm>
          <a:prstGeom prst="rect">
            <a:avLst/>
          </a:prstGeom>
        </p:spPr>
        <p:txBody>
          <a:bodyPr lIns="0" tIns="12700"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ts val="100"/>
              </a:spcBef>
            </a:pPr>
            <a:r>
              <a:rPr lang="en-US" altLang="en-US" sz="1200" b="1" u="sng" dirty="0">
                <a:solidFill>
                  <a:srgbClr val="1F4E79"/>
                </a:solidFill>
                <a:latin typeface="Times New Roman" panose="02020603050405020304" pitchFamily="18" charset="0"/>
                <a:cs typeface="Times New Roman" panose="02020603050405020304" pitchFamily="18" charset="0"/>
              </a:rPr>
              <a:t>4.3.2</a:t>
            </a:r>
            <a:r>
              <a:rPr lang="en-US" altLang="en-US" sz="1200" u="sng" dirty="0">
                <a:solidFill>
                  <a:srgbClr val="1F4E79"/>
                </a:solidFill>
                <a:latin typeface="Times New Roman" panose="02020603050405020304" pitchFamily="18" charset="0"/>
                <a:cs typeface="Times New Roman" panose="02020603050405020304" pitchFamily="18" charset="0"/>
              </a:rPr>
              <a:t> </a:t>
            </a:r>
            <a:r>
              <a:rPr lang="en-US" altLang="en-US" sz="1200" b="1" u="sng" dirty="0">
                <a:solidFill>
                  <a:srgbClr val="1F4E79"/>
                </a:solidFill>
                <a:latin typeface="Times New Roman" panose="02020603050405020304" pitchFamily="18" charset="0"/>
                <a:cs typeface="Times New Roman" panose="02020603050405020304" pitchFamily="18" charset="0"/>
              </a:rPr>
              <a:t>Simulation</a:t>
            </a:r>
            <a:r>
              <a:rPr lang="en-US" altLang="en-US" sz="1200" u="sng" dirty="0">
                <a:solidFill>
                  <a:srgbClr val="1F4E79"/>
                </a:solidFill>
                <a:latin typeface="Times New Roman" panose="02020603050405020304" pitchFamily="18" charset="0"/>
                <a:cs typeface="Times New Roman" panose="02020603050405020304" pitchFamily="18" charset="0"/>
              </a:rPr>
              <a:t> </a:t>
            </a:r>
            <a:r>
              <a:rPr lang="en-US" altLang="en-US" sz="1200" b="1" u="sng" dirty="0">
                <a:solidFill>
                  <a:srgbClr val="1F4E79"/>
                </a:solidFill>
                <a:latin typeface="Times New Roman" panose="02020603050405020304" pitchFamily="18" charset="0"/>
                <a:cs typeface="Times New Roman" panose="02020603050405020304" pitchFamily="18" charset="0"/>
              </a:rPr>
              <a:t>Results</a:t>
            </a:r>
            <a:endParaRPr lang="en-US" altLang="en-US" sz="1200"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136000"/>
              </a:lnSpc>
              <a:spcBef>
                <a:spcPts val="500"/>
              </a:spcBef>
            </a:pPr>
            <a:r>
              <a:rPr lang="en-US" sz="1200" dirty="0"/>
              <a:t>The functional simulation of the DENLMS filter was carried out using </a:t>
            </a:r>
            <a:r>
              <a:rPr lang="en-US" sz="1200" dirty="0" err="1"/>
              <a:t>ModelSim</a:t>
            </a:r>
            <a:r>
              <a:rPr lang="en-US" sz="1200" dirty="0"/>
              <a:t>. A testbench with 30 input samples, representing a noisy ECG signal with varying amplitude, was applied. The desired signal corresponds to the clean ECG waveform. Table 4.2 shows the results, including filter output y(n), error signal, adaptive weights, and normalized step size at selected iterations</a:t>
            </a:r>
            <a:r>
              <a:rPr lang="en-US" sz="1100" dirty="0">
                <a:latin typeface="Calibri" panose="020F0502020204030204" pitchFamily="34" charset="0"/>
                <a:ea typeface="Calibri" panose="020F0502020204030204" pitchFamily="34" charset="0"/>
                <a:cs typeface="Calibri" panose="020F0502020204030204" pitchFamily="34" charset="0"/>
              </a:rPr>
              <a:t>..</a:t>
            </a:r>
            <a:endPar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5AC4B44-1D84-8060-8C96-E3D513A4CA21}"/>
              </a:ext>
            </a:extLst>
          </p:cNvPr>
          <p:cNvSpPr txBox="1"/>
          <p:nvPr/>
        </p:nvSpPr>
        <p:spPr>
          <a:xfrm>
            <a:off x="1130300" y="685800"/>
            <a:ext cx="1676400" cy="261610"/>
          </a:xfrm>
          <a:prstGeom prst="rect">
            <a:avLst/>
          </a:prstGeom>
          <a:noFill/>
        </p:spPr>
        <p:txBody>
          <a:bodyPr wrap="square" rtlCol="0">
            <a:spAutoFit/>
          </a:bodyPr>
          <a:lstStyle/>
          <a:p>
            <a:pPr algn="just"/>
            <a:r>
              <a:rPr lang="en-IN" sz="1100" b="1" dirty="0">
                <a:latin typeface="Calibri" panose="020F0502020204030204" pitchFamily="34" charset="0"/>
                <a:ea typeface="Calibri" panose="020F0502020204030204" pitchFamily="34" charset="0"/>
                <a:cs typeface="Calibri" panose="020F0502020204030204" pitchFamily="34" charset="0"/>
              </a:rPr>
              <a:t>Testbench</a:t>
            </a:r>
          </a:p>
        </p:txBody>
      </p:sp>
      <p:pic>
        <p:nvPicPr>
          <p:cNvPr id="7" name="Picture 6">
            <a:extLst>
              <a:ext uri="{FF2B5EF4-FFF2-40B4-BE49-F238E27FC236}">
                <a16:creationId xmlns:a16="http://schemas.microsoft.com/office/drawing/2014/main" id="{C1082115-5863-82A1-C351-03960DA1B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042" y="1100327"/>
            <a:ext cx="6344558" cy="630799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DDBDF98E-E2C6-8A60-087E-A1913A299566}"/>
              </a:ext>
            </a:extLst>
          </p:cNvPr>
          <p:cNvSpPr txBox="1"/>
          <p:nvPr/>
        </p:nvSpPr>
        <p:spPr>
          <a:xfrm>
            <a:off x="1015206" y="7239000"/>
            <a:ext cx="5741988" cy="1197764"/>
          </a:xfrm>
          <a:prstGeom prst="rect">
            <a:avLst/>
          </a:prstGeom>
        </p:spPr>
        <p:txBody>
          <a:bodyPr lIns="0" tIns="12700" rIns="0" bIns="0">
            <a:spAutoFit/>
          </a:bodyPr>
          <a:lstStyle>
            <a:lvl1pPr marL="12700" indent="455613">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100" dirty="0">
                <a:latin typeface="Calibri" panose="020F0502020204030204" pitchFamily="34" charset="0"/>
                <a:ea typeface="Calibri" panose="020F0502020204030204" pitchFamily="34" charset="0"/>
                <a:cs typeface="Calibri" panose="020F0502020204030204" pitchFamily="34" charset="0"/>
              </a:rPr>
              <a:t>The simulation results confirm the correct convergence of the DENLMS adaptive filter. The error decreases from 31.97 at iteration 1 to 6.70 at iteration 30, showing effective adaptation. The filter weights gradually increase from their initial values, indicating proper coefficient updates, while the normalized step size μₑₙ decreases as expected.</a:t>
            </a:r>
          </a:p>
          <a:p>
            <a:r>
              <a:rPr lang="en-US" sz="1100" dirty="0">
                <a:latin typeface="Calibri" panose="020F0502020204030204" pitchFamily="34" charset="0"/>
                <a:ea typeface="Calibri" panose="020F0502020204030204" pitchFamily="34" charset="0"/>
                <a:cs typeface="Calibri" panose="020F0502020204030204" pitchFamily="34" charset="0"/>
              </a:rPr>
              <a:t>At the 8th iteration, the ENLMS architecture produces an error of 38,403, whereas the DENLMS filter achieves a lower error of 34,647 with 16-bit representation, confirming improved performance.</a:t>
            </a:r>
          </a:p>
        </p:txBody>
      </p:sp>
      <p:pic>
        <p:nvPicPr>
          <p:cNvPr id="11" name="Picture 10">
            <a:extLst>
              <a:ext uri="{FF2B5EF4-FFF2-40B4-BE49-F238E27FC236}">
                <a16:creationId xmlns:a16="http://schemas.microsoft.com/office/drawing/2014/main" id="{73F2A68E-E4F3-237D-F4E5-1BBD29445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97" y="1143000"/>
            <a:ext cx="7772400" cy="411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80ACF662-A698-F523-D4A8-D3E068AD6B51}"/>
              </a:ext>
            </a:extLst>
          </p:cNvPr>
          <p:cNvSpPr txBox="1"/>
          <p:nvPr/>
        </p:nvSpPr>
        <p:spPr>
          <a:xfrm>
            <a:off x="1111252" y="4894262"/>
            <a:ext cx="1074738" cy="269875"/>
          </a:xfrm>
          <a:prstGeom prst="rect">
            <a:avLst/>
          </a:prstGeom>
        </p:spPr>
        <p:txBody>
          <a:bodyPr lIns="0" tIns="12065" rIns="0" bIns="0">
            <a:spAutoFit/>
          </a:bodyPr>
          <a:lstStyle/>
          <a:p>
            <a:pPr marL="12700" eaLnBrk="1" fontAlgn="auto" hangingPunct="1">
              <a:spcBef>
                <a:spcPts val="95"/>
              </a:spcBef>
              <a:spcAft>
                <a:spcPts val="0"/>
              </a:spcAft>
              <a:defRPr/>
            </a:pPr>
            <a:r>
              <a:rPr sz="1600" b="1" kern="0" spc="-10" dirty="0">
                <a:solidFill>
                  <a:srgbClr val="1F4E79"/>
                </a:solidFill>
                <a:latin typeface="Times New Roman"/>
                <a:cs typeface="Times New Roman"/>
              </a:rPr>
              <a:t>APPENDIX</a:t>
            </a:r>
            <a:endParaRPr sz="1600" kern="0" dirty="0">
              <a:solidFill>
                <a:sysClr val="windowText" lastClr="000000"/>
              </a:solidFill>
              <a:latin typeface="Times New Roman"/>
              <a:cs typeface="Times New Roman"/>
            </a:endParaRPr>
          </a:p>
        </p:txBody>
      </p:sp>
      <p:sp>
        <p:nvSpPr>
          <p:cNvPr id="19460" name="object 4">
            <a:extLst>
              <a:ext uri="{FF2B5EF4-FFF2-40B4-BE49-F238E27FC236}">
                <a16:creationId xmlns:a16="http://schemas.microsoft.com/office/drawing/2014/main" id="{70FF7CAB-860C-5DC2-A364-141543C79EF9}"/>
              </a:ext>
            </a:extLst>
          </p:cNvPr>
          <p:cNvSpPr>
            <a:spLocks/>
          </p:cNvSpPr>
          <p:nvPr/>
        </p:nvSpPr>
        <p:spPr bwMode="auto">
          <a:xfrm>
            <a:off x="1111252" y="5715000"/>
            <a:ext cx="5751512" cy="6350"/>
          </a:xfrm>
          <a:custGeom>
            <a:avLst/>
            <a:gdLst>
              <a:gd name="T0" fmla="*/ 5752459 w 5752465"/>
              <a:gd name="T1" fmla="*/ 0 h 6350"/>
              <a:gd name="T2" fmla="*/ 0 w 5752465"/>
              <a:gd name="T3" fmla="*/ 0 h 6350"/>
              <a:gd name="T4" fmla="*/ 0 w 5752465"/>
              <a:gd name="T5" fmla="*/ 6095 h 6350"/>
              <a:gd name="T6" fmla="*/ 5752459 w 5752465"/>
              <a:gd name="T7" fmla="*/ 6095 h 6350"/>
              <a:gd name="T8" fmla="*/ 5752459 w 5752465"/>
              <a:gd name="T9" fmla="*/ 0 h 6350"/>
            </a:gdLst>
            <a:ahLst/>
            <a:cxnLst>
              <a:cxn ang="0">
                <a:pos x="T0" y="T1"/>
              </a:cxn>
              <a:cxn ang="0">
                <a:pos x="T2" y="T3"/>
              </a:cxn>
              <a:cxn ang="0">
                <a:pos x="T4" y="T5"/>
              </a:cxn>
              <a:cxn ang="0">
                <a:pos x="T6" y="T7"/>
              </a:cxn>
              <a:cxn ang="0">
                <a:pos x="T8" y="T9"/>
              </a:cxn>
            </a:cxnLst>
            <a:rect l="0" t="0" r="r" b="b"/>
            <a:pathLst>
              <a:path w="5752465" h="6350">
                <a:moveTo>
                  <a:pt x="5752459" y="0"/>
                </a:moveTo>
                <a:lnTo>
                  <a:pt x="0" y="0"/>
                </a:lnTo>
                <a:lnTo>
                  <a:pt x="0" y="6095"/>
                </a:lnTo>
                <a:lnTo>
                  <a:pt x="5752459" y="6095"/>
                </a:lnTo>
                <a:lnTo>
                  <a:pt x="5752459" y="0"/>
                </a:lnTo>
                <a:close/>
              </a:path>
            </a:pathLst>
          </a:custGeom>
          <a:solidFill>
            <a:srgbClr val="2D75B6"/>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5">
            <a:extLst>
              <a:ext uri="{FF2B5EF4-FFF2-40B4-BE49-F238E27FC236}">
                <a16:creationId xmlns:a16="http://schemas.microsoft.com/office/drawing/2014/main" id="{1D57FF3D-6F83-74F5-EE63-8288A2124EB5}"/>
              </a:ext>
            </a:extLst>
          </p:cNvPr>
          <p:cNvSpPr txBox="1"/>
          <p:nvPr/>
        </p:nvSpPr>
        <p:spPr>
          <a:xfrm>
            <a:off x="1130300" y="6004703"/>
            <a:ext cx="5741988" cy="3596497"/>
          </a:xfrm>
          <a:prstGeom prst="rect">
            <a:avLst/>
          </a:prstGeom>
        </p:spPr>
        <p:txBody>
          <a:bodyPr lIns="0" tIns="13335" rIns="0" bIns="0">
            <a:spAutoFit/>
          </a:bodyPr>
          <a:lstStyle>
            <a:lvl1pPr marL="12700" indent="455613">
              <a:tabLst>
                <a:tab pos="365125" algn="l"/>
              </a:tabLst>
              <a:defRPr>
                <a:solidFill>
                  <a:schemeClr val="tx1"/>
                </a:solidFill>
                <a:latin typeface="Arial" panose="020B0604020202020204" pitchFamily="34" charset="0"/>
              </a:defRPr>
            </a:lvl1pPr>
            <a:lvl2pPr marL="363538" indent="-352425">
              <a:tabLst>
                <a:tab pos="365125" algn="l"/>
              </a:tabLst>
              <a:defRPr>
                <a:solidFill>
                  <a:schemeClr val="tx1"/>
                </a:solidFill>
                <a:latin typeface="Arial" panose="020B0604020202020204" pitchFamily="34" charset="0"/>
              </a:defRPr>
            </a:lvl2pPr>
            <a:lvl3pPr marL="468313" indent="-228600">
              <a:tabLst>
                <a:tab pos="365125" algn="l"/>
              </a:tabLst>
              <a:defRPr>
                <a:solidFill>
                  <a:schemeClr val="tx1"/>
                </a:solidFill>
                <a:latin typeface="Arial" panose="020B0604020202020204" pitchFamily="34" charset="0"/>
              </a:defRPr>
            </a:lvl3pPr>
            <a:lvl4pPr marL="1600200" indent="-228600">
              <a:tabLst>
                <a:tab pos="365125" algn="l"/>
              </a:tabLst>
              <a:defRPr>
                <a:solidFill>
                  <a:schemeClr val="tx1"/>
                </a:solidFill>
                <a:latin typeface="Arial" panose="020B0604020202020204" pitchFamily="34" charset="0"/>
              </a:defRPr>
            </a:lvl4pPr>
            <a:lvl5pPr marL="2057400" indent="-228600">
              <a:tabLst>
                <a:tab pos="365125"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65125"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65125"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65125"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65125" algn="l"/>
              </a:tabLst>
              <a:defRPr>
                <a:solidFill>
                  <a:schemeClr val="tx1"/>
                </a:solidFill>
                <a:latin typeface="Arial" panose="020B0604020202020204" pitchFamily="34" charset="0"/>
              </a:defRPr>
            </a:lvl9pPr>
          </a:lstStyle>
          <a:p>
            <a:pPr lvl="1" algn="just" eaLnBrk="1" hangingPunct="1">
              <a:spcBef>
                <a:spcPts val="100"/>
              </a:spcBef>
              <a:buFontTx/>
              <a:buAutoNum type="arabicPeriod"/>
            </a:pPr>
            <a:r>
              <a:rPr lang="en-US" altLang="en-US" sz="1400" b="1" dirty="0">
                <a:solidFill>
                  <a:srgbClr val="2D75B6"/>
                </a:solidFill>
                <a:latin typeface="Times New Roman" panose="02020603050405020304" pitchFamily="18" charset="0"/>
                <a:cs typeface="Times New Roman" panose="02020603050405020304" pitchFamily="18" charset="0"/>
              </a:rPr>
              <a:t>Simulation</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Results</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Summary</a:t>
            </a:r>
          </a:p>
          <a:p>
            <a:pPr lvl="1" algn="just" eaLnBrk="1" hangingPunct="1">
              <a:spcBef>
                <a:spcPts val="100"/>
              </a:spcBef>
              <a:buFontTx/>
              <a:buAutoNum type="arabicPeriod"/>
            </a:pPr>
            <a:endParaRPr lang="en-US" altLang="en-US" sz="1400" dirty="0">
              <a:solidFill>
                <a:srgbClr val="000000"/>
              </a:solidFill>
              <a:latin typeface="Times New Roman" panose="02020603050405020304" pitchFamily="18" charset="0"/>
              <a:cs typeface="Times New Roman" panose="02020603050405020304" pitchFamily="18" charset="0"/>
            </a:endParaRPr>
          </a:p>
          <a:p>
            <a:r>
              <a:rPr lang="en-US" sz="1200" dirty="0"/>
              <a:t>The following summary presents the key simulation and synthesis results of the DENLMS adaptive filter, obtained using </a:t>
            </a:r>
            <a:r>
              <a:rPr lang="en-US" sz="1200" dirty="0" err="1"/>
              <a:t>ModelSim</a:t>
            </a:r>
            <a:r>
              <a:rPr lang="en-US" sz="1200" dirty="0"/>
              <a:t> and Xilinx ISE on the Virtex-5 XC5LVX330 FPGA.</a:t>
            </a:r>
          </a:p>
          <a:p>
            <a:endParaRPr lang="en-US" sz="1200" dirty="0"/>
          </a:p>
          <a:p>
            <a:r>
              <a:rPr lang="en-US" sz="1200" b="1" dirty="0"/>
              <a:t>Simulation Results:</a:t>
            </a:r>
            <a:br>
              <a:rPr lang="en-US" sz="1200" dirty="0"/>
            </a:br>
            <a:r>
              <a:rPr lang="en-US" sz="1200" dirty="0"/>
              <a:t>Functional simulation confirms correct operation. The error at the 8th iteration is </a:t>
            </a:r>
            <a:r>
              <a:rPr lang="en-US" sz="1200" b="1" dirty="0"/>
              <a:t>34,647</a:t>
            </a:r>
            <a:r>
              <a:rPr lang="en-US" sz="1200" dirty="0"/>
              <a:t>, compared to </a:t>
            </a:r>
            <a:r>
              <a:rPr lang="en-US" sz="1200" b="1" dirty="0"/>
              <a:t>38,403</a:t>
            </a:r>
            <a:r>
              <a:rPr lang="en-US" sz="1200" dirty="0"/>
              <a:t> for ENLMS. The filter weights converge steadily from the initial value.</a:t>
            </a:r>
          </a:p>
          <a:p>
            <a:endParaRPr lang="en-US" sz="1200" dirty="0"/>
          </a:p>
          <a:p>
            <a:r>
              <a:rPr lang="en-US" sz="1200" b="1" dirty="0"/>
              <a:t>Synthesis Results:</a:t>
            </a:r>
            <a:br>
              <a:rPr lang="en-US" sz="1200" dirty="0"/>
            </a:br>
            <a:r>
              <a:rPr lang="en-US" sz="1200" dirty="0"/>
              <a:t>Dynamic power = </a:t>
            </a:r>
            <a:r>
              <a:rPr lang="en-US" sz="1200" b="1" dirty="0"/>
              <a:t>42 </a:t>
            </a:r>
            <a:r>
              <a:rPr lang="en-US" sz="1200" b="1" dirty="0" err="1"/>
              <a:t>mW</a:t>
            </a:r>
            <a:r>
              <a:rPr lang="en-US" sz="1200" dirty="0"/>
              <a:t>, leakage power = </a:t>
            </a:r>
            <a:r>
              <a:rPr lang="en-US" sz="1200" b="1" dirty="0"/>
              <a:t>107 </a:t>
            </a:r>
            <a:r>
              <a:rPr lang="en-US" sz="1200" b="1" dirty="0" err="1"/>
              <a:t>μW</a:t>
            </a:r>
            <a:r>
              <a:rPr lang="en-US" sz="1200" dirty="0"/>
              <a:t>, and timing slack = </a:t>
            </a:r>
            <a:r>
              <a:rPr lang="en-US" sz="1200" b="1" dirty="0"/>
              <a:t>0.19 ns</a:t>
            </a:r>
            <a:r>
              <a:rPr lang="en-US" sz="1200" dirty="0"/>
              <a:t> (all constraints satisfied). Resource usage includes </a:t>
            </a:r>
            <a:r>
              <a:rPr lang="en-US" sz="1200" b="1" dirty="0"/>
              <a:t>8,790 LUTs</a:t>
            </a:r>
            <a:r>
              <a:rPr lang="en-US" sz="1200" dirty="0"/>
              <a:t> and </a:t>
            </a:r>
            <a:r>
              <a:rPr lang="en-US" sz="1200" b="1" dirty="0"/>
              <a:t>6,328 flip-flops</a:t>
            </a:r>
            <a:r>
              <a:rPr lang="en-US" sz="1200" dirty="0"/>
              <a:t>.</a:t>
            </a:r>
          </a:p>
          <a:p>
            <a:endParaRPr lang="en-US" sz="1200" dirty="0"/>
          </a:p>
          <a:p>
            <a:r>
              <a:rPr lang="en-US" sz="1200" b="1" dirty="0"/>
              <a:t>Performance Improvement:</a:t>
            </a:r>
            <a:br>
              <a:rPr lang="en-US" sz="1200" dirty="0"/>
            </a:br>
            <a:r>
              <a:rPr lang="en-US" sz="1200" dirty="0"/>
              <a:t>Compared to ENLMS, dynamic power is reduced by </a:t>
            </a:r>
            <a:r>
              <a:rPr lang="en-US" sz="1200" b="1" dirty="0"/>
              <a:t>43.2%</a:t>
            </a:r>
            <a:r>
              <a:rPr lang="en-US" sz="1200" dirty="0"/>
              <a:t>, leakage by </a:t>
            </a:r>
            <a:r>
              <a:rPr lang="en-US" sz="1200" b="1" dirty="0"/>
              <a:t>30.5%</a:t>
            </a:r>
            <a:r>
              <a:rPr lang="en-US" sz="1200" dirty="0"/>
              <a:t>, and timing performance improved by </a:t>
            </a:r>
            <a:r>
              <a:rPr lang="en-US" sz="1200" b="1" dirty="0"/>
              <a:t>35.24%</a:t>
            </a:r>
            <a:r>
              <a:rPr lang="en-US" sz="1200" dirty="0"/>
              <a:t>. MSE is reduced, with a small area increase (~20.4%) due to pipelining.</a:t>
            </a:r>
          </a:p>
        </p:txBody>
      </p:sp>
      <p:sp>
        <p:nvSpPr>
          <p:cNvPr id="6" name="TextBox 5">
            <a:extLst>
              <a:ext uri="{FF2B5EF4-FFF2-40B4-BE49-F238E27FC236}">
                <a16:creationId xmlns:a16="http://schemas.microsoft.com/office/drawing/2014/main" id="{81C90224-FE8D-97D4-8DF9-31201198DA2B}"/>
              </a:ext>
            </a:extLst>
          </p:cNvPr>
          <p:cNvSpPr txBox="1"/>
          <p:nvPr/>
        </p:nvSpPr>
        <p:spPr>
          <a:xfrm flipH="1">
            <a:off x="908050" y="1414844"/>
            <a:ext cx="6186488" cy="1837362"/>
          </a:xfrm>
          <a:prstGeom prst="rect">
            <a:avLst/>
          </a:prstGeom>
          <a:noFill/>
        </p:spPr>
        <p:txBody>
          <a:bodyPr wrap="square" rtlCol="0">
            <a:spAutoFit/>
          </a:bodyPr>
          <a:lstStyle/>
          <a:p>
            <a:pPr algn="just" eaLnBrk="1" hangingPunct="1">
              <a:spcBef>
                <a:spcPts val="100"/>
              </a:spcBef>
            </a:pPr>
            <a:r>
              <a:rPr lang="en-US" altLang="en-US" sz="1400" b="1" u="sng" dirty="0">
                <a:solidFill>
                  <a:srgbClr val="1F4E79"/>
                </a:solidFill>
                <a:latin typeface="Times New Roman" panose="02020603050405020304" pitchFamily="18" charset="0"/>
                <a:cs typeface="Times New Roman" panose="02020603050405020304" pitchFamily="18" charset="0"/>
              </a:rPr>
              <a:t>4.3.3</a:t>
            </a:r>
            <a:r>
              <a:rPr lang="en-US" altLang="en-US" sz="1400" u="sng" dirty="0">
                <a:solidFill>
                  <a:srgbClr val="1F4E79"/>
                </a:solidFill>
                <a:latin typeface="Times New Roman" panose="02020603050405020304" pitchFamily="18" charset="0"/>
                <a:cs typeface="Times New Roman" panose="02020603050405020304" pitchFamily="18" charset="0"/>
              </a:rPr>
              <a:t> </a:t>
            </a:r>
            <a:r>
              <a:rPr lang="en-US" altLang="en-US" sz="1400" b="1" u="sng" dirty="0">
                <a:solidFill>
                  <a:srgbClr val="1F4E79"/>
                </a:solidFill>
                <a:latin typeface="Times New Roman" panose="02020603050405020304" pitchFamily="18" charset="0"/>
                <a:cs typeface="Times New Roman" panose="02020603050405020304" pitchFamily="18" charset="0"/>
              </a:rPr>
              <a:t>FPGA</a:t>
            </a:r>
            <a:r>
              <a:rPr lang="en-US" altLang="en-US" sz="1400" u="sng" dirty="0">
                <a:solidFill>
                  <a:srgbClr val="1F4E79"/>
                </a:solidFill>
                <a:latin typeface="Times New Roman" panose="02020603050405020304" pitchFamily="18" charset="0"/>
                <a:cs typeface="Times New Roman" panose="02020603050405020304" pitchFamily="18" charset="0"/>
              </a:rPr>
              <a:t> </a:t>
            </a:r>
            <a:r>
              <a:rPr lang="en-US" altLang="en-US" sz="1400" b="1" u="sng" dirty="0">
                <a:solidFill>
                  <a:srgbClr val="1F4E79"/>
                </a:solidFill>
                <a:latin typeface="Times New Roman" panose="02020603050405020304" pitchFamily="18" charset="0"/>
                <a:cs typeface="Times New Roman" panose="02020603050405020304" pitchFamily="18" charset="0"/>
              </a:rPr>
              <a:t>Synthesis</a:t>
            </a:r>
            <a:r>
              <a:rPr lang="en-US" altLang="en-US" sz="1400" u="sng" dirty="0">
                <a:solidFill>
                  <a:srgbClr val="1F4E79"/>
                </a:solidFill>
                <a:latin typeface="Times New Roman" panose="02020603050405020304" pitchFamily="18" charset="0"/>
                <a:cs typeface="Times New Roman" panose="02020603050405020304" pitchFamily="18" charset="0"/>
              </a:rPr>
              <a:t> </a:t>
            </a:r>
            <a:r>
              <a:rPr lang="en-US" altLang="en-US" sz="1400" b="1" u="sng" dirty="0">
                <a:solidFill>
                  <a:srgbClr val="1F4E79"/>
                </a:solidFill>
                <a:latin typeface="Times New Roman" panose="02020603050405020304" pitchFamily="18" charset="0"/>
                <a:cs typeface="Times New Roman" panose="02020603050405020304" pitchFamily="18" charset="0"/>
              </a:rPr>
              <a:t>and</a:t>
            </a:r>
            <a:r>
              <a:rPr lang="en-US" altLang="en-US" sz="1400" u="sng" dirty="0">
                <a:solidFill>
                  <a:srgbClr val="1F4E79"/>
                </a:solidFill>
                <a:latin typeface="Times New Roman" panose="02020603050405020304" pitchFamily="18" charset="0"/>
                <a:cs typeface="Times New Roman" panose="02020603050405020304" pitchFamily="18" charset="0"/>
              </a:rPr>
              <a:t> </a:t>
            </a:r>
            <a:r>
              <a:rPr lang="en-US" altLang="en-US" sz="1400" b="1" u="sng" dirty="0">
                <a:solidFill>
                  <a:srgbClr val="1F4E79"/>
                </a:solidFill>
                <a:latin typeface="Times New Roman" panose="02020603050405020304" pitchFamily="18" charset="0"/>
                <a:cs typeface="Times New Roman" panose="02020603050405020304" pitchFamily="18" charset="0"/>
              </a:rPr>
              <a:t>Implementation</a:t>
            </a:r>
            <a:r>
              <a:rPr lang="en-US" altLang="en-US" sz="1400" u="sng" dirty="0">
                <a:solidFill>
                  <a:srgbClr val="1F4E79"/>
                </a:solidFill>
                <a:latin typeface="Times New Roman" panose="02020603050405020304" pitchFamily="18" charset="0"/>
                <a:cs typeface="Times New Roman" panose="02020603050405020304" pitchFamily="18" charset="0"/>
              </a:rPr>
              <a:t> </a:t>
            </a:r>
            <a:r>
              <a:rPr lang="en-US" altLang="en-US" sz="1400" b="1" u="sng" dirty="0">
                <a:solidFill>
                  <a:srgbClr val="1F4E79"/>
                </a:solidFill>
                <a:latin typeface="Times New Roman" panose="02020603050405020304" pitchFamily="18" charset="0"/>
                <a:cs typeface="Times New Roman" panose="02020603050405020304" pitchFamily="18" charset="0"/>
              </a:rPr>
              <a:t>Results</a:t>
            </a:r>
          </a:p>
          <a:p>
            <a:pPr algn="just" eaLnBrk="1" hangingPunct="1">
              <a:spcBef>
                <a:spcPts val="100"/>
              </a:spcBef>
            </a:pPr>
            <a:endParaRPr lang="en-US" altLang="en-US"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136000"/>
              </a:lnSpc>
              <a:spcBef>
                <a:spcPts val="500"/>
              </a:spcBef>
            </a:pPr>
            <a:r>
              <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Following  successful  functional  simulation,  the  DENLMS  filter  design  was synthesized and implemented on the </a:t>
            </a:r>
            <a:r>
              <a:rPr lang="en-US" alt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Virtex</a:t>
            </a:r>
            <a:r>
              <a:rPr lang="en-US" alt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5 FPGA XC5LVX330 using Xilinx ISE. presents the complete device utilization and performance comparison between the ENLMS, DNLMS, and DENLMS filter implementations</a:t>
            </a:r>
            <a:r>
              <a:rPr lang="en-US" altLang="en-US" dirty="0">
                <a:solidFill>
                  <a:srgbClr val="000000"/>
                </a:solidFill>
                <a:latin typeface="Times New Roman" panose="02020603050405020304" pitchFamily="18" charset="0"/>
                <a:cs typeface="Times New Roman" panose="02020603050405020304" pitchFamily="18" charset="0"/>
              </a:rPr>
              <a:t>.</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0C4E47-E7A2-9D68-6F48-FA17C1A90BDF}"/>
              </a:ext>
            </a:extLst>
          </p:cNvPr>
          <p:cNvSpPr txBox="1"/>
          <p:nvPr/>
        </p:nvSpPr>
        <p:spPr>
          <a:xfrm>
            <a:off x="1181100" y="990600"/>
            <a:ext cx="5905500" cy="4170372"/>
          </a:xfrm>
          <a:prstGeom prst="rect">
            <a:avLst/>
          </a:prstGeom>
          <a:noFill/>
        </p:spPr>
        <p:txBody>
          <a:bodyPr wrap="square" lIns="91440" tIns="45720" rIns="91440" bIns="45720" rtlCol="0" anchor="t">
            <a:spAutoFit/>
          </a:bodyPr>
          <a:lstStyle/>
          <a:p>
            <a:r>
              <a:rPr lang="en-IN" sz="1400" b="1" u="sng" kern="0" spc="-10">
                <a:solidFill>
                  <a:srgbClr val="1F4E79"/>
                </a:solidFill>
                <a:latin typeface="Calibri"/>
                <a:ea typeface="Calibri"/>
                <a:cs typeface="Calibri"/>
              </a:rPr>
              <a:t>REFERENCES</a:t>
            </a:r>
            <a:endParaRPr lang="en-IN" sz="1400" u="sng" kern="0">
              <a:solidFill>
                <a:sysClr val="windowText" lastClr="000000"/>
              </a:solidFill>
              <a:latin typeface="Calibri"/>
              <a:ea typeface="Calibri"/>
              <a:cs typeface="Calibri"/>
            </a:endParaRPr>
          </a:p>
          <a:p>
            <a:endParaRPr lang="en-IN" sz="1400" b="1" dirty="0">
              <a:latin typeface="Calibri" panose="020F0502020204030204" pitchFamily="34" charset="0"/>
              <a:ea typeface="Calibri" panose="020F0502020204030204" pitchFamily="34" charset="0"/>
              <a:cs typeface="Calibri" panose="020F0502020204030204" pitchFamily="34" charset="0"/>
            </a:endParaRPr>
          </a:p>
          <a:p>
            <a:endParaRPr lang="en-IN" sz="1400" b="1" dirty="0">
              <a:latin typeface="Calibri" panose="020F0502020204030204" pitchFamily="34" charset="0"/>
              <a:ea typeface="Calibri" panose="020F0502020204030204" pitchFamily="34" charset="0"/>
              <a:cs typeface="Calibri" panose="020F0502020204030204" pitchFamily="34" charset="0"/>
            </a:endParaRPr>
          </a:p>
          <a:p>
            <a:r>
              <a:rPr lang="en-IN" sz="1100" dirty="0">
                <a:latin typeface="Calibri" panose="020F0502020204030204" pitchFamily="34" charset="0"/>
                <a:ea typeface="Calibri" panose="020F0502020204030204" pitchFamily="34" charset="0"/>
                <a:cs typeface="Calibri" panose="020F0502020204030204" pitchFamily="34" charset="0"/>
              </a:rPr>
              <a:t>[1] C. Venkatesan, P. </a:t>
            </a:r>
            <a:r>
              <a:rPr lang="en-IN" sz="1100" dirty="0" err="1">
                <a:latin typeface="Calibri" panose="020F0502020204030204" pitchFamily="34" charset="0"/>
                <a:ea typeface="Calibri" panose="020F0502020204030204" pitchFamily="34" charset="0"/>
                <a:cs typeface="Calibri" panose="020F0502020204030204" pitchFamily="34" charset="0"/>
              </a:rPr>
              <a:t>Karthigaikumar</a:t>
            </a:r>
            <a:r>
              <a:rPr lang="en-IN" sz="1100" dirty="0">
                <a:latin typeface="Calibri" panose="020F0502020204030204" pitchFamily="34" charset="0"/>
                <a:ea typeface="Calibri" panose="020F0502020204030204" pitchFamily="34" charset="0"/>
                <a:cs typeface="Calibri" panose="020F0502020204030204" pitchFamily="34" charset="0"/>
              </a:rPr>
              <a:t>, and R. Varatharajan, "FPGA implementation of modified error normalized LMS adaptive filter for ECG noise removal," Cluster Computing, vol. 22, pp. S12233–S12241, 2019. DOI: 10.1007/s10586-017-1602-0</a:t>
            </a:r>
          </a:p>
          <a:p>
            <a:r>
              <a:rPr lang="en-IN" sz="1100" dirty="0">
                <a:latin typeface="Calibri" panose="020F0502020204030204" pitchFamily="34" charset="0"/>
                <a:ea typeface="Calibri" panose="020F0502020204030204" pitchFamily="34" charset="0"/>
                <a:cs typeface="Calibri" panose="020F0502020204030204" pitchFamily="34" charset="0"/>
              </a:rPr>
              <a:t>[2] K. M. Chang and S. H. Liu, "Gaussian noise filtering from ECG by Wiener filter and ensemble empirical mode decomposition," Journal of Signal Processing Systems, vol. 64, pp. 249–264, 2011.</a:t>
            </a:r>
          </a:p>
          <a:p>
            <a:r>
              <a:rPr lang="en-IN" sz="1100" dirty="0">
                <a:latin typeface="Calibri" panose="020F0502020204030204" pitchFamily="34" charset="0"/>
                <a:ea typeface="Calibri" panose="020F0502020204030204" pitchFamily="34" charset="0"/>
                <a:cs typeface="Calibri" panose="020F0502020204030204" pitchFamily="34" charset="0"/>
              </a:rPr>
              <a:t>[3] O. Sayadi and M. B. </a:t>
            </a:r>
            <a:r>
              <a:rPr lang="en-IN" sz="1100" dirty="0" err="1">
                <a:latin typeface="Calibri" panose="020F0502020204030204" pitchFamily="34" charset="0"/>
                <a:ea typeface="Calibri" panose="020F0502020204030204" pitchFamily="34" charset="0"/>
                <a:cs typeface="Calibri" panose="020F0502020204030204" pitchFamily="34" charset="0"/>
              </a:rPr>
              <a:t>Shamsollahi</a:t>
            </a:r>
            <a:r>
              <a:rPr lang="en-IN" sz="1100" dirty="0">
                <a:latin typeface="Calibri" panose="020F0502020204030204" pitchFamily="34" charset="0"/>
                <a:ea typeface="Calibri" panose="020F0502020204030204" pitchFamily="34" charset="0"/>
                <a:cs typeface="Calibri" panose="020F0502020204030204" pitchFamily="34" charset="0"/>
              </a:rPr>
              <a:t>, "ECG denoising and compression using a modified extended Kalman filter structure," IEEE Transactions on Biomedical Engineering, vol. 55, no. 9, pp. 2240–2248, 2008.</a:t>
            </a:r>
          </a:p>
          <a:p>
            <a:r>
              <a:rPr lang="en-IN" sz="1100" dirty="0">
                <a:latin typeface="Calibri" panose="020F0502020204030204" pitchFamily="34" charset="0"/>
                <a:ea typeface="Calibri" panose="020F0502020204030204" pitchFamily="34" charset="0"/>
                <a:cs typeface="Calibri" panose="020F0502020204030204" pitchFamily="34" charset="0"/>
              </a:rPr>
              <a:t>[4] A. </a:t>
            </a:r>
            <a:r>
              <a:rPr lang="en-IN" sz="1100" dirty="0" err="1">
                <a:latin typeface="Calibri" panose="020F0502020204030204" pitchFamily="34" charset="0"/>
                <a:ea typeface="Calibri" panose="020F0502020204030204" pitchFamily="34" charset="0"/>
                <a:cs typeface="Calibri" panose="020F0502020204030204" pitchFamily="34" charset="0"/>
              </a:rPr>
              <a:t>Elhossini</a:t>
            </a:r>
            <a:r>
              <a:rPr lang="en-IN" sz="1100" dirty="0">
                <a:latin typeface="Calibri" panose="020F0502020204030204" pitchFamily="34" charset="0"/>
                <a:ea typeface="Calibri" panose="020F0502020204030204" pitchFamily="34" charset="0"/>
                <a:cs typeface="Calibri" panose="020F0502020204030204" pitchFamily="34" charset="0"/>
              </a:rPr>
              <a:t>, S. </a:t>
            </a:r>
            <a:r>
              <a:rPr lang="en-IN" sz="1100" dirty="0" err="1">
                <a:latin typeface="Calibri" panose="020F0502020204030204" pitchFamily="34" charset="0"/>
                <a:ea typeface="Calibri" panose="020F0502020204030204" pitchFamily="34" charset="0"/>
                <a:cs typeface="Calibri" panose="020F0502020204030204" pitchFamily="34" charset="0"/>
              </a:rPr>
              <a:t>Areibi</a:t>
            </a:r>
            <a:r>
              <a:rPr lang="en-IN" sz="1100" dirty="0">
                <a:latin typeface="Calibri" panose="020F0502020204030204" pitchFamily="34" charset="0"/>
                <a:ea typeface="Calibri" panose="020F0502020204030204" pitchFamily="34" charset="0"/>
                <a:cs typeface="Calibri" panose="020F0502020204030204" pitchFamily="34" charset="0"/>
              </a:rPr>
              <a:t>, and R. Dony, "An FPGA implementation of the LMS adaptive filter for audio processing," in Proc. IEEE International Conference on Reconfigurable Computing and FPGAs, pp. 1–8, 2006.</a:t>
            </a:r>
          </a:p>
          <a:p>
            <a:r>
              <a:rPr lang="en-IN" sz="1100">
                <a:latin typeface="Calibri"/>
                <a:ea typeface="Calibri"/>
                <a:cs typeface="Calibri"/>
              </a:rPr>
              <a:t>[5] L. Ting, R. Woods, and C. Cowan, "</a:t>
            </a:r>
            <a:r>
              <a:rPr lang="en-IN" sz="1100" err="1">
                <a:latin typeface="Calibri"/>
                <a:ea typeface="Calibri"/>
                <a:cs typeface="Calibri"/>
              </a:rPr>
              <a:t>Virtex</a:t>
            </a:r>
            <a:r>
              <a:rPr lang="en-IN" sz="1100">
                <a:latin typeface="Calibri"/>
                <a:ea typeface="Calibri"/>
                <a:cs typeface="Calibri"/>
              </a:rPr>
              <a:t> FPGA implementation of a pipelined adaptive LMS predictor for electronic support measures receivers," IEEE Transactions on Very </a:t>
            </a:r>
            <a:r>
              <a:rPr lang="en-IN" sz="1100" err="1">
                <a:latin typeface="Calibri"/>
                <a:ea typeface="Calibri"/>
                <a:cs typeface="Calibri"/>
              </a:rPr>
              <a:t>Large Scale</a:t>
            </a:r>
            <a:r>
              <a:rPr lang="en-IN" sz="1100">
                <a:latin typeface="Calibri"/>
                <a:ea typeface="Calibri"/>
                <a:cs typeface="Calibri"/>
              </a:rPr>
              <a:t> Integration (VLSI) Systems, vol. 13, no. 1, pp. 86–95, 2005.</a:t>
            </a:r>
          </a:p>
          <a:p>
            <a:r>
              <a:rPr lang="en-IN" sz="1100" dirty="0">
                <a:latin typeface="Calibri" panose="020F0502020204030204" pitchFamily="34" charset="0"/>
                <a:ea typeface="Calibri" panose="020F0502020204030204" pitchFamily="34" charset="0"/>
                <a:cs typeface="Calibri" panose="020F0502020204030204" pitchFamily="34" charset="0"/>
              </a:rPr>
              <a:t>[6] S. </a:t>
            </a:r>
            <a:r>
              <a:rPr lang="en-IN" sz="1100" dirty="0" err="1">
                <a:latin typeface="Calibri" panose="020F0502020204030204" pitchFamily="34" charset="0"/>
                <a:ea typeface="Calibri" panose="020F0502020204030204" pitchFamily="34" charset="0"/>
                <a:cs typeface="Calibri" panose="020F0502020204030204" pitchFamily="34" charset="0"/>
              </a:rPr>
              <a:t>Satheeskumaran</a:t>
            </a:r>
            <a:r>
              <a:rPr lang="en-IN" sz="1100" dirty="0">
                <a:latin typeface="Calibri" panose="020F0502020204030204" pitchFamily="34" charset="0"/>
                <a:ea typeface="Calibri" panose="020F0502020204030204" pitchFamily="34" charset="0"/>
                <a:cs typeface="Calibri" panose="020F0502020204030204" pitchFamily="34" charset="0"/>
              </a:rPr>
              <a:t> and M. </a:t>
            </a:r>
            <a:r>
              <a:rPr lang="en-IN" sz="1100" dirty="0" err="1">
                <a:latin typeface="Calibri" panose="020F0502020204030204" pitchFamily="34" charset="0"/>
                <a:ea typeface="Calibri" panose="020F0502020204030204" pitchFamily="34" charset="0"/>
                <a:cs typeface="Calibri" panose="020F0502020204030204" pitchFamily="34" charset="0"/>
              </a:rPr>
              <a:t>Sabrigiriraj</a:t>
            </a:r>
            <a:r>
              <a:rPr lang="en-IN" sz="1100" dirty="0">
                <a:latin typeface="Calibri" panose="020F0502020204030204" pitchFamily="34" charset="0"/>
                <a:ea typeface="Calibri" panose="020F0502020204030204" pitchFamily="34" charset="0"/>
                <a:cs typeface="Calibri" panose="020F0502020204030204" pitchFamily="34" charset="0"/>
              </a:rPr>
              <a:t>, "VLSI implementation of a new LMS based algorithm for noise removal in ECG signal," International Journal of Electronics, vol. 103, pp. 975–984, 2016.</a:t>
            </a:r>
          </a:p>
          <a:p>
            <a:r>
              <a:rPr lang="en-IN" sz="1100" dirty="0">
                <a:latin typeface="Calibri" panose="020F0502020204030204" pitchFamily="34" charset="0"/>
                <a:ea typeface="Calibri" panose="020F0502020204030204" pitchFamily="34" charset="0"/>
                <a:cs typeface="Calibri" panose="020F0502020204030204" pitchFamily="34" charset="0"/>
              </a:rPr>
              <a:t>[7] S. Mullins and C. Heneghan, "Alternative least mean square adaptive filter architectures for implementation on field programmable gate arrays," in Proc. 11th IEEE European Conference on Signal Processing, pp. 1–4, 2002.</a:t>
            </a:r>
            <a:endParaRPr lang="en-IN" sz="1100" b="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9345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1CA5C19-AB04-429B-94E6-7821C36A9D28}"/>
              </a:ext>
            </a:extLst>
          </p:cNvPr>
          <p:cNvSpPr txBox="1"/>
          <p:nvPr/>
        </p:nvSpPr>
        <p:spPr>
          <a:xfrm>
            <a:off x="1160780" y="577126"/>
            <a:ext cx="5740400" cy="909673"/>
          </a:xfrm>
          <a:prstGeom prst="rect">
            <a:avLst/>
          </a:prstGeom>
        </p:spPr>
        <p:txBody>
          <a:bodyPr lIns="0" tIns="13335"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100"/>
              </a:spcBef>
            </a:pPr>
            <a:r>
              <a:rPr lang="en-US" altLang="en-US" sz="1400" b="1" dirty="0">
                <a:solidFill>
                  <a:srgbClr val="2D75B6"/>
                </a:solidFill>
                <a:latin typeface="Times New Roman" panose="02020603050405020304" pitchFamily="18" charset="0"/>
                <a:cs typeface="Times New Roman" panose="02020603050405020304" pitchFamily="18" charset="0"/>
              </a:rPr>
              <a:t>A.2</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Tools</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Used</a:t>
            </a:r>
            <a:endParaRPr lang="en-US" altLang="en-US" sz="1400" dirty="0">
              <a:solidFill>
                <a:srgbClr val="000000"/>
              </a:solidFill>
              <a:latin typeface="Times New Roman" panose="02020603050405020304" pitchFamily="18" charset="0"/>
              <a:cs typeface="Times New Roman" panose="02020603050405020304" pitchFamily="18" charset="0"/>
            </a:endParaRPr>
          </a:p>
          <a:p>
            <a:pPr eaLnBrk="1" hangingPunct="1">
              <a:lnSpc>
                <a:spcPct val="136000"/>
              </a:lnSpc>
              <a:spcBef>
                <a:spcPts val="800"/>
              </a:spcBef>
            </a:pPr>
            <a:endParaRPr lang="en-US" altLang="en-US" sz="1200" dirty="0">
              <a:solidFill>
                <a:srgbClr val="000000"/>
              </a:solidFill>
              <a:latin typeface="Times New Roman" panose="02020603050405020304" pitchFamily="18" charset="0"/>
              <a:cs typeface="Times New Roman" panose="02020603050405020304" pitchFamily="18" charset="0"/>
            </a:endParaRPr>
          </a:p>
          <a:p>
            <a:pPr eaLnBrk="1" hangingPunct="1">
              <a:lnSpc>
                <a:spcPct val="136000"/>
              </a:lnSpc>
              <a:spcBef>
                <a:spcPts val="800"/>
              </a:spcBef>
            </a:pPr>
            <a:endParaRPr lang="en-US" altLang="en-US" sz="1200" dirty="0">
              <a:solidFill>
                <a:srgbClr val="000000"/>
              </a:solidFill>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4A432666-3333-ADD6-8189-16D74FECAD76}"/>
              </a:ext>
            </a:extLst>
          </p:cNvPr>
          <p:cNvSpPr txBox="1"/>
          <p:nvPr/>
        </p:nvSpPr>
        <p:spPr>
          <a:xfrm>
            <a:off x="1133701" y="6629400"/>
            <a:ext cx="5738813" cy="1870384"/>
          </a:xfrm>
          <a:prstGeom prst="rect">
            <a:avLst/>
          </a:prstGeom>
        </p:spPr>
        <p:txBody>
          <a:bodyPr lIns="0" tIns="13335" rIns="0" bIns="0">
            <a:spAutoFit/>
          </a:bodyPr>
          <a:lstStyle>
            <a:lvl1pPr marL="12700" indent="455613">
              <a:tabLst>
                <a:tab pos="361950" algn="l"/>
              </a:tabLst>
              <a:defRPr>
                <a:solidFill>
                  <a:schemeClr val="tx1"/>
                </a:solidFill>
                <a:latin typeface="Arial" panose="020B0604020202020204" pitchFamily="34" charset="0"/>
              </a:defRPr>
            </a:lvl1pPr>
            <a:lvl2pPr marL="361950" indent="-349250">
              <a:tabLst>
                <a:tab pos="361950" algn="l"/>
              </a:tabLst>
              <a:defRPr>
                <a:solidFill>
                  <a:schemeClr val="tx1"/>
                </a:solidFill>
                <a:latin typeface="Arial" panose="020B0604020202020204" pitchFamily="34" charset="0"/>
              </a:defRPr>
            </a:lvl2pPr>
            <a:lvl3pPr marL="468313" indent="-228600">
              <a:tabLst>
                <a:tab pos="361950" algn="l"/>
              </a:tabLst>
              <a:defRPr>
                <a:solidFill>
                  <a:schemeClr val="tx1"/>
                </a:solidFill>
                <a:latin typeface="Arial" panose="020B0604020202020204" pitchFamily="34" charset="0"/>
              </a:defRPr>
            </a:lvl3pPr>
            <a:lvl4pPr marL="1600200" indent="-228600">
              <a:tabLst>
                <a:tab pos="361950" algn="l"/>
              </a:tabLst>
              <a:defRPr>
                <a:solidFill>
                  <a:schemeClr val="tx1"/>
                </a:solidFill>
                <a:latin typeface="Arial" panose="020B0604020202020204" pitchFamily="34" charset="0"/>
              </a:defRPr>
            </a:lvl4pPr>
            <a:lvl5pPr marL="2057400" indent="-228600">
              <a:tabLst>
                <a:tab pos="36195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6195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6195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6195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61950" algn="l"/>
              </a:tabLst>
              <a:defRPr>
                <a:solidFill>
                  <a:schemeClr val="tx1"/>
                </a:solidFill>
                <a:latin typeface="Arial" panose="020B0604020202020204" pitchFamily="34" charset="0"/>
              </a:defRPr>
            </a:lvl9pPr>
          </a:lstStyle>
          <a:p>
            <a:pPr lvl="1" eaLnBrk="1" hangingPunct="1">
              <a:spcBef>
                <a:spcPts val="100"/>
              </a:spcBef>
              <a:buFontTx/>
              <a:buAutoNum type="arabicPeriod" startAt="3"/>
            </a:pPr>
            <a:r>
              <a:rPr lang="en-US" altLang="en-US" sz="1400" b="1" dirty="0">
                <a:solidFill>
                  <a:srgbClr val="2D75B6"/>
                </a:solidFill>
                <a:latin typeface="Times New Roman" panose="02020603050405020304" pitchFamily="18" charset="0"/>
                <a:cs typeface="Times New Roman" panose="02020603050405020304" pitchFamily="18" charset="0"/>
              </a:rPr>
              <a:t>Additional</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Supporting</a:t>
            </a:r>
            <a:r>
              <a:rPr lang="en-US" altLang="en-US" sz="1400" dirty="0">
                <a:solidFill>
                  <a:srgbClr val="2D75B6"/>
                </a:solidFill>
                <a:latin typeface="Times New Roman" panose="02020603050405020304" pitchFamily="18" charset="0"/>
                <a:cs typeface="Times New Roman" panose="02020603050405020304" pitchFamily="18" charset="0"/>
              </a:rPr>
              <a:t> </a:t>
            </a:r>
            <a:r>
              <a:rPr lang="en-US" altLang="en-US" sz="1400" b="1" dirty="0">
                <a:solidFill>
                  <a:srgbClr val="2D75B6"/>
                </a:solidFill>
                <a:latin typeface="Times New Roman" panose="02020603050405020304" pitchFamily="18" charset="0"/>
                <a:cs typeface="Times New Roman" panose="02020603050405020304" pitchFamily="18" charset="0"/>
              </a:rPr>
              <a:t>Data</a:t>
            </a:r>
          </a:p>
          <a:p>
            <a:pPr lvl="1" eaLnBrk="1" hangingPunct="1">
              <a:spcBef>
                <a:spcPts val="100"/>
              </a:spcBef>
              <a:buFontTx/>
              <a:buAutoNum type="arabicPeriod" startAt="3"/>
            </a:pPr>
            <a:endParaRPr lang="en-US" altLang="en-US" sz="1400" b="1" dirty="0">
              <a:solidFill>
                <a:srgbClr val="2D75B6"/>
              </a:solidFill>
              <a:latin typeface="Times New Roman" panose="02020603050405020304" pitchFamily="18" charset="0"/>
              <a:cs typeface="Times New Roman" panose="02020603050405020304" pitchFamily="18" charset="0"/>
            </a:endParaRPr>
          </a:p>
          <a:p>
            <a:pPr lvl="1" eaLnBrk="1" hangingPunct="1">
              <a:spcBef>
                <a:spcPts val="100"/>
              </a:spcBef>
              <a:buFontTx/>
              <a:buAutoNum type="arabicPeriod" startAt="3"/>
            </a:pPr>
            <a:endParaRPr lang="en-US" altLang="en-US" sz="1400" dirty="0">
              <a:solidFill>
                <a:srgbClr val="000000"/>
              </a:solidFill>
              <a:latin typeface="Times New Roman" panose="02020603050405020304" pitchFamily="18" charset="0"/>
              <a:cs typeface="Times New Roman" panose="02020603050405020304" pitchFamily="18" charset="0"/>
            </a:endParaRPr>
          </a:p>
          <a:p>
            <a:r>
              <a:rPr lang="en-IN" sz="1100" b="1" dirty="0">
                <a:latin typeface="Calibri" panose="020F0502020204030204" pitchFamily="34" charset="0"/>
                <a:ea typeface="Calibri" panose="020F0502020204030204" pitchFamily="34" charset="0"/>
                <a:cs typeface="Calibri" panose="020F0502020204030204" pitchFamily="34" charset="0"/>
              </a:rPr>
              <a:t>Convergence Condition:</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a:latin typeface="Calibri" panose="020F0502020204030204" pitchFamily="34" charset="0"/>
                <a:ea typeface="Calibri" panose="020F0502020204030204" pitchFamily="34" charset="0"/>
                <a:cs typeface="Calibri" panose="020F0502020204030204" pitchFamily="34" charset="0"/>
              </a:rPr>
              <a:t>The DENLMS filter is stable when the normalized step size </a:t>
            </a:r>
            <a:r>
              <a:rPr lang="el-GR" sz="1100" dirty="0">
                <a:latin typeface="Calibri" panose="020F0502020204030204" pitchFamily="34" charset="0"/>
                <a:ea typeface="Calibri" panose="020F0502020204030204" pitchFamily="34" charset="0"/>
                <a:cs typeface="Calibri" panose="020F0502020204030204" pitchFamily="34" charset="0"/>
              </a:rPr>
              <a:t>μ</a:t>
            </a:r>
            <a:r>
              <a:rPr lang="en-IN" sz="1100" dirty="0">
                <a:latin typeface="Calibri" panose="020F0502020204030204" pitchFamily="34" charset="0"/>
                <a:ea typeface="Calibri" panose="020F0502020204030204" pitchFamily="34" charset="0"/>
                <a:cs typeface="Calibri" panose="020F0502020204030204" pitchFamily="34" charset="0"/>
              </a:rPr>
              <a:t>ₑₙ lies within (0, </a:t>
            </a:r>
            <a:r>
              <a:rPr lang="el-GR" sz="1100" dirty="0">
                <a:latin typeface="Calibri" panose="020F0502020204030204" pitchFamily="34" charset="0"/>
                <a:ea typeface="Calibri" panose="020F0502020204030204" pitchFamily="34" charset="0"/>
                <a:cs typeface="Calibri" panose="020F0502020204030204" pitchFamily="34" charset="0"/>
              </a:rPr>
              <a:t>μ). </a:t>
            </a:r>
            <a:r>
              <a:rPr lang="en-IN" sz="1100" dirty="0">
                <a:latin typeface="Calibri" panose="020F0502020204030204" pitchFamily="34" charset="0"/>
                <a:ea typeface="Calibri" panose="020F0502020204030204" pitchFamily="34" charset="0"/>
                <a:cs typeface="Calibri" panose="020F0502020204030204" pitchFamily="34" charset="0"/>
              </a:rPr>
              <a:t>A small positive parameter </a:t>
            </a:r>
            <a:r>
              <a:rPr lang="en-IN" sz="1100" i="1" dirty="0">
                <a:latin typeface="Calibri" panose="020F0502020204030204" pitchFamily="34" charset="0"/>
                <a:ea typeface="Calibri" panose="020F0502020204030204" pitchFamily="34" charset="0"/>
                <a:cs typeface="Calibri" panose="020F0502020204030204" pitchFamily="34" charset="0"/>
              </a:rPr>
              <a:t>p</a:t>
            </a:r>
            <a:r>
              <a:rPr lang="en-IN" sz="1100" dirty="0">
                <a:latin typeface="Calibri" panose="020F0502020204030204" pitchFamily="34" charset="0"/>
                <a:ea typeface="Calibri" panose="020F0502020204030204" pitchFamily="34" charset="0"/>
                <a:cs typeface="Calibri" panose="020F0502020204030204" pitchFamily="34" charset="0"/>
              </a:rPr>
              <a:t> ensures stability under all conditions.</a:t>
            </a:r>
          </a:p>
          <a:p>
            <a:endParaRPr lang="en-IN" sz="1100" dirty="0">
              <a:latin typeface="Calibri" panose="020F0502020204030204" pitchFamily="34" charset="0"/>
              <a:ea typeface="Calibri" panose="020F0502020204030204" pitchFamily="34" charset="0"/>
              <a:cs typeface="Calibri" panose="020F0502020204030204" pitchFamily="34" charset="0"/>
            </a:endParaRPr>
          </a:p>
          <a:p>
            <a:r>
              <a:rPr lang="en-IN" sz="1100" b="1" dirty="0">
                <a:latin typeface="Calibri" panose="020F0502020204030204" pitchFamily="34" charset="0"/>
                <a:ea typeface="Calibri" panose="020F0502020204030204" pitchFamily="34" charset="0"/>
                <a:cs typeface="Calibri" panose="020F0502020204030204" pitchFamily="34" charset="0"/>
              </a:rPr>
              <a:t>Pipeline Stage Count:</a:t>
            </a:r>
            <a:br>
              <a:rPr lang="en-IN" sz="1100" dirty="0">
                <a:latin typeface="Calibri" panose="020F0502020204030204" pitchFamily="34" charset="0"/>
                <a:ea typeface="Calibri" panose="020F0502020204030204" pitchFamily="34" charset="0"/>
                <a:cs typeface="Calibri" panose="020F0502020204030204" pitchFamily="34" charset="0"/>
              </a:rPr>
            </a:br>
            <a:r>
              <a:rPr lang="en-IN" sz="1100" dirty="0" err="1">
                <a:latin typeface="Calibri" panose="020F0502020204030204" pitchFamily="34" charset="0"/>
                <a:ea typeface="Calibri" panose="020F0502020204030204" pitchFamily="34" charset="0"/>
                <a:cs typeface="Calibri" panose="020F0502020204030204" pitchFamily="34" charset="0"/>
              </a:rPr>
              <a:t>Dₒpt</a:t>
            </a:r>
            <a:r>
              <a:rPr lang="en-IN" sz="1100" dirty="0">
                <a:latin typeface="Calibri" panose="020F0502020204030204" pitchFamily="34" charset="0"/>
                <a:ea typeface="Calibri" panose="020F0502020204030204" pitchFamily="34" charset="0"/>
                <a:cs typeface="Calibri" panose="020F0502020204030204" pitchFamily="34" charset="0"/>
              </a:rPr>
              <a:t> = 2×log₂(16) + log₂(4) + 1 = </a:t>
            </a:r>
            <a:r>
              <a:rPr lang="en-IN" sz="1100" b="1" dirty="0">
                <a:latin typeface="Calibri" panose="020F0502020204030204" pitchFamily="34" charset="0"/>
                <a:ea typeface="Calibri" panose="020F0502020204030204" pitchFamily="34" charset="0"/>
                <a:cs typeface="Calibri" panose="020F0502020204030204" pitchFamily="34" charset="0"/>
              </a:rPr>
              <a:t>11 stages</a:t>
            </a:r>
            <a:r>
              <a:rPr lang="en-IN" sz="1100" dirty="0">
                <a:latin typeface="Calibri" panose="020F0502020204030204" pitchFamily="34" charset="0"/>
                <a:ea typeface="Calibri" panose="020F0502020204030204" pitchFamily="34" charset="0"/>
                <a:cs typeface="Calibri" panose="020F0502020204030204" pitchFamily="34" charset="0"/>
              </a:rPr>
              <a:t> for the given configuration.</a:t>
            </a:r>
          </a:p>
          <a:p>
            <a:endParaRPr lang="en-IN" sz="11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3DA4B5F5-154C-2FBB-AD14-2673FD59778B}"/>
              </a:ext>
            </a:extLst>
          </p:cNvPr>
          <p:cNvGraphicFramePr>
            <a:graphicFrameLocks noGrp="1"/>
          </p:cNvGraphicFramePr>
          <p:nvPr>
            <p:extLst>
              <p:ext uri="{D42A27DB-BD31-4B8C-83A1-F6EECF244321}">
                <p14:modId xmlns:p14="http://schemas.microsoft.com/office/powerpoint/2010/main" val="1037558381"/>
              </p:ext>
            </p:extLst>
          </p:nvPr>
        </p:nvGraphicFramePr>
        <p:xfrm>
          <a:off x="901700" y="1981200"/>
          <a:ext cx="5943600" cy="3907048"/>
        </p:xfrm>
        <a:graphic>
          <a:graphicData uri="http://schemas.openxmlformats.org/drawingml/2006/table">
            <a:tbl>
              <a:tblPr>
                <a:tableStyleId>{5940675A-B579-460E-94D1-54222C63F5DA}</a:tableStyleId>
              </a:tblPr>
              <a:tblGrid>
                <a:gridCol w="1778000">
                  <a:extLst>
                    <a:ext uri="{9D8B030D-6E8A-4147-A177-3AD203B41FA5}">
                      <a16:colId xmlns:a16="http://schemas.microsoft.com/office/drawing/2014/main" val="1302036292"/>
                    </a:ext>
                  </a:extLst>
                </a:gridCol>
                <a:gridCol w="1524000">
                  <a:extLst>
                    <a:ext uri="{9D8B030D-6E8A-4147-A177-3AD203B41FA5}">
                      <a16:colId xmlns:a16="http://schemas.microsoft.com/office/drawing/2014/main" val="967331005"/>
                    </a:ext>
                  </a:extLst>
                </a:gridCol>
                <a:gridCol w="1397000">
                  <a:extLst>
                    <a:ext uri="{9D8B030D-6E8A-4147-A177-3AD203B41FA5}">
                      <a16:colId xmlns:a16="http://schemas.microsoft.com/office/drawing/2014/main" val="2018030503"/>
                    </a:ext>
                  </a:extLst>
                </a:gridCol>
                <a:gridCol w="1244600">
                  <a:extLst>
                    <a:ext uri="{9D8B030D-6E8A-4147-A177-3AD203B41FA5}">
                      <a16:colId xmlns:a16="http://schemas.microsoft.com/office/drawing/2014/main" val="1357237397"/>
                    </a:ext>
                  </a:extLst>
                </a:gridCol>
              </a:tblGrid>
              <a:tr h="320320">
                <a:tc>
                  <a:txBody>
                    <a:bodyPr/>
                    <a:lstStyle/>
                    <a:p>
                      <a:pPr>
                        <a:buNone/>
                      </a:pPr>
                      <a:r>
                        <a:rPr lang="en-IN" sz="1200" b="1" dirty="0">
                          <a:effectLst/>
                        </a:rPr>
                        <a:t>Tool</a:t>
                      </a:r>
                      <a:endParaRPr lang="en-IN"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200" b="1">
                          <a:effectLst/>
                        </a:rPr>
                        <a:t>Purpose in Project</a:t>
                      </a:r>
                      <a:endParaRPr lang="en-IN" sz="12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200" b="1">
                          <a:effectLst/>
                        </a:rPr>
                        <a:t>Specific Use</a:t>
                      </a:r>
                      <a:endParaRPr lang="en-IN" sz="1200" b="1">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200" b="1" dirty="0">
                          <a:effectLst/>
                        </a:rPr>
                        <a:t>License/Version</a:t>
                      </a:r>
                      <a:endParaRPr lang="en-IN" sz="12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08266514"/>
                  </a:ext>
                </a:extLst>
              </a:tr>
              <a:tr h="597788">
                <a:tc>
                  <a:txBody>
                    <a:bodyPr/>
                    <a:lstStyle/>
                    <a:p>
                      <a:pPr>
                        <a:buNone/>
                      </a:pPr>
                      <a:r>
                        <a:rPr lang="en-IN" sz="1100" dirty="0" err="1">
                          <a:effectLst/>
                        </a:rPr>
                        <a:t>ModelSim</a:t>
                      </a:r>
                      <a:r>
                        <a:rPr lang="en-IN" sz="1100" dirty="0">
                          <a:effectLst/>
                        </a:rPr>
                        <a:t> (Mentor Graphics)</a:t>
                      </a:r>
                      <a:endParaRPr lang="en-IN"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dirty="0">
                          <a:effectLst/>
                        </a:rPr>
                        <a:t>Functional simulation of Verilog HDL</a:t>
                      </a:r>
                      <a:endParaRPr lang="en-IN"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ECG filter behavioral simulation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dirty="0">
                          <a:effectLst/>
                        </a:rPr>
                        <a:t>Student/Academic License</a:t>
                      </a:r>
                      <a:endParaRPr lang="en-IN"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00694644"/>
                  </a:ext>
                </a:extLst>
              </a:tr>
              <a:tr h="597788">
                <a:tc>
                  <a:txBody>
                    <a:bodyPr/>
                    <a:lstStyle/>
                    <a:p>
                      <a:pPr>
                        <a:buNone/>
                      </a:pPr>
                      <a:r>
                        <a:rPr lang="en-IN" sz="1100">
                          <a:effectLst/>
                        </a:rPr>
                        <a:t>Xilinx ISE Design Suite</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dirty="0">
                          <a:effectLst/>
                        </a:rPr>
                        <a:t>FPGA synthesis, P&amp;R, implementation</a:t>
                      </a:r>
                      <a:endParaRPr lang="en-IN"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Virtex 5 FPGA targeting</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Free WebPACK Edition</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42186107"/>
                  </a:ext>
                </a:extLst>
              </a:tr>
              <a:tr h="597788">
                <a:tc>
                  <a:txBody>
                    <a:bodyPr/>
                    <a:lstStyle/>
                    <a:p>
                      <a:pPr>
                        <a:buNone/>
                      </a:pPr>
                      <a:r>
                        <a:rPr lang="en-IN" sz="1100">
                          <a:effectLst/>
                        </a:rPr>
                        <a:t>Xilinx Synthesis Tool (XST)</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RTL to gate-level netlist conversion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RTL schematic generation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Included in Xilinx ISE</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46605874"/>
                  </a:ext>
                </a:extLst>
              </a:tr>
              <a:tr h="597788">
                <a:tc>
                  <a:txBody>
                    <a:bodyPr/>
                    <a:lstStyle/>
                    <a:p>
                      <a:pPr>
                        <a:buNone/>
                      </a:pPr>
                      <a:r>
                        <a:rPr lang="en-IN" sz="1100">
                          <a:effectLst/>
                        </a:rPr>
                        <a:t>Virtex 5 FPGA XC5LVX330</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Target FPGA chip for implementation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Logic, timing, power analysis</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Physical hardware target</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68687794"/>
                  </a:ext>
                </a:extLst>
              </a:tr>
              <a:tr h="597788">
                <a:tc>
                  <a:txBody>
                    <a:bodyPr/>
                    <a:lstStyle/>
                    <a:p>
                      <a:pPr>
                        <a:buNone/>
                      </a:pPr>
                      <a:r>
                        <a:rPr lang="en-IN" sz="1100">
                          <a:effectLst/>
                        </a:rPr>
                        <a:t>Microsoft Visio</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Block &amp; architecture diagram creation</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Block diagram, architecture figure</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Office 365 / Standalone</a:t>
                      </a:r>
                      <a:endParaRPr lang="en-IN"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701847625"/>
                  </a:ext>
                </a:extLst>
              </a:tr>
              <a:tr h="597788">
                <a:tc>
                  <a:txBody>
                    <a:bodyPr/>
                    <a:lstStyle/>
                    <a:p>
                      <a:pPr>
                        <a:buNone/>
                      </a:pPr>
                      <a:r>
                        <a:rPr lang="en-IN" sz="1100">
                          <a:effectLst/>
                        </a:rPr>
                        <a:t>Verilog HDL</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Hardware description language</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a:effectLst/>
                        </a:rPr>
                        <a:t>DENLMS filter coding</a:t>
                      </a:r>
                      <a:endParaRPr lang="en-IN"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buNone/>
                      </a:pPr>
                      <a:r>
                        <a:rPr lang="en-IN" sz="1100" dirty="0">
                          <a:effectLst/>
                        </a:rPr>
                        <a:t>IEEE 1364-2005 standard</a:t>
                      </a:r>
                      <a:endParaRPr lang="en-IN"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6141483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628D418-F2D7-5E86-46FC-1FB600B9FB1E}"/>
              </a:ext>
            </a:extLst>
          </p:cNvPr>
          <p:cNvSpPr txBox="1"/>
          <p:nvPr/>
        </p:nvSpPr>
        <p:spPr>
          <a:xfrm>
            <a:off x="1358900" y="841375"/>
            <a:ext cx="5449888" cy="1356140"/>
          </a:xfrm>
          <a:prstGeom prst="rect">
            <a:avLst/>
          </a:prstGeom>
        </p:spPr>
        <p:txBody>
          <a:bodyPr lIns="0" tIns="62865" rIns="0" bIns="0">
            <a:spAutoFit/>
          </a:bodyPr>
          <a:lstStyle>
            <a:lvl1pPr marL="241300" indent="-228600">
              <a:tabLst>
                <a:tab pos="239713" algn="l"/>
                <a:tab pos="241300" algn="l"/>
              </a:tabLst>
              <a:defRPr>
                <a:solidFill>
                  <a:schemeClr val="tx1"/>
                </a:solidFill>
                <a:latin typeface="Arial" panose="020B0604020202020204" pitchFamily="34" charset="0"/>
              </a:defRPr>
            </a:lvl1pPr>
            <a:lvl2pPr marL="742950" indent="-285750">
              <a:tabLst>
                <a:tab pos="239713" algn="l"/>
                <a:tab pos="241300" algn="l"/>
              </a:tabLst>
              <a:defRPr>
                <a:solidFill>
                  <a:schemeClr val="tx1"/>
                </a:solidFill>
                <a:latin typeface="Arial" panose="020B0604020202020204" pitchFamily="34" charset="0"/>
              </a:defRPr>
            </a:lvl2pPr>
            <a:lvl3pPr marL="1143000" indent="-228600">
              <a:tabLst>
                <a:tab pos="239713" algn="l"/>
                <a:tab pos="241300" algn="l"/>
              </a:tabLst>
              <a:defRPr>
                <a:solidFill>
                  <a:schemeClr val="tx1"/>
                </a:solidFill>
                <a:latin typeface="Arial" panose="020B0604020202020204" pitchFamily="34" charset="0"/>
              </a:defRPr>
            </a:lvl3pPr>
            <a:lvl4pPr marL="1600200" indent="-228600">
              <a:tabLst>
                <a:tab pos="239713" algn="l"/>
                <a:tab pos="241300" algn="l"/>
              </a:tabLst>
              <a:defRPr>
                <a:solidFill>
                  <a:schemeClr val="tx1"/>
                </a:solidFill>
                <a:latin typeface="Arial" panose="020B0604020202020204" pitchFamily="34" charset="0"/>
              </a:defRPr>
            </a:lvl4pPr>
            <a:lvl5pPr marL="2057400" indent="-228600">
              <a:tabLst>
                <a:tab pos="239713" algn="l"/>
                <a:tab pos="2413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39713" algn="l"/>
                <a:tab pos="2413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39713" algn="l"/>
                <a:tab pos="2413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39713" algn="l"/>
                <a:tab pos="2413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39713" algn="l"/>
                <a:tab pos="241300" algn="l"/>
              </a:tabLst>
              <a:defRPr>
                <a:solidFill>
                  <a:schemeClr val="tx1"/>
                </a:solidFill>
                <a:latin typeface="Arial" panose="020B0604020202020204" pitchFamily="34" charset="0"/>
              </a:defRPr>
            </a:lvl9pPr>
          </a:lstStyle>
          <a:p>
            <a:r>
              <a:rPr lang="en-IN" sz="1200" b="1" dirty="0">
                <a:latin typeface="Calibri" panose="020F0502020204030204" pitchFamily="34" charset="0"/>
                <a:ea typeface="Calibri" panose="020F0502020204030204" pitchFamily="34" charset="0"/>
                <a:cs typeface="Calibri" panose="020F0502020204030204" pitchFamily="34" charset="0"/>
              </a:rPr>
              <a:t>Target Device:</a:t>
            </a:r>
            <a:br>
              <a:rPr lang="en-IN" sz="1200" dirty="0">
                <a:latin typeface="Calibri" panose="020F0502020204030204" pitchFamily="34" charset="0"/>
                <a:ea typeface="Calibri" panose="020F0502020204030204" pitchFamily="34" charset="0"/>
                <a:cs typeface="Calibri" panose="020F0502020204030204" pitchFamily="34" charset="0"/>
              </a:rPr>
            </a:br>
            <a:r>
              <a:rPr lang="en-IN" sz="1200" dirty="0">
                <a:latin typeface="Calibri" panose="020F0502020204030204" pitchFamily="34" charset="0"/>
                <a:ea typeface="Calibri" panose="020F0502020204030204" pitchFamily="34" charset="0"/>
                <a:cs typeface="Calibri" panose="020F0502020204030204" pitchFamily="34" charset="0"/>
              </a:rPr>
              <a:t>Virtex-5 XC5LVX330 FPGA with high logic capacity, DSP slices, and support for high-frequency operation (&gt;500 MHz).</a:t>
            </a:r>
          </a:p>
          <a:p>
            <a:endParaRPr lang="en-IN" sz="1200" dirty="0">
              <a:latin typeface="Calibri" panose="020F0502020204030204" pitchFamily="34" charset="0"/>
              <a:ea typeface="Calibri" panose="020F0502020204030204" pitchFamily="34" charset="0"/>
              <a:cs typeface="Calibri" panose="020F0502020204030204" pitchFamily="34" charset="0"/>
            </a:endParaRPr>
          </a:p>
          <a:p>
            <a:r>
              <a:rPr lang="en-IN" sz="1200" b="1" dirty="0">
                <a:latin typeface="Calibri" panose="020F0502020204030204" pitchFamily="34" charset="0"/>
                <a:ea typeface="Calibri" panose="020F0502020204030204" pitchFamily="34" charset="0"/>
                <a:cs typeface="Calibri" panose="020F0502020204030204" pitchFamily="34" charset="0"/>
              </a:rPr>
              <a:t>Step Size Bound:</a:t>
            </a:r>
            <a:br>
              <a:rPr lang="en-IN" sz="1200" dirty="0">
                <a:latin typeface="Calibri" panose="020F0502020204030204" pitchFamily="34" charset="0"/>
                <a:ea typeface="Calibri" panose="020F0502020204030204" pitchFamily="34" charset="0"/>
                <a:cs typeface="Calibri" panose="020F0502020204030204" pitchFamily="34" charset="0"/>
              </a:rPr>
            </a:br>
            <a:r>
              <a:rPr lang="en-IN" sz="1200" dirty="0">
                <a:latin typeface="Calibri" panose="020F0502020204030204" pitchFamily="34" charset="0"/>
                <a:ea typeface="Calibri" panose="020F0502020204030204" pitchFamily="34" charset="0"/>
                <a:cs typeface="Calibri" panose="020F0502020204030204" pitchFamily="34" charset="0"/>
              </a:rPr>
              <a:t>0 &lt; </a:t>
            </a:r>
            <a:r>
              <a:rPr lang="el-GR" sz="1200" dirty="0">
                <a:latin typeface="Calibri" panose="020F0502020204030204" pitchFamily="34" charset="0"/>
                <a:ea typeface="Calibri" panose="020F0502020204030204" pitchFamily="34" charset="0"/>
                <a:cs typeface="Calibri" panose="020F0502020204030204" pitchFamily="34" charset="0"/>
              </a:rPr>
              <a:t>μ &lt; 2 / [(</a:t>
            </a:r>
            <a:r>
              <a:rPr lang="en-IN" sz="1200" dirty="0">
                <a:latin typeface="Calibri" panose="020F0502020204030204" pitchFamily="34" charset="0"/>
                <a:ea typeface="Calibri" panose="020F0502020204030204" pitchFamily="34" charset="0"/>
                <a:cs typeface="Calibri" panose="020F0502020204030204" pitchFamily="34" charset="0"/>
              </a:rPr>
              <a:t>N − 2k − 2) × P_TI].</a:t>
            </a:r>
            <a:br>
              <a:rPr lang="en-IN" sz="1200" dirty="0">
                <a:latin typeface="Calibri" panose="020F0502020204030204" pitchFamily="34" charset="0"/>
                <a:ea typeface="Calibri" panose="020F0502020204030204" pitchFamily="34" charset="0"/>
                <a:cs typeface="Calibri" panose="020F0502020204030204" pitchFamily="34" charset="0"/>
              </a:rPr>
            </a:br>
            <a:r>
              <a:rPr lang="en-IN" sz="1200" dirty="0">
                <a:latin typeface="Calibri" panose="020F0502020204030204" pitchFamily="34" charset="0"/>
                <a:ea typeface="Calibri" panose="020F0502020204030204" pitchFamily="34" charset="0"/>
                <a:cs typeface="Calibri" panose="020F0502020204030204" pitchFamily="34" charset="0"/>
              </a:rPr>
              <a:t>For N = 4 and k = 1: </a:t>
            </a:r>
            <a:r>
              <a:rPr lang="en-IN" sz="1200" b="1" dirty="0">
                <a:latin typeface="Calibri" panose="020F0502020204030204" pitchFamily="34" charset="0"/>
                <a:ea typeface="Calibri" panose="020F0502020204030204" pitchFamily="34" charset="0"/>
                <a:cs typeface="Calibri" panose="020F0502020204030204" pitchFamily="34" charset="0"/>
              </a:rPr>
              <a:t>0 &lt; </a:t>
            </a:r>
            <a:r>
              <a:rPr lang="el-GR" sz="1200" b="1" dirty="0">
                <a:latin typeface="Calibri" panose="020F0502020204030204" pitchFamily="34" charset="0"/>
                <a:ea typeface="Calibri" panose="020F0502020204030204" pitchFamily="34" charset="0"/>
                <a:cs typeface="Calibri" panose="020F0502020204030204" pitchFamily="34" charset="0"/>
              </a:rPr>
              <a:t>μ &lt; 2 / </a:t>
            </a:r>
            <a:r>
              <a:rPr lang="en-IN" sz="1200" b="1" dirty="0">
                <a:latin typeface="Calibri" panose="020F0502020204030204" pitchFamily="34" charset="0"/>
                <a:ea typeface="Calibri" panose="020F0502020204030204" pitchFamily="34" charset="0"/>
                <a:cs typeface="Calibri" panose="020F0502020204030204" pitchFamily="34" charset="0"/>
              </a:rPr>
              <a:t>P_TI</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0E81AAC-36D8-AF16-3230-A6055892A819}"/>
              </a:ext>
            </a:extLst>
          </p:cNvPr>
          <p:cNvSpPr txBox="1"/>
          <p:nvPr/>
        </p:nvSpPr>
        <p:spPr>
          <a:xfrm>
            <a:off x="1362710" y="3886200"/>
            <a:ext cx="5446078" cy="954107"/>
          </a:xfrm>
          <a:prstGeom prst="rect">
            <a:avLst/>
          </a:prstGeom>
          <a:noFill/>
        </p:spPr>
        <p:txBody>
          <a:bodyPr wrap="square" rtlCol="0">
            <a:spAutoFit/>
          </a:bodyPr>
          <a:lstStyle/>
          <a:p>
            <a:r>
              <a:rPr lang="en-IN" sz="1400" dirty="0" err="1"/>
              <a:t>F.Manasvi</a:t>
            </a:r>
            <a:r>
              <a:rPr lang="en-IN" sz="1400"/>
              <a:t>                              4SO24EC035</a:t>
            </a:r>
            <a:endParaRPr lang="en-IN" sz="1400" dirty="0"/>
          </a:p>
          <a:p>
            <a:r>
              <a:rPr lang="en-IN" sz="1400" dirty="0"/>
              <a:t>Evan Menezes                      4SO24EC034</a:t>
            </a:r>
          </a:p>
          <a:p>
            <a:r>
              <a:rPr lang="en-IN" sz="1400" dirty="0"/>
              <a:t>Gouri                                     4SO24EC041</a:t>
            </a:r>
          </a:p>
          <a:p>
            <a:r>
              <a:rPr lang="en-IN" sz="1400" dirty="0"/>
              <a:t>Hemashree                           4SO24EC043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549</TotalTime>
  <Words>3639</Words>
  <Application>Microsoft Office PowerPoint</Application>
  <PresentationFormat>Custom</PresentationFormat>
  <Paragraphs>359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manasvi francis</cp:lastModifiedBy>
  <cp:revision>2</cp:revision>
  <dcterms:created xsi:type="dcterms:W3CDTF">2026-05-02T09:09:20Z</dcterms:created>
  <dcterms:modified xsi:type="dcterms:W3CDTF">2026-05-12T07:33:41Z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2026-05-02T00:00:00Z</vt:filetime>
  </property>
  <property fmtid="{D5CDD505-2E9C-101B-9397-08002B2CF9AE}" pid="3" name="LastSaved">
    <vt:filetime>2026-05-02T00:00:00Z</vt:filetime>
  </property>
</Properties>
</file>