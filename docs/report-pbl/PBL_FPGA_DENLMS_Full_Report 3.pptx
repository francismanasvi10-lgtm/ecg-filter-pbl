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76" r:id="rId10"/>
    <p:sldId id="264" r:id="rId11"/>
    <p:sldId id="265" r:id="rId12"/>
    <p:sldId id="266" r:id="rId13"/>
    <p:sldId id="267" r:id="rId14"/>
    <p:sldId id="269" r:id="rId15"/>
    <p:sldId id="270" r:id="rId16"/>
    <p:sldId id="273" r:id="rId17"/>
    <p:sldId id="277" r:id="rId18"/>
    <p:sldId id="274" r:id="rId19"/>
    <p:sldId id="275" r:id="rId20"/>
  </p:sldIdLst>
  <p:sldSz cx="7772400" cy="10058400"/>
  <p:notesSz cx="7772400" cy="10058400"/>
  <p:defaultTex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BC41683-64DF-48D7-92AD-CD2C93A301F0}" v="287" dt="2026-05-02T18:23:48.044"/>
    <p1510:client id="{74CBE5B9-1196-A970-37D4-DBAD36CF77BD}" v="301" dt="2026-05-02T16:29:02.855"/>
    <p1510:client id="{8A5DB9DC-3405-3BA1-35B6-F5915CFED8AE}" v="41" dt="2026-05-02T10:41:16.379"/>
    <p1510:client id="{9096CA8A-0E64-41F4-89EF-88780CFEEC67}" v="768" dt="2026-05-02T18:14:41.622"/>
    <p1510:client id="{EDD9142D-A090-FF3D-98EE-66367A94307C}" v="8" dt="2026-05-02T18:22:27.488"/>
  </p1510:revLst>
</p1510:revInfo>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p:scale>
          <a:sx n="125" d="100"/>
          <a:sy n="125" d="100"/>
        </p:scale>
        <p:origin x="768" y="-1440"/>
      </p:cViewPr>
      <p:guideLst>
        <p:guide orient="horz" pos="2880"/>
        <p:guide pos="2160"/>
      </p:guideLst>
    </p:cSldViewPr>
  </p:slideViewPr>
  <p:notesTextViewPr>
    <p:cViewPr>
      <p:scale>
        <a:sx n="66" d="100"/>
        <a:sy n="66"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582930" y="3118104"/>
            <a:ext cx="6606540" cy="2112264"/>
          </a:xfrm>
          <a:prstGeom prst="rect">
            <a:avLst/>
          </a:prstGeom>
        </p:spPr>
        <p:txBody>
          <a:bodyPr/>
          <a:lstStyle>
            <a:lvl1pPr>
              <a:defRPr/>
            </a:lvl1pPr>
          </a:lstStyle>
          <a:p>
            <a:endParaRPr/>
          </a:p>
        </p:txBody>
      </p:sp>
      <p:sp>
        <p:nvSpPr>
          <p:cNvPr id="3" name="Holder 3"/>
          <p:cNvSpPr>
            <a:spLocks noGrp="1"/>
          </p:cNvSpPr>
          <p:nvPr>
            <p:ph type="subTitle" idx="4"/>
          </p:nvPr>
        </p:nvSpPr>
        <p:spPr>
          <a:xfrm>
            <a:off x="1165860" y="5632704"/>
            <a:ext cx="5440680" cy="2514600"/>
          </a:xfrm>
          <a:prstGeom prst="rect">
            <a:avLst/>
          </a:prstGeom>
        </p:spPr>
        <p:txBody>
          <a:bodyPr/>
          <a:lstStyle>
            <a:lvl1pPr>
              <a:defRPr/>
            </a:lvl1pPr>
          </a:lstStyle>
          <a:p>
            <a:endParaRPr/>
          </a:p>
        </p:txBody>
      </p:sp>
      <p:sp>
        <p:nvSpPr>
          <p:cNvPr id="4" name="Holder 4">
            <a:extLst>
              <a:ext uri="{FF2B5EF4-FFF2-40B4-BE49-F238E27FC236}">
                <a16:creationId xmlns:a16="http://schemas.microsoft.com/office/drawing/2014/main" id="{51F9DC30-63DA-9606-D763-A4F28CAE0200}"/>
              </a:ext>
            </a:extLst>
          </p:cNvPr>
          <p:cNvSpPr>
            <a:spLocks noGrp="1" noChangeArrowheads="1"/>
          </p:cNvSpPr>
          <p:nvPr>
            <p:ph type="ftr" sz="quarter" idx="10"/>
          </p:nvPr>
        </p:nvSpPr>
        <p:spPr>
          <a:ln/>
        </p:spPr>
        <p:txBody>
          <a:bodyPr/>
          <a:lstStyle>
            <a:lvl1pPr>
              <a:defRPr/>
            </a:lvl1pPr>
          </a:lstStyle>
          <a:p>
            <a:endParaRPr lang="en-US" altLang="en-US"/>
          </a:p>
        </p:txBody>
      </p:sp>
      <p:sp>
        <p:nvSpPr>
          <p:cNvPr id="5" name="Holder 5">
            <a:extLst>
              <a:ext uri="{FF2B5EF4-FFF2-40B4-BE49-F238E27FC236}">
                <a16:creationId xmlns:a16="http://schemas.microsoft.com/office/drawing/2014/main" id="{DFF353CF-36C3-BAFC-5A6A-CCF085B8099D}"/>
              </a:ext>
            </a:extLst>
          </p:cNvPr>
          <p:cNvSpPr>
            <a:spLocks noGrp="1" noChangeArrowheads="1"/>
          </p:cNvSpPr>
          <p:nvPr>
            <p:ph type="dt" sz="half" idx="11"/>
          </p:nvPr>
        </p:nvSpPr>
        <p:spPr>
          <a:ln/>
        </p:spPr>
        <p:txBody>
          <a:bodyPr/>
          <a:lstStyle>
            <a:lvl1pPr>
              <a:defRPr/>
            </a:lvl1pPr>
          </a:lstStyle>
          <a:p>
            <a:fld id="{8C7EF92D-654E-46C5-B1BA-04F40E51A54F}" type="datetimeFigureOut">
              <a:rPr lang="en-US" altLang="en-US"/>
              <a:pPr/>
              <a:t>5/2/2026</a:t>
            </a:fld>
            <a:endParaRPr lang="en-US" altLang="en-US"/>
          </a:p>
        </p:txBody>
      </p:sp>
      <p:sp>
        <p:nvSpPr>
          <p:cNvPr id="6" name="Holder 6">
            <a:extLst>
              <a:ext uri="{FF2B5EF4-FFF2-40B4-BE49-F238E27FC236}">
                <a16:creationId xmlns:a16="http://schemas.microsoft.com/office/drawing/2014/main" id="{37E978BC-398B-0F69-5EA1-1C352F293BE0}"/>
              </a:ext>
            </a:extLst>
          </p:cNvPr>
          <p:cNvSpPr>
            <a:spLocks noGrp="1" noChangeArrowheads="1"/>
          </p:cNvSpPr>
          <p:nvPr>
            <p:ph type="sldNum" sz="quarter" idx="12"/>
          </p:nvPr>
        </p:nvSpPr>
        <p:spPr>
          <a:ln/>
        </p:spPr>
        <p:txBody>
          <a:bodyPr/>
          <a:lstStyle>
            <a:lvl1pPr>
              <a:defRPr/>
            </a:lvl1pPr>
          </a:lstStyle>
          <a:p>
            <a:fld id="{485A97AE-A689-466C-A5A0-10610B5EC15E}" type="slidenum">
              <a:rPr lang="en-US" altLang="en-US"/>
              <a:pPr/>
              <a:t>‹#›</a:t>
            </a:fld>
            <a:endParaRPr lang="en-US" altLang="en-US"/>
          </a:p>
        </p:txBody>
      </p:sp>
    </p:spTree>
    <p:extLst>
      <p:ext uri="{BB962C8B-B14F-4D97-AF65-F5344CB8AC3E}">
        <p14:creationId xmlns:p14="http://schemas.microsoft.com/office/powerpoint/2010/main" val="276311016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a:lstStyle>
            <a:lvl1pPr>
              <a:defRPr/>
            </a:lvl1pPr>
          </a:lstStyle>
          <a:p>
            <a:endParaRPr/>
          </a:p>
        </p:txBody>
      </p:sp>
      <p:sp>
        <p:nvSpPr>
          <p:cNvPr id="3" name="Holder 3"/>
          <p:cNvSpPr>
            <a:spLocks noGrp="1"/>
          </p:cNvSpPr>
          <p:nvPr>
            <p:ph type="body" idx="1"/>
          </p:nvPr>
        </p:nvSpPr>
        <p:spPr/>
        <p:txBody>
          <a:bodyPr/>
          <a:lstStyle>
            <a:lvl1pPr>
              <a:defRPr/>
            </a:lvl1pPr>
          </a:lstStyle>
          <a:p>
            <a:endParaRPr/>
          </a:p>
        </p:txBody>
      </p:sp>
      <p:sp>
        <p:nvSpPr>
          <p:cNvPr id="4" name="Holder 4">
            <a:extLst>
              <a:ext uri="{FF2B5EF4-FFF2-40B4-BE49-F238E27FC236}">
                <a16:creationId xmlns:a16="http://schemas.microsoft.com/office/drawing/2014/main" id="{F4B329DA-03AF-DE17-E3CC-8A4C9FA072E0}"/>
              </a:ext>
            </a:extLst>
          </p:cNvPr>
          <p:cNvSpPr>
            <a:spLocks noGrp="1" noChangeArrowheads="1"/>
          </p:cNvSpPr>
          <p:nvPr>
            <p:ph type="ftr" sz="quarter" idx="10"/>
          </p:nvPr>
        </p:nvSpPr>
        <p:spPr>
          <a:ln/>
        </p:spPr>
        <p:txBody>
          <a:bodyPr/>
          <a:lstStyle>
            <a:lvl1pPr>
              <a:defRPr/>
            </a:lvl1pPr>
          </a:lstStyle>
          <a:p>
            <a:endParaRPr lang="en-US" altLang="en-US"/>
          </a:p>
        </p:txBody>
      </p:sp>
      <p:sp>
        <p:nvSpPr>
          <p:cNvPr id="5" name="Holder 5">
            <a:extLst>
              <a:ext uri="{FF2B5EF4-FFF2-40B4-BE49-F238E27FC236}">
                <a16:creationId xmlns:a16="http://schemas.microsoft.com/office/drawing/2014/main" id="{44136CCD-FA97-0D66-54F7-7634B1A559C1}"/>
              </a:ext>
            </a:extLst>
          </p:cNvPr>
          <p:cNvSpPr>
            <a:spLocks noGrp="1" noChangeArrowheads="1"/>
          </p:cNvSpPr>
          <p:nvPr>
            <p:ph type="dt" sz="half" idx="11"/>
          </p:nvPr>
        </p:nvSpPr>
        <p:spPr>
          <a:ln/>
        </p:spPr>
        <p:txBody>
          <a:bodyPr/>
          <a:lstStyle>
            <a:lvl1pPr>
              <a:defRPr/>
            </a:lvl1pPr>
          </a:lstStyle>
          <a:p>
            <a:fld id="{DDF166DE-8687-44A9-9857-457A3EAAE74F}" type="datetimeFigureOut">
              <a:rPr lang="en-US" altLang="en-US"/>
              <a:pPr/>
              <a:t>5/2/2026</a:t>
            </a:fld>
            <a:endParaRPr lang="en-US" altLang="en-US"/>
          </a:p>
        </p:txBody>
      </p:sp>
      <p:sp>
        <p:nvSpPr>
          <p:cNvPr id="6" name="Holder 6">
            <a:extLst>
              <a:ext uri="{FF2B5EF4-FFF2-40B4-BE49-F238E27FC236}">
                <a16:creationId xmlns:a16="http://schemas.microsoft.com/office/drawing/2014/main" id="{D4F94A4E-BFC2-84D8-8A5B-2C63C1F7425D}"/>
              </a:ext>
            </a:extLst>
          </p:cNvPr>
          <p:cNvSpPr>
            <a:spLocks noGrp="1" noChangeArrowheads="1"/>
          </p:cNvSpPr>
          <p:nvPr>
            <p:ph type="sldNum" sz="quarter" idx="12"/>
          </p:nvPr>
        </p:nvSpPr>
        <p:spPr>
          <a:ln/>
        </p:spPr>
        <p:txBody>
          <a:bodyPr/>
          <a:lstStyle>
            <a:lvl1pPr>
              <a:defRPr/>
            </a:lvl1pPr>
          </a:lstStyle>
          <a:p>
            <a:fld id="{6814CE99-9185-45C2-B842-0FBDE0FEBA39}" type="slidenum">
              <a:rPr lang="en-US" altLang="en-US"/>
              <a:pPr/>
              <a:t>‹#›</a:t>
            </a:fld>
            <a:endParaRPr lang="en-US" altLang="en-US"/>
          </a:p>
        </p:txBody>
      </p:sp>
    </p:spTree>
    <p:extLst>
      <p:ext uri="{BB962C8B-B14F-4D97-AF65-F5344CB8AC3E}">
        <p14:creationId xmlns:p14="http://schemas.microsoft.com/office/powerpoint/2010/main" val="41433406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a:lstStyle>
            <a:lvl1pPr>
              <a:defRPr/>
            </a:lvl1pPr>
          </a:lstStyle>
          <a:p>
            <a:endParaRPr/>
          </a:p>
        </p:txBody>
      </p:sp>
      <p:sp>
        <p:nvSpPr>
          <p:cNvPr id="3" name="Holder 3"/>
          <p:cNvSpPr>
            <a:spLocks noGrp="1"/>
          </p:cNvSpPr>
          <p:nvPr>
            <p:ph sz="half" idx="2"/>
          </p:nvPr>
        </p:nvSpPr>
        <p:spPr>
          <a:xfrm>
            <a:off x="388620" y="2313432"/>
            <a:ext cx="3380994" cy="6638544"/>
          </a:xfrm>
          <a:prstGeom prst="rect">
            <a:avLst/>
          </a:prstGeom>
        </p:spPr>
        <p:txBody>
          <a:bodyPr/>
          <a:lstStyle>
            <a:lvl1pPr>
              <a:defRPr/>
            </a:lvl1pPr>
          </a:lstStyle>
          <a:p>
            <a:endParaRPr/>
          </a:p>
        </p:txBody>
      </p:sp>
      <p:sp>
        <p:nvSpPr>
          <p:cNvPr id="4" name="Holder 4"/>
          <p:cNvSpPr>
            <a:spLocks noGrp="1"/>
          </p:cNvSpPr>
          <p:nvPr>
            <p:ph sz="half" idx="3"/>
          </p:nvPr>
        </p:nvSpPr>
        <p:spPr>
          <a:xfrm>
            <a:off x="4002786" y="2313432"/>
            <a:ext cx="3380994" cy="6638544"/>
          </a:xfrm>
          <a:prstGeom prst="rect">
            <a:avLst/>
          </a:prstGeom>
        </p:spPr>
        <p:txBody>
          <a:bodyPr/>
          <a:lstStyle>
            <a:lvl1pPr>
              <a:defRPr/>
            </a:lvl1pPr>
          </a:lstStyle>
          <a:p>
            <a:endParaRPr/>
          </a:p>
        </p:txBody>
      </p:sp>
      <p:sp>
        <p:nvSpPr>
          <p:cNvPr id="5" name="Holder 4">
            <a:extLst>
              <a:ext uri="{FF2B5EF4-FFF2-40B4-BE49-F238E27FC236}">
                <a16:creationId xmlns:a16="http://schemas.microsoft.com/office/drawing/2014/main" id="{0ACA03E9-F791-FCDE-5975-28C8C13501A5}"/>
              </a:ext>
            </a:extLst>
          </p:cNvPr>
          <p:cNvSpPr>
            <a:spLocks noGrp="1" noChangeArrowheads="1"/>
          </p:cNvSpPr>
          <p:nvPr>
            <p:ph type="ftr" sz="quarter" idx="10"/>
          </p:nvPr>
        </p:nvSpPr>
        <p:spPr>
          <a:ln/>
        </p:spPr>
        <p:txBody>
          <a:bodyPr/>
          <a:lstStyle>
            <a:lvl1pPr>
              <a:defRPr/>
            </a:lvl1pPr>
          </a:lstStyle>
          <a:p>
            <a:endParaRPr lang="en-US" altLang="en-US"/>
          </a:p>
        </p:txBody>
      </p:sp>
      <p:sp>
        <p:nvSpPr>
          <p:cNvPr id="6" name="Holder 5">
            <a:extLst>
              <a:ext uri="{FF2B5EF4-FFF2-40B4-BE49-F238E27FC236}">
                <a16:creationId xmlns:a16="http://schemas.microsoft.com/office/drawing/2014/main" id="{ABF18E25-4A77-57C0-70FB-A439735CD96F}"/>
              </a:ext>
            </a:extLst>
          </p:cNvPr>
          <p:cNvSpPr>
            <a:spLocks noGrp="1" noChangeArrowheads="1"/>
          </p:cNvSpPr>
          <p:nvPr>
            <p:ph type="dt" sz="half" idx="11"/>
          </p:nvPr>
        </p:nvSpPr>
        <p:spPr>
          <a:ln/>
        </p:spPr>
        <p:txBody>
          <a:bodyPr/>
          <a:lstStyle>
            <a:lvl1pPr>
              <a:defRPr/>
            </a:lvl1pPr>
          </a:lstStyle>
          <a:p>
            <a:fld id="{2D85760C-CDC2-4802-A186-97F020C1F89D}" type="datetimeFigureOut">
              <a:rPr lang="en-US" altLang="en-US"/>
              <a:pPr/>
              <a:t>5/2/2026</a:t>
            </a:fld>
            <a:endParaRPr lang="en-US" altLang="en-US"/>
          </a:p>
        </p:txBody>
      </p:sp>
      <p:sp>
        <p:nvSpPr>
          <p:cNvPr id="7" name="Holder 6">
            <a:extLst>
              <a:ext uri="{FF2B5EF4-FFF2-40B4-BE49-F238E27FC236}">
                <a16:creationId xmlns:a16="http://schemas.microsoft.com/office/drawing/2014/main" id="{030C1315-09A8-02D0-4935-2DD911D7F97A}"/>
              </a:ext>
            </a:extLst>
          </p:cNvPr>
          <p:cNvSpPr>
            <a:spLocks noGrp="1" noChangeArrowheads="1"/>
          </p:cNvSpPr>
          <p:nvPr>
            <p:ph type="sldNum" sz="quarter" idx="12"/>
          </p:nvPr>
        </p:nvSpPr>
        <p:spPr>
          <a:ln/>
        </p:spPr>
        <p:txBody>
          <a:bodyPr/>
          <a:lstStyle>
            <a:lvl1pPr>
              <a:defRPr/>
            </a:lvl1pPr>
          </a:lstStyle>
          <a:p>
            <a:fld id="{4796B781-1C86-470D-95FD-27EDAA6140B8}" type="slidenum">
              <a:rPr lang="en-US" altLang="en-US"/>
              <a:pPr/>
              <a:t>‹#›</a:t>
            </a:fld>
            <a:endParaRPr lang="en-US" altLang="en-US"/>
          </a:p>
        </p:txBody>
      </p:sp>
    </p:spTree>
    <p:extLst>
      <p:ext uri="{BB962C8B-B14F-4D97-AF65-F5344CB8AC3E}">
        <p14:creationId xmlns:p14="http://schemas.microsoft.com/office/powerpoint/2010/main" val="337406724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a:lstStyle>
            <a:lvl1pPr>
              <a:defRPr/>
            </a:lvl1pPr>
          </a:lstStyle>
          <a:p>
            <a:endParaRPr/>
          </a:p>
        </p:txBody>
      </p:sp>
      <p:sp>
        <p:nvSpPr>
          <p:cNvPr id="3" name="Holder 4">
            <a:extLst>
              <a:ext uri="{FF2B5EF4-FFF2-40B4-BE49-F238E27FC236}">
                <a16:creationId xmlns:a16="http://schemas.microsoft.com/office/drawing/2014/main" id="{72010FD3-A61B-7CB2-C1E6-D7F7BAF8704A}"/>
              </a:ext>
            </a:extLst>
          </p:cNvPr>
          <p:cNvSpPr>
            <a:spLocks noGrp="1" noChangeArrowheads="1"/>
          </p:cNvSpPr>
          <p:nvPr>
            <p:ph type="ftr" sz="quarter" idx="10"/>
          </p:nvPr>
        </p:nvSpPr>
        <p:spPr>
          <a:ln/>
        </p:spPr>
        <p:txBody>
          <a:bodyPr/>
          <a:lstStyle>
            <a:lvl1pPr>
              <a:defRPr/>
            </a:lvl1pPr>
          </a:lstStyle>
          <a:p>
            <a:endParaRPr lang="en-US" altLang="en-US"/>
          </a:p>
        </p:txBody>
      </p:sp>
      <p:sp>
        <p:nvSpPr>
          <p:cNvPr id="4" name="Holder 5">
            <a:extLst>
              <a:ext uri="{FF2B5EF4-FFF2-40B4-BE49-F238E27FC236}">
                <a16:creationId xmlns:a16="http://schemas.microsoft.com/office/drawing/2014/main" id="{F8303ECE-2622-13E1-90E9-BF4F1E85DD8A}"/>
              </a:ext>
            </a:extLst>
          </p:cNvPr>
          <p:cNvSpPr>
            <a:spLocks noGrp="1" noChangeArrowheads="1"/>
          </p:cNvSpPr>
          <p:nvPr>
            <p:ph type="dt" sz="half" idx="11"/>
          </p:nvPr>
        </p:nvSpPr>
        <p:spPr>
          <a:ln/>
        </p:spPr>
        <p:txBody>
          <a:bodyPr/>
          <a:lstStyle>
            <a:lvl1pPr>
              <a:defRPr/>
            </a:lvl1pPr>
          </a:lstStyle>
          <a:p>
            <a:fld id="{C6A21A28-647C-450F-9A69-257BC8CFE918}" type="datetimeFigureOut">
              <a:rPr lang="en-US" altLang="en-US"/>
              <a:pPr/>
              <a:t>5/2/2026</a:t>
            </a:fld>
            <a:endParaRPr lang="en-US" altLang="en-US"/>
          </a:p>
        </p:txBody>
      </p:sp>
      <p:sp>
        <p:nvSpPr>
          <p:cNvPr id="5" name="Holder 6">
            <a:extLst>
              <a:ext uri="{FF2B5EF4-FFF2-40B4-BE49-F238E27FC236}">
                <a16:creationId xmlns:a16="http://schemas.microsoft.com/office/drawing/2014/main" id="{920346EF-4AC5-298F-0287-FF5CFD066A06}"/>
              </a:ext>
            </a:extLst>
          </p:cNvPr>
          <p:cNvSpPr>
            <a:spLocks noGrp="1" noChangeArrowheads="1"/>
          </p:cNvSpPr>
          <p:nvPr>
            <p:ph type="sldNum" sz="quarter" idx="12"/>
          </p:nvPr>
        </p:nvSpPr>
        <p:spPr>
          <a:ln/>
        </p:spPr>
        <p:txBody>
          <a:bodyPr/>
          <a:lstStyle>
            <a:lvl1pPr>
              <a:defRPr/>
            </a:lvl1pPr>
          </a:lstStyle>
          <a:p>
            <a:fld id="{530042AE-C1ED-43C9-9312-E1E4DF9263BF}" type="slidenum">
              <a:rPr lang="en-US" altLang="en-US"/>
              <a:pPr/>
              <a:t>‹#›</a:t>
            </a:fld>
            <a:endParaRPr lang="en-US" altLang="en-US"/>
          </a:p>
        </p:txBody>
      </p:sp>
    </p:spTree>
    <p:extLst>
      <p:ext uri="{BB962C8B-B14F-4D97-AF65-F5344CB8AC3E}">
        <p14:creationId xmlns:p14="http://schemas.microsoft.com/office/powerpoint/2010/main" val="110372299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4">
            <a:extLst>
              <a:ext uri="{FF2B5EF4-FFF2-40B4-BE49-F238E27FC236}">
                <a16:creationId xmlns:a16="http://schemas.microsoft.com/office/drawing/2014/main" id="{971B4F5E-4120-55FB-8439-903FCB97F1C1}"/>
              </a:ext>
            </a:extLst>
          </p:cNvPr>
          <p:cNvSpPr>
            <a:spLocks noGrp="1" noChangeArrowheads="1"/>
          </p:cNvSpPr>
          <p:nvPr>
            <p:ph type="ftr" sz="quarter" idx="10"/>
          </p:nvPr>
        </p:nvSpPr>
        <p:spPr>
          <a:ln/>
        </p:spPr>
        <p:txBody>
          <a:bodyPr/>
          <a:lstStyle>
            <a:lvl1pPr>
              <a:defRPr/>
            </a:lvl1pPr>
          </a:lstStyle>
          <a:p>
            <a:endParaRPr lang="en-US" altLang="en-US"/>
          </a:p>
        </p:txBody>
      </p:sp>
      <p:sp>
        <p:nvSpPr>
          <p:cNvPr id="3" name="Holder 5">
            <a:extLst>
              <a:ext uri="{FF2B5EF4-FFF2-40B4-BE49-F238E27FC236}">
                <a16:creationId xmlns:a16="http://schemas.microsoft.com/office/drawing/2014/main" id="{08F4863B-FB9D-391D-2F3E-D2B931135BD7}"/>
              </a:ext>
            </a:extLst>
          </p:cNvPr>
          <p:cNvSpPr>
            <a:spLocks noGrp="1" noChangeArrowheads="1"/>
          </p:cNvSpPr>
          <p:nvPr>
            <p:ph type="dt" sz="half" idx="11"/>
          </p:nvPr>
        </p:nvSpPr>
        <p:spPr>
          <a:ln/>
        </p:spPr>
        <p:txBody>
          <a:bodyPr/>
          <a:lstStyle>
            <a:lvl1pPr>
              <a:defRPr/>
            </a:lvl1pPr>
          </a:lstStyle>
          <a:p>
            <a:fld id="{E8ED33FE-9A2E-4C2A-BE9E-E865DEE3CA6E}" type="datetimeFigureOut">
              <a:rPr lang="en-US" altLang="en-US"/>
              <a:pPr/>
              <a:t>5/2/2026</a:t>
            </a:fld>
            <a:endParaRPr lang="en-US" altLang="en-US"/>
          </a:p>
        </p:txBody>
      </p:sp>
      <p:sp>
        <p:nvSpPr>
          <p:cNvPr id="4" name="Holder 6">
            <a:extLst>
              <a:ext uri="{FF2B5EF4-FFF2-40B4-BE49-F238E27FC236}">
                <a16:creationId xmlns:a16="http://schemas.microsoft.com/office/drawing/2014/main" id="{A5674C19-D144-F680-8C3D-120E8F3FC018}"/>
              </a:ext>
            </a:extLst>
          </p:cNvPr>
          <p:cNvSpPr>
            <a:spLocks noGrp="1" noChangeArrowheads="1"/>
          </p:cNvSpPr>
          <p:nvPr>
            <p:ph type="sldNum" sz="quarter" idx="12"/>
          </p:nvPr>
        </p:nvSpPr>
        <p:spPr>
          <a:ln/>
        </p:spPr>
        <p:txBody>
          <a:bodyPr/>
          <a:lstStyle>
            <a:lvl1pPr>
              <a:defRPr/>
            </a:lvl1pPr>
          </a:lstStyle>
          <a:p>
            <a:fld id="{C1A1A03A-7085-4891-ABC0-5E9D9D4A4835}" type="slidenum">
              <a:rPr lang="en-US" altLang="en-US"/>
              <a:pPr/>
              <a:t>‹#›</a:t>
            </a:fld>
            <a:endParaRPr lang="en-US" altLang="en-US"/>
          </a:p>
        </p:txBody>
      </p:sp>
    </p:spTree>
    <p:extLst>
      <p:ext uri="{BB962C8B-B14F-4D97-AF65-F5344CB8AC3E}">
        <p14:creationId xmlns:p14="http://schemas.microsoft.com/office/powerpoint/2010/main" val="25835267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Holder 2">
            <a:extLst>
              <a:ext uri="{FF2B5EF4-FFF2-40B4-BE49-F238E27FC236}">
                <a16:creationId xmlns:a16="http://schemas.microsoft.com/office/drawing/2014/main" id="{44FAF9A0-6293-C5D1-B087-A3BF37DC1689}"/>
              </a:ext>
            </a:extLst>
          </p:cNvPr>
          <p:cNvSpPr>
            <a:spLocks noGrp="1" noChangeArrowheads="1"/>
          </p:cNvSpPr>
          <p:nvPr>
            <p:ph type="title"/>
          </p:nvPr>
        </p:nvSpPr>
        <p:spPr bwMode="auto">
          <a:xfrm>
            <a:off x="388938" y="401638"/>
            <a:ext cx="6994525" cy="160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spAutoFit/>
          </a:bodyPr>
          <a:lstStyle/>
          <a:p>
            <a:pPr lvl="0"/>
            <a:endParaRPr lang="en-US" altLang="en-US"/>
          </a:p>
        </p:txBody>
      </p:sp>
      <p:sp>
        <p:nvSpPr>
          <p:cNvPr id="1027" name="Holder 3">
            <a:extLst>
              <a:ext uri="{FF2B5EF4-FFF2-40B4-BE49-F238E27FC236}">
                <a16:creationId xmlns:a16="http://schemas.microsoft.com/office/drawing/2014/main" id="{523CD705-4D11-A6E6-546E-4FDB4AFA8B41}"/>
              </a:ext>
            </a:extLst>
          </p:cNvPr>
          <p:cNvSpPr>
            <a:spLocks noGrp="1" noChangeArrowheads="1"/>
          </p:cNvSpPr>
          <p:nvPr>
            <p:ph type="body" idx="1"/>
          </p:nvPr>
        </p:nvSpPr>
        <p:spPr bwMode="auto">
          <a:xfrm>
            <a:off x="388938" y="2312988"/>
            <a:ext cx="6994525" cy="663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spAutoFit/>
          </a:bodyPr>
          <a:lstStyle/>
          <a:p>
            <a:pPr lvl="0"/>
            <a:endParaRPr lang="en-US" altLang="en-US"/>
          </a:p>
        </p:txBody>
      </p:sp>
      <p:sp>
        <p:nvSpPr>
          <p:cNvPr id="1028" name="Holder 4">
            <a:extLst>
              <a:ext uri="{FF2B5EF4-FFF2-40B4-BE49-F238E27FC236}">
                <a16:creationId xmlns:a16="http://schemas.microsoft.com/office/drawing/2014/main" id="{A823A10C-DDE0-2776-4F53-18ED97327F7F}"/>
              </a:ext>
            </a:extLst>
          </p:cNvPr>
          <p:cNvSpPr>
            <a:spLocks noGrp="1" noChangeArrowheads="1"/>
          </p:cNvSpPr>
          <p:nvPr>
            <p:ph type="ftr" sz="quarter" idx="5"/>
          </p:nvPr>
        </p:nvSpPr>
        <p:spPr bwMode="auto">
          <a:xfrm>
            <a:off x="2643188" y="9353550"/>
            <a:ext cx="2486025" cy="503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spAutoFit/>
          </a:bodyPr>
          <a:lstStyle>
            <a:lvl1pPr algn="ctr" eaLnBrk="1" hangingPunct="1">
              <a:defRPr>
                <a:solidFill>
                  <a:srgbClr val="898989"/>
                </a:solidFill>
              </a:defRPr>
            </a:lvl1pPr>
          </a:lstStyle>
          <a:p>
            <a:endParaRPr lang="en-US" altLang="en-US"/>
          </a:p>
        </p:txBody>
      </p:sp>
      <p:sp>
        <p:nvSpPr>
          <p:cNvPr id="1029" name="Holder 5">
            <a:extLst>
              <a:ext uri="{FF2B5EF4-FFF2-40B4-BE49-F238E27FC236}">
                <a16:creationId xmlns:a16="http://schemas.microsoft.com/office/drawing/2014/main" id="{79294C95-E4FA-0896-7401-5FE0130A21C6}"/>
              </a:ext>
            </a:extLst>
          </p:cNvPr>
          <p:cNvSpPr>
            <a:spLocks noGrp="1" noChangeArrowheads="1"/>
          </p:cNvSpPr>
          <p:nvPr>
            <p:ph type="dt" sz="half" idx="6"/>
          </p:nvPr>
        </p:nvSpPr>
        <p:spPr bwMode="auto">
          <a:xfrm>
            <a:off x="388938" y="9353550"/>
            <a:ext cx="1787525" cy="503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spAutoFit/>
          </a:bodyPr>
          <a:lstStyle>
            <a:lvl1pPr eaLnBrk="1" hangingPunct="1">
              <a:defRPr>
                <a:solidFill>
                  <a:srgbClr val="898989"/>
                </a:solidFill>
              </a:defRPr>
            </a:lvl1pPr>
          </a:lstStyle>
          <a:p>
            <a:fld id="{FFF425EE-6D85-4B71-A905-F4F0054C4EE3}" type="datetimeFigureOut">
              <a:rPr lang="en-US" altLang="en-US"/>
              <a:pPr/>
              <a:t>5/2/2026</a:t>
            </a:fld>
            <a:endParaRPr lang="en-US" altLang="en-US"/>
          </a:p>
        </p:txBody>
      </p:sp>
      <p:sp>
        <p:nvSpPr>
          <p:cNvPr id="1030" name="Holder 6">
            <a:extLst>
              <a:ext uri="{FF2B5EF4-FFF2-40B4-BE49-F238E27FC236}">
                <a16:creationId xmlns:a16="http://schemas.microsoft.com/office/drawing/2014/main" id="{4CC88F23-B196-E093-7E73-DD374ADEB0D5}"/>
              </a:ext>
            </a:extLst>
          </p:cNvPr>
          <p:cNvSpPr>
            <a:spLocks noGrp="1" noChangeArrowheads="1"/>
          </p:cNvSpPr>
          <p:nvPr>
            <p:ph type="sldNum" sz="quarter" idx="7"/>
          </p:nvPr>
        </p:nvSpPr>
        <p:spPr bwMode="auto">
          <a:xfrm>
            <a:off x="5595938" y="9353550"/>
            <a:ext cx="1787525" cy="503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spAutoFit/>
          </a:bodyPr>
          <a:lstStyle>
            <a:lvl1pPr algn="r" eaLnBrk="1" hangingPunct="1">
              <a:defRPr>
                <a:solidFill>
                  <a:srgbClr val="898989"/>
                </a:solidFill>
              </a:defRPr>
            </a:lvl1pPr>
          </a:lstStyle>
          <a:p>
            <a:fld id="{522F282B-7F38-424C-99E0-0BE011321DF3}" type="slidenum">
              <a:rPr lang="en-US" altLang="en-US"/>
              <a:pPr/>
              <a:t>‹#›</a:t>
            </a:fld>
            <a:endParaRPr lang="en-US"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txStyles>
    <p:titleStyle>
      <a:lvl1pPr algn="ctr" rtl="0" eaLnBrk="0" fontAlgn="base" hangingPunct="0">
        <a:spcBef>
          <a:spcPct val="0"/>
        </a:spcBef>
        <a:spcAft>
          <a:spcPct val="0"/>
        </a:spcAft>
        <a:defRPr>
          <a:solidFill>
            <a:schemeClr val="tx2"/>
          </a:solidFill>
          <a:latin typeface="+mj-lt"/>
          <a:ea typeface="+mj-ea"/>
          <a:cs typeface="+mj-cs"/>
        </a:defRPr>
      </a:lvl1pPr>
      <a:lvl2pPr algn="ctr" rtl="0" eaLnBrk="0" fontAlgn="base" hangingPunct="0">
        <a:spcBef>
          <a:spcPct val="0"/>
        </a:spcBef>
        <a:spcAft>
          <a:spcPct val="0"/>
        </a:spcAft>
        <a:defRPr>
          <a:solidFill>
            <a:schemeClr val="tx2"/>
          </a:solidFill>
          <a:latin typeface="Calibri" panose="020F0502020204030204" pitchFamily="34" charset="0"/>
        </a:defRPr>
      </a:lvl2pPr>
      <a:lvl3pPr algn="ctr" rtl="0" eaLnBrk="0" fontAlgn="base" hangingPunct="0">
        <a:spcBef>
          <a:spcPct val="0"/>
        </a:spcBef>
        <a:spcAft>
          <a:spcPct val="0"/>
        </a:spcAft>
        <a:defRPr>
          <a:solidFill>
            <a:schemeClr val="tx2"/>
          </a:solidFill>
          <a:latin typeface="Calibri" panose="020F0502020204030204" pitchFamily="34" charset="0"/>
        </a:defRPr>
      </a:lvl3pPr>
      <a:lvl4pPr algn="ctr" rtl="0" eaLnBrk="0" fontAlgn="base" hangingPunct="0">
        <a:spcBef>
          <a:spcPct val="0"/>
        </a:spcBef>
        <a:spcAft>
          <a:spcPct val="0"/>
        </a:spcAft>
        <a:defRPr>
          <a:solidFill>
            <a:schemeClr val="tx2"/>
          </a:solidFill>
          <a:latin typeface="Calibri" panose="020F0502020204030204" pitchFamily="34" charset="0"/>
        </a:defRPr>
      </a:lvl4pPr>
      <a:lvl5pPr algn="ctr" rtl="0" eaLnBrk="0" fontAlgn="base" hangingPunct="0">
        <a:spcBef>
          <a:spcPct val="0"/>
        </a:spcBef>
        <a:spcAft>
          <a:spcPct val="0"/>
        </a:spcAft>
        <a:defRPr>
          <a:solidFill>
            <a:schemeClr val="tx2"/>
          </a:solidFill>
          <a:latin typeface="Calibri" panose="020F0502020204030204" pitchFamily="34" charset="0"/>
        </a:defRPr>
      </a:lvl5pPr>
      <a:lvl6pPr marL="457200" algn="ctr" rtl="0" eaLnBrk="0" fontAlgn="base" hangingPunct="0">
        <a:spcBef>
          <a:spcPct val="0"/>
        </a:spcBef>
        <a:spcAft>
          <a:spcPct val="0"/>
        </a:spcAft>
        <a:defRPr>
          <a:solidFill>
            <a:schemeClr val="tx2"/>
          </a:solidFill>
          <a:latin typeface="Calibri" panose="020F0502020204030204" pitchFamily="34" charset="0"/>
        </a:defRPr>
      </a:lvl6pPr>
      <a:lvl7pPr marL="914400" algn="ctr" rtl="0" eaLnBrk="0" fontAlgn="base" hangingPunct="0">
        <a:spcBef>
          <a:spcPct val="0"/>
        </a:spcBef>
        <a:spcAft>
          <a:spcPct val="0"/>
        </a:spcAft>
        <a:defRPr>
          <a:solidFill>
            <a:schemeClr val="tx2"/>
          </a:solidFill>
          <a:latin typeface="Calibri" panose="020F0502020204030204" pitchFamily="34" charset="0"/>
        </a:defRPr>
      </a:lvl7pPr>
      <a:lvl8pPr marL="1371600" algn="ctr" rtl="0" eaLnBrk="0" fontAlgn="base" hangingPunct="0">
        <a:spcBef>
          <a:spcPct val="0"/>
        </a:spcBef>
        <a:spcAft>
          <a:spcPct val="0"/>
        </a:spcAft>
        <a:defRPr>
          <a:solidFill>
            <a:schemeClr val="tx2"/>
          </a:solidFill>
          <a:latin typeface="Calibri" panose="020F0502020204030204" pitchFamily="34" charset="0"/>
        </a:defRPr>
      </a:lvl8pPr>
      <a:lvl9pPr marL="1828800" algn="ctr" rtl="0" eaLnBrk="0" fontAlgn="base" hangingPunct="0">
        <a:spcBef>
          <a:spcPct val="0"/>
        </a:spcBef>
        <a:spcAft>
          <a:spcPct val="0"/>
        </a:spcAft>
        <a:defRPr>
          <a:solidFill>
            <a:schemeClr val="tx2"/>
          </a:solidFill>
          <a:latin typeface="Calibri" panose="020F0502020204030204" pitchFamily="34" charset="0"/>
        </a:defRPr>
      </a:lvl9pPr>
    </p:titleStyle>
    <p:bodyStyle>
      <a:lvl1pPr algn="l" rtl="0" eaLnBrk="0" fontAlgn="base" hangingPunct="0">
        <a:spcBef>
          <a:spcPct val="20000"/>
        </a:spcBef>
        <a:spcAft>
          <a:spcPct val="0"/>
        </a:spcAft>
        <a:defRPr>
          <a:solidFill>
            <a:schemeClr val="tx1"/>
          </a:solidFill>
          <a:latin typeface="+mn-lt"/>
          <a:ea typeface="+mn-ea"/>
          <a:cs typeface="+mn-cs"/>
        </a:defRPr>
      </a:lvl1pPr>
      <a:lvl2pPr marL="457200" algn="l" rtl="0" eaLnBrk="0" fontAlgn="base" hangingPunct="0">
        <a:spcBef>
          <a:spcPct val="20000"/>
        </a:spcBef>
        <a:spcAft>
          <a:spcPct val="0"/>
        </a:spcAft>
        <a:defRPr>
          <a:solidFill>
            <a:schemeClr val="tx1"/>
          </a:solidFill>
          <a:latin typeface="+mn-lt"/>
          <a:ea typeface="+mn-ea"/>
          <a:cs typeface="+mn-cs"/>
        </a:defRPr>
      </a:lvl2pPr>
      <a:lvl3pPr marL="914400" algn="l" rtl="0" eaLnBrk="0" fontAlgn="base" hangingPunct="0">
        <a:spcBef>
          <a:spcPct val="20000"/>
        </a:spcBef>
        <a:spcAft>
          <a:spcPct val="0"/>
        </a:spcAft>
        <a:defRPr>
          <a:solidFill>
            <a:schemeClr val="tx1"/>
          </a:solidFill>
          <a:latin typeface="+mn-lt"/>
          <a:ea typeface="+mn-ea"/>
          <a:cs typeface="+mn-cs"/>
        </a:defRPr>
      </a:lvl3pPr>
      <a:lvl4pPr marL="1371600" algn="l" rtl="0" eaLnBrk="0" fontAlgn="base" hangingPunct="0">
        <a:spcBef>
          <a:spcPct val="20000"/>
        </a:spcBef>
        <a:spcAft>
          <a:spcPct val="0"/>
        </a:spcAft>
        <a:defRPr>
          <a:solidFill>
            <a:schemeClr val="tx1"/>
          </a:solidFill>
          <a:latin typeface="+mn-lt"/>
          <a:ea typeface="+mn-ea"/>
          <a:cs typeface="+mn-cs"/>
        </a:defRPr>
      </a:lvl4pPr>
      <a:lvl5pPr marL="1828800" algn="l" rtl="0" eaLnBrk="0" fontAlgn="base" hangingPunct="0">
        <a:spcBef>
          <a:spcPct val="20000"/>
        </a:spcBef>
        <a:spcAft>
          <a:spcPct val="0"/>
        </a:spcAft>
        <a:defRPr>
          <a:solidFill>
            <a:schemeClr val="tx1"/>
          </a:solidFill>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a:extLst>
              <a:ext uri="{FF2B5EF4-FFF2-40B4-BE49-F238E27FC236}">
                <a16:creationId xmlns:a16="http://schemas.microsoft.com/office/drawing/2014/main" id="{F8F05B8D-3EA2-4A20-9B57-B8C2976703FB}"/>
              </a:ext>
            </a:extLst>
          </p:cNvPr>
          <p:cNvSpPr txBox="1"/>
          <p:nvPr/>
        </p:nvSpPr>
        <p:spPr>
          <a:xfrm>
            <a:off x="2081213" y="889000"/>
            <a:ext cx="3833812" cy="609600"/>
          </a:xfrm>
          <a:prstGeom prst="rect">
            <a:avLst/>
          </a:prstGeom>
        </p:spPr>
        <p:txBody>
          <a:bodyPr lIns="0" tIns="12065" rIns="0" bIns="0">
            <a:spAutoFit/>
          </a:bodyPr>
          <a:lstStyle/>
          <a:p>
            <a:pPr algn="ctr" eaLnBrk="1" fontAlgn="auto" hangingPunct="1">
              <a:spcBef>
                <a:spcPts val="95"/>
              </a:spcBef>
              <a:spcAft>
                <a:spcPts val="0"/>
              </a:spcAft>
              <a:defRPr/>
            </a:pPr>
            <a:r>
              <a:rPr sz="1600" b="1" kern="0" dirty="0">
                <a:solidFill>
                  <a:srgbClr val="1F4E79"/>
                </a:solidFill>
                <a:latin typeface="Times New Roman"/>
                <a:cs typeface="Times New Roman"/>
              </a:rPr>
              <a:t>PBL</a:t>
            </a:r>
            <a:r>
              <a:rPr sz="1600" kern="0" spc="-60" dirty="0">
                <a:solidFill>
                  <a:srgbClr val="1F4E79"/>
                </a:solidFill>
                <a:latin typeface="Times New Roman"/>
                <a:cs typeface="Times New Roman"/>
              </a:rPr>
              <a:t> </a:t>
            </a:r>
            <a:r>
              <a:rPr sz="1600" b="1" kern="0" spc="-10" dirty="0">
                <a:solidFill>
                  <a:srgbClr val="1F4E79"/>
                </a:solidFill>
                <a:latin typeface="Times New Roman"/>
                <a:cs typeface="Times New Roman"/>
              </a:rPr>
              <a:t>SECONDARY</a:t>
            </a:r>
            <a:r>
              <a:rPr sz="1600" kern="0" spc="-55" dirty="0">
                <a:solidFill>
                  <a:srgbClr val="1F4E79"/>
                </a:solidFill>
                <a:latin typeface="Times New Roman"/>
                <a:cs typeface="Times New Roman"/>
              </a:rPr>
              <a:t> </a:t>
            </a:r>
            <a:r>
              <a:rPr sz="1600" b="1" kern="0" dirty="0">
                <a:solidFill>
                  <a:srgbClr val="1F4E79"/>
                </a:solidFill>
                <a:latin typeface="Times New Roman"/>
                <a:cs typeface="Times New Roman"/>
              </a:rPr>
              <a:t>RESEARCH</a:t>
            </a:r>
            <a:r>
              <a:rPr sz="1600" kern="0" spc="-50" dirty="0">
                <a:solidFill>
                  <a:srgbClr val="1F4E79"/>
                </a:solidFill>
                <a:latin typeface="Times New Roman"/>
                <a:cs typeface="Times New Roman"/>
              </a:rPr>
              <a:t> </a:t>
            </a:r>
            <a:r>
              <a:rPr sz="1600" b="1" kern="0" spc="-10" dirty="0">
                <a:solidFill>
                  <a:srgbClr val="1F4E79"/>
                </a:solidFill>
                <a:latin typeface="Times New Roman"/>
                <a:cs typeface="Times New Roman"/>
              </a:rPr>
              <a:t>REPORT</a:t>
            </a:r>
            <a:endParaRPr sz="1600" kern="0">
              <a:solidFill>
                <a:sysClr val="windowText" lastClr="000000"/>
              </a:solidFill>
              <a:latin typeface="Times New Roman"/>
              <a:cs typeface="Times New Roman"/>
            </a:endParaRPr>
          </a:p>
          <a:p>
            <a:pPr marL="5080" algn="ctr" eaLnBrk="1" fontAlgn="auto" hangingPunct="1">
              <a:spcBef>
                <a:spcPts val="1005"/>
              </a:spcBef>
              <a:spcAft>
                <a:spcPts val="0"/>
              </a:spcAft>
              <a:defRPr/>
            </a:pPr>
            <a:r>
              <a:rPr sz="1400" b="1" kern="0" spc="-10" dirty="0">
                <a:solidFill>
                  <a:srgbClr val="2D75B6"/>
                </a:solidFill>
                <a:latin typeface="Times New Roman"/>
                <a:cs typeface="Times New Roman"/>
              </a:rPr>
              <a:t>FPGA-</a:t>
            </a:r>
            <a:r>
              <a:rPr sz="1400" b="1" kern="0" dirty="0">
                <a:solidFill>
                  <a:srgbClr val="2D75B6"/>
                </a:solidFill>
                <a:latin typeface="Times New Roman"/>
                <a:cs typeface="Times New Roman"/>
              </a:rPr>
              <a:t>Based</a:t>
            </a:r>
            <a:r>
              <a:rPr sz="1400" kern="0" spc="-25" dirty="0">
                <a:solidFill>
                  <a:srgbClr val="2D75B6"/>
                </a:solidFill>
                <a:latin typeface="Times New Roman"/>
                <a:cs typeface="Times New Roman"/>
              </a:rPr>
              <a:t> </a:t>
            </a:r>
            <a:r>
              <a:rPr sz="1400" b="1" kern="0" dirty="0">
                <a:solidFill>
                  <a:srgbClr val="2D75B6"/>
                </a:solidFill>
                <a:latin typeface="Times New Roman"/>
                <a:cs typeface="Times New Roman"/>
              </a:rPr>
              <a:t>Design</a:t>
            </a:r>
            <a:r>
              <a:rPr sz="1400" kern="0" spc="-15" dirty="0">
                <a:solidFill>
                  <a:srgbClr val="2D75B6"/>
                </a:solidFill>
                <a:latin typeface="Times New Roman"/>
                <a:cs typeface="Times New Roman"/>
              </a:rPr>
              <a:t> </a:t>
            </a:r>
            <a:r>
              <a:rPr sz="1400" b="1" kern="0" spc="-10" dirty="0">
                <a:solidFill>
                  <a:srgbClr val="2D75B6"/>
                </a:solidFill>
                <a:latin typeface="Times New Roman"/>
                <a:cs typeface="Times New Roman"/>
              </a:rPr>
              <a:t>Project</a:t>
            </a:r>
            <a:endParaRPr sz="1400" kern="0">
              <a:solidFill>
                <a:sysClr val="windowText" lastClr="000000"/>
              </a:solidFill>
              <a:latin typeface="Times New Roman"/>
              <a:cs typeface="Times New Roman"/>
            </a:endParaRPr>
          </a:p>
        </p:txBody>
      </p:sp>
      <p:sp>
        <p:nvSpPr>
          <p:cNvPr id="2051" name="object 3">
            <a:extLst>
              <a:ext uri="{FF2B5EF4-FFF2-40B4-BE49-F238E27FC236}">
                <a16:creationId xmlns:a16="http://schemas.microsoft.com/office/drawing/2014/main" id="{181F94FF-D5F0-C6BE-BA4E-6B30D5FD564A}"/>
              </a:ext>
            </a:extLst>
          </p:cNvPr>
          <p:cNvSpPr>
            <a:spLocks/>
          </p:cNvSpPr>
          <p:nvPr/>
        </p:nvSpPr>
        <p:spPr bwMode="auto">
          <a:xfrm>
            <a:off x="1125538" y="2087563"/>
            <a:ext cx="5751512" cy="6350"/>
          </a:xfrm>
          <a:custGeom>
            <a:avLst/>
            <a:gdLst>
              <a:gd name="T0" fmla="*/ 5752459 w 5752465"/>
              <a:gd name="T1" fmla="*/ 0 h 6350"/>
              <a:gd name="T2" fmla="*/ 0 w 5752465"/>
              <a:gd name="T3" fmla="*/ 0 h 6350"/>
              <a:gd name="T4" fmla="*/ 0 w 5752465"/>
              <a:gd name="T5" fmla="*/ 6095 h 6350"/>
              <a:gd name="T6" fmla="*/ 5752459 w 5752465"/>
              <a:gd name="T7" fmla="*/ 6095 h 6350"/>
              <a:gd name="T8" fmla="*/ 5752459 w 5752465"/>
              <a:gd name="T9" fmla="*/ 0 h 6350"/>
            </a:gdLst>
            <a:ahLst/>
            <a:cxnLst>
              <a:cxn ang="0">
                <a:pos x="T0" y="T1"/>
              </a:cxn>
              <a:cxn ang="0">
                <a:pos x="T2" y="T3"/>
              </a:cxn>
              <a:cxn ang="0">
                <a:pos x="T4" y="T5"/>
              </a:cxn>
              <a:cxn ang="0">
                <a:pos x="T6" y="T7"/>
              </a:cxn>
              <a:cxn ang="0">
                <a:pos x="T8" y="T9"/>
              </a:cxn>
            </a:cxnLst>
            <a:rect l="0" t="0" r="r" b="b"/>
            <a:pathLst>
              <a:path w="5752465" h="6350">
                <a:moveTo>
                  <a:pt x="5752459" y="0"/>
                </a:moveTo>
                <a:lnTo>
                  <a:pt x="0" y="0"/>
                </a:lnTo>
                <a:lnTo>
                  <a:pt x="0" y="6095"/>
                </a:lnTo>
                <a:lnTo>
                  <a:pt x="5752459" y="6095"/>
                </a:lnTo>
                <a:lnTo>
                  <a:pt x="5752459" y="0"/>
                </a:lnTo>
                <a:close/>
              </a:path>
            </a:pathLst>
          </a:custGeom>
          <a:solidFill>
            <a:srgbClr val="2D75B6"/>
          </a:solidFill>
          <a:ln>
            <a:noFill/>
          </a:ln>
          <a:extLst>
            <a:ext uri="{91240B29-F687-4F45-9708-019B960494DF}">
              <a14:hiddenLine xmlns:a14="http://schemas.microsoft.com/office/drawing/2010/main" w="9525">
                <a:solidFill>
                  <a:srgbClr val="000000"/>
                </a:solidFill>
                <a:round/>
                <a:headEnd/>
                <a:tailEnd/>
              </a14:hiddenLine>
            </a:ext>
          </a:extLst>
        </p:spPr>
        <p:txBody>
          <a:bodyPr lIns="0" tIns="0" rIns="0" bIns="0"/>
          <a:lstStyle/>
          <a:p>
            <a:endParaRPr lang="en-IN"/>
          </a:p>
        </p:txBody>
      </p:sp>
      <p:sp>
        <p:nvSpPr>
          <p:cNvPr id="4" name="object 4">
            <a:extLst>
              <a:ext uri="{FF2B5EF4-FFF2-40B4-BE49-F238E27FC236}">
                <a16:creationId xmlns:a16="http://schemas.microsoft.com/office/drawing/2014/main" id="{6048DE96-1F53-8319-63FE-C9E48E3310B1}"/>
              </a:ext>
            </a:extLst>
          </p:cNvPr>
          <p:cNvSpPr txBox="1"/>
          <p:nvPr/>
        </p:nvSpPr>
        <p:spPr>
          <a:xfrm>
            <a:off x="1168400" y="2366963"/>
            <a:ext cx="5659438" cy="963612"/>
          </a:xfrm>
          <a:prstGeom prst="rect">
            <a:avLst/>
          </a:prstGeom>
        </p:spPr>
        <p:txBody>
          <a:bodyPr lIns="0" tIns="104775" rIns="0" bIns="0">
            <a:spAutoFit/>
          </a:bodyPr>
          <a:lstStyle>
            <a:lvl1pPr marL="3175">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spcBef>
                <a:spcPts val="825"/>
              </a:spcBef>
            </a:pPr>
            <a:r>
              <a:rPr lang="en-US" altLang="en-US" sz="1300" b="1">
                <a:solidFill>
                  <a:srgbClr val="1F4E79"/>
                </a:solidFill>
                <a:latin typeface="Times New Roman" panose="02020603050405020304" pitchFamily="18" charset="0"/>
                <a:cs typeface="Times New Roman" panose="02020603050405020304" pitchFamily="18" charset="0"/>
              </a:rPr>
              <a:t>Project</a:t>
            </a:r>
            <a:r>
              <a:rPr lang="en-US" altLang="en-US" sz="1300">
                <a:solidFill>
                  <a:srgbClr val="1F4E79"/>
                </a:solidFill>
                <a:latin typeface="Times New Roman" panose="02020603050405020304" pitchFamily="18" charset="0"/>
                <a:cs typeface="Times New Roman" panose="02020603050405020304" pitchFamily="18" charset="0"/>
              </a:rPr>
              <a:t> </a:t>
            </a:r>
            <a:r>
              <a:rPr lang="en-US" altLang="en-US" sz="1300" b="1">
                <a:solidFill>
                  <a:srgbClr val="1F4E79"/>
                </a:solidFill>
                <a:latin typeface="Times New Roman" panose="02020603050405020304" pitchFamily="18" charset="0"/>
                <a:cs typeface="Times New Roman" panose="02020603050405020304" pitchFamily="18" charset="0"/>
              </a:rPr>
              <a:t>Title:</a:t>
            </a:r>
            <a:endParaRPr lang="en-US" altLang="en-US" sz="1300">
              <a:solidFill>
                <a:srgbClr val="000000"/>
              </a:solidFill>
              <a:latin typeface="Times New Roman" panose="02020603050405020304" pitchFamily="18" charset="0"/>
              <a:cs typeface="Times New Roman" panose="02020603050405020304" pitchFamily="18" charset="0"/>
            </a:endParaRPr>
          </a:p>
          <a:p>
            <a:pPr algn="ctr" eaLnBrk="1" hangingPunct="1">
              <a:lnSpc>
                <a:spcPct val="136000"/>
              </a:lnSpc>
              <a:spcBef>
                <a:spcPts val="188"/>
              </a:spcBef>
            </a:pPr>
            <a:r>
              <a:rPr lang="en-US" altLang="en-US" sz="1500" b="1">
                <a:solidFill>
                  <a:srgbClr val="000000"/>
                </a:solidFill>
                <a:latin typeface="Times New Roman" panose="02020603050405020304" pitchFamily="18" charset="0"/>
                <a:cs typeface="Times New Roman" panose="02020603050405020304" pitchFamily="18" charset="0"/>
              </a:rPr>
              <a:t>FPGA</a:t>
            </a:r>
            <a:r>
              <a:rPr lang="en-US" altLang="en-US" sz="1500">
                <a:solidFill>
                  <a:srgbClr val="000000"/>
                </a:solidFill>
                <a:latin typeface="Times New Roman" panose="02020603050405020304" pitchFamily="18" charset="0"/>
                <a:cs typeface="Times New Roman" panose="02020603050405020304" pitchFamily="18" charset="0"/>
              </a:rPr>
              <a:t> </a:t>
            </a:r>
            <a:r>
              <a:rPr lang="en-US" altLang="en-US" sz="1500" b="1">
                <a:solidFill>
                  <a:srgbClr val="000000"/>
                </a:solidFill>
                <a:latin typeface="Times New Roman" panose="02020603050405020304" pitchFamily="18" charset="0"/>
                <a:cs typeface="Times New Roman" panose="02020603050405020304" pitchFamily="18" charset="0"/>
              </a:rPr>
              <a:t>Implementation</a:t>
            </a:r>
            <a:r>
              <a:rPr lang="en-US" altLang="en-US" sz="1500">
                <a:solidFill>
                  <a:srgbClr val="000000"/>
                </a:solidFill>
                <a:latin typeface="Times New Roman" panose="02020603050405020304" pitchFamily="18" charset="0"/>
                <a:cs typeface="Times New Roman" panose="02020603050405020304" pitchFamily="18" charset="0"/>
              </a:rPr>
              <a:t> </a:t>
            </a:r>
            <a:r>
              <a:rPr lang="en-US" altLang="en-US" sz="1500" b="1">
                <a:solidFill>
                  <a:srgbClr val="000000"/>
                </a:solidFill>
                <a:latin typeface="Times New Roman" panose="02020603050405020304" pitchFamily="18" charset="0"/>
                <a:cs typeface="Times New Roman" panose="02020603050405020304" pitchFamily="18" charset="0"/>
              </a:rPr>
              <a:t>of</a:t>
            </a:r>
            <a:r>
              <a:rPr lang="en-US" altLang="en-US" sz="1500">
                <a:solidFill>
                  <a:srgbClr val="000000"/>
                </a:solidFill>
                <a:latin typeface="Times New Roman" panose="02020603050405020304" pitchFamily="18" charset="0"/>
                <a:cs typeface="Times New Roman" panose="02020603050405020304" pitchFamily="18" charset="0"/>
              </a:rPr>
              <a:t> </a:t>
            </a:r>
            <a:r>
              <a:rPr lang="en-US" altLang="en-US" sz="1500" b="1">
                <a:solidFill>
                  <a:srgbClr val="000000"/>
                </a:solidFill>
                <a:latin typeface="Times New Roman" panose="02020603050405020304" pitchFamily="18" charset="0"/>
                <a:cs typeface="Times New Roman" panose="02020603050405020304" pitchFamily="18" charset="0"/>
              </a:rPr>
              <a:t>Modified</a:t>
            </a:r>
            <a:r>
              <a:rPr lang="en-US" altLang="en-US" sz="1500">
                <a:solidFill>
                  <a:srgbClr val="000000"/>
                </a:solidFill>
                <a:latin typeface="Times New Roman" panose="02020603050405020304" pitchFamily="18" charset="0"/>
                <a:cs typeface="Times New Roman" panose="02020603050405020304" pitchFamily="18" charset="0"/>
              </a:rPr>
              <a:t> </a:t>
            </a:r>
            <a:r>
              <a:rPr lang="en-US" altLang="en-US" sz="1500" b="1">
                <a:solidFill>
                  <a:srgbClr val="000000"/>
                </a:solidFill>
                <a:latin typeface="Times New Roman" panose="02020603050405020304" pitchFamily="18" charset="0"/>
                <a:cs typeface="Times New Roman" panose="02020603050405020304" pitchFamily="18" charset="0"/>
              </a:rPr>
              <a:t>Error</a:t>
            </a:r>
            <a:r>
              <a:rPr lang="en-US" altLang="en-US" sz="1500">
                <a:solidFill>
                  <a:srgbClr val="000000"/>
                </a:solidFill>
                <a:latin typeface="Times New Roman" panose="02020603050405020304" pitchFamily="18" charset="0"/>
                <a:cs typeface="Times New Roman" panose="02020603050405020304" pitchFamily="18" charset="0"/>
              </a:rPr>
              <a:t> </a:t>
            </a:r>
            <a:r>
              <a:rPr lang="en-US" altLang="en-US" sz="1500" b="1">
                <a:solidFill>
                  <a:srgbClr val="000000"/>
                </a:solidFill>
                <a:latin typeface="Times New Roman" panose="02020603050405020304" pitchFamily="18" charset="0"/>
                <a:cs typeface="Times New Roman" panose="02020603050405020304" pitchFamily="18" charset="0"/>
              </a:rPr>
              <a:t>Normalized</a:t>
            </a:r>
            <a:r>
              <a:rPr lang="en-US" altLang="en-US" sz="1500">
                <a:solidFill>
                  <a:srgbClr val="000000"/>
                </a:solidFill>
                <a:latin typeface="Times New Roman" panose="02020603050405020304" pitchFamily="18" charset="0"/>
                <a:cs typeface="Times New Roman" panose="02020603050405020304" pitchFamily="18" charset="0"/>
              </a:rPr>
              <a:t> </a:t>
            </a:r>
            <a:r>
              <a:rPr lang="en-US" altLang="en-US" sz="1500" b="1">
                <a:solidFill>
                  <a:srgbClr val="000000"/>
                </a:solidFill>
                <a:latin typeface="Times New Roman" panose="02020603050405020304" pitchFamily="18" charset="0"/>
                <a:cs typeface="Times New Roman" panose="02020603050405020304" pitchFamily="18" charset="0"/>
              </a:rPr>
              <a:t>LMS</a:t>
            </a:r>
            <a:r>
              <a:rPr lang="en-US" altLang="en-US" sz="1500">
                <a:solidFill>
                  <a:srgbClr val="000000"/>
                </a:solidFill>
                <a:latin typeface="Times New Roman" panose="02020603050405020304" pitchFamily="18" charset="0"/>
                <a:cs typeface="Times New Roman" panose="02020603050405020304" pitchFamily="18" charset="0"/>
              </a:rPr>
              <a:t> </a:t>
            </a:r>
            <a:r>
              <a:rPr lang="en-US" altLang="en-US" sz="1500" b="1">
                <a:solidFill>
                  <a:srgbClr val="000000"/>
                </a:solidFill>
                <a:latin typeface="Times New Roman" panose="02020603050405020304" pitchFamily="18" charset="0"/>
                <a:cs typeface="Times New Roman" panose="02020603050405020304" pitchFamily="18" charset="0"/>
              </a:rPr>
              <a:t>Adaptive</a:t>
            </a:r>
            <a:r>
              <a:rPr lang="en-US" altLang="en-US" sz="1500">
                <a:solidFill>
                  <a:srgbClr val="000000"/>
                </a:solidFill>
                <a:latin typeface="Times New Roman" panose="02020603050405020304" pitchFamily="18" charset="0"/>
                <a:cs typeface="Times New Roman" panose="02020603050405020304" pitchFamily="18" charset="0"/>
              </a:rPr>
              <a:t> </a:t>
            </a:r>
            <a:r>
              <a:rPr lang="en-US" altLang="en-US" sz="1500" b="1">
                <a:solidFill>
                  <a:srgbClr val="000000"/>
                </a:solidFill>
                <a:latin typeface="Times New Roman" panose="02020603050405020304" pitchFamily="18" charset="0"/>
                <a:cs typeface="Times New Roman" panose="02020603050405020304" pitchFamily="18" charset="0"/>
              </a:rPr>
              <a:t>Filter</a:t>
            </a:r>
            <a:r>
              <a:rPr lang="en-US" altLang="en-US" sz="1500">
                <a:solidFill>
                  <a:srgbClr val="000000"/>
                </a:solidFill>
                <a:latin typeface="Times New Roman" panose="02020603050405020304" pitchFamily="18" charset="0"/>
                <a:cs typeface="Times New Roman" panose="02020603050405020304" pitchFamily="18" charset="0"/>
              </a:rPr>
              <a:t> </a:t>
            </a:r>
            <a:r>
              <a:rPr lang="en-US" altLang="en-US" sz="1500" b="1">
                <a:solidFill>
                  <a:srgbClr val="000000"/>
                </a:solidFill>
                <a:latin typeface="Times New Roman" panose="02020603050405020304" pitchFamily="18" charset="0"/>
                <a:cs typeface="Times New Roman" panose="02020603050405020304" pitchFamily="18" charset="0"/>
              </a:rPr>
              <a:t>for</a:t>
            </a:r>
            <a:r>
              <a:rPr lang="en-US" altLang="en-US" sz="1500">
                <a:solidFill>
                  <a:srgbClr val="000000"/>
                </a:solidFill>
                <a:latin typeface="Times New Roman" panose="02020603050405020304" pitchFamily="18" charset="0"/>
                <a:cs typeface="Times New Roman" panose="02020603050405020304" pitchFamily="18" charset="0"/>
              </a:rPr>
              <a:t> </a:t>
            </a:r>
            <a:r>
              <a:rPr lang="en-US" altLang="en-US" sz="1500" b="1">
                <a:solidFill>
                  <a:srgbClr val="000000"/>
                </a:solidFill>
                <a:latin typeface="Times New Roman" panose="02020603050405020304" pitchFamily="18" charset="0"/>
                <a:cs typeface="Times New Roman" panose="02020603050405020304" pitchFamily="18" charset="0"/>
              </a:rPr>
              <a:t>ECG</a:t>
            </a:r>
            <a:r>
              <a:rPr lang="en-US" altLang="en-US" sz="1500">
                <a:solidFill>
                  <a:srgbClr val="000000"/>
                </a:solidFill>
                <a:latin typeface="Times New Roman" panose="02020603050405020304" pitchFamily="18" charset="0"/>
                <a:cs typeface="Times New Roman" panose="02020603050405020304" pitchFamily="18" charset="0"/>
              </a:rPr>
              <a:t> </a:t>
            </a:r>
            <a:r>
              <a:rPr lang="en-US" altLang="en-US" sz="1500" b="1">
                <a:solidFill>
                  <a:srgbClr val="000000"/>
                </a:solidFill>
                <a:latin typeface="Times New Roman" panose="02020603050405020304" pitchFamily="18" charset="0"/>
                <a:cs typeface="Times New Roman" panose="02020603050405020304" pitchFamily="18" charset="0"/>
              </a:rPr>
              <a:t>Noise</a:t>
            </a:r>
            <a:r>
              <a:rPr lang="en-US" altLang="en-US" sz="1500">
                <a:solidFill>
                  <a:srgbClr val="000000"/>
                </a:solidFill>
                <a:latin typeface="Times New Roman" panose="02020603050405020304" pitchFamily="18" charset="0"/>
                <a:cs typeface="Times New Roman" panose="02020603050405020304" pitchFamily="18" charset="0"/>
              </a:rPr>
              <a:t> </a:t>
            </a:r>
            <a:r>
              <a:rPr lang="en-US" altLang="en-US" sz="1500" b="1">
                <a:solidFill>
                  <a:srgbClr val="000000"/>
                </a:solidFill>
                <a:latin typeface="Times New Roman" panose="02020603050405020304" pitchFamily="18" charset="0"/>
                <a:cs typeface="Times New Roman" panose="02020603050405020304" pitchFamily="18" charset="0"/>
              </a:rPr>
              <a:t>Removal</a:t>
            </a:r>
            <a:endParaRPr lang="en-US" altLang="en-US" sz="1500">
              <a:solidFill>
                <a:srgbClr val="000000"/>
              </a:solidFill>
              <a:latin typeface="Times New Roman" panose="02020603050405020304" pitchFamily="18" charset="0"/>
              <a:cs typeface="Times New Roman" panose="02020603050405020304" pitchFamily="18" charset="0"/>
            </a:endParaRPr>
          </a:p>
        </p:txBody>
      </p:sp>
      <p:sp>
        <p:nvSpPr>
          <p:cNvPr id="5" name="object 5">
            <a:extLst>
              <a:ext uri="{FF2B5EF4-FFF2-40B4-BE49-F238E27FC236}">
                <a16:creationId xmlns:a16="http://schemas.microsoft.com/office/drawing/2014/main" id="{56F2A116-BB2F-3EB4-00CB-A148B1E948B1}"/>
              </a:ext>
            </a:extLst>
          </p:cNvPr>
          <p:cNvSpPr txBox="1"/>
          <p:nvPr/>
        </p:nvSpPr>
        <p:spPr>
          <a:xfrm>
            <a:off x="1873250" y="3794125"/>
            <a:ext cx="4257675" cy="531813"/>
          </a:xfrm>
          <a:prstGeom prst="rect">
            <a:avLst/>
          </a:prstGeom>
        </p:spPr>
        <p:txBody>
          <a:bodyPr lIns="0" tIns="12700" rIns="0" bIns="0">
            <a:spAutoFit/>
          </a:bodyPr>
          <a:lstStyle>
            <a:lvl1pPr marL="1165225" indent="-1152525">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lnSpc>
                <a:spcPct val="151000"/>
              </a:lnSpc>
              <a:spcBef>
                <a:spcPts val="100"/>
              </a:spcBef>
            </a:pPr>
            <a:r>
              <a:rPr lang="en-US" altLang="en-US" sz="1100" i="1">
                <a:solidFill>
                  <a:srgbClr val="545454"/>
                </a:solidFill>
                <a:latin typeface="Times New Roman" panose="02020603050405020304" pitchFamily="18" charset="0"/>
                <a:cs typeface="Times New Roman" panose="02020603050405020304" pitchFamily="18" charset="0"/>
              </a:rPr>
              <a:t>Based</a:t>
            </a:r>
            <a:r>
              <a:rPr lang="en-US" altLang="en-US" sz="1100">
                <a:solidFill>
                  <a:srgbClr val="545454"/>
                </a:solidFill>
                <a:latin typeface="Times New Roman" panose="02020603050405020304" pitchFamily="18" charset="0"/>
                <a:cs typeface="Times New Roman" panose="02020603050405020304" pitchFamily="18" charset="0"/>
              </a:rPr>
              <a:t> </a:t>
            </a:r>
            <a:r>
              <a:rPr lang="en-US" altLang="en-US" sz="1100" i="1">
                <a:solidFill>
                  <a:srgbClr val="545454"/>
                </a:solidFill>
                <a:latin typeface="Times New Roman" panose="02020603050405020304" pitchFamily="18" charset="0"/>
                <a:cs typeface="Times New Roman" panose="02020603050405020304" pitchFamily="18" charset="0"/>
              </a:rPr>
              <a:t>on:</a:t>
            </a:r>
            <a:r>
              <a:rPr lang="en-US" altLang="en-US" sz="1100">
                <a:solidFill>
                  <a:srgbClr val="545454"/>
                </a:solidFill>
                <a:latin typeface="Times New Roman" panose="02020603050405020304" pitchFamily="18" charset="0"/>
                <a:cs typeface="Times New Roman" panose="02020603050405020304" pitchFamily="18" charset="0"/>
              </a:rPr>
              <a:t> </a:t>
            </a:r>
            <a:r>
              <a:rPr lang="en-US" altLang="en-US" sz="1100" i="1">
                <a:solidFill>
                  <a:srgbClr val="545454"/>
                </a:solidFill>
                <a:latin typeface="Times New Roman" panose="02020603050405020304" pitchFamily="18" charset="0"/>
                <a:cs typeface="Times New Roman" panose="02020603050405020304" pitchFamily="18" charset="0"/>
              </a:rPr>
              <a:t>Venkatesan</a:t>
            </a:r>
            <a:r>
              <a:rPr lang="en-US" altLang="en-US" sz="1100">
                <a:solidFill>
                  <a:srgbClr val="545454"/>
                </a:solidFill>
                <a:latin typeface="Times New Roman" panose="02020603050405020304" pitchFamily="18" charset="0"/>
                <a:cs typeface="Times New Roman" panose="02020603050405020304" pitchFamily="18" charset="0"/>
              </a:rPr>
              <a:t> </a:t>
            </a:r>
            <a:r>
              <a:rPr lang="en-US" altLang="en-US" sz="1100" i="1">
                <a:solidFill>
                  <a:srgbClr val="545454"/>
                </a:solidFill>
                <a:latin typeface="Times New Roman" panose="02020603050405020304" pitchFamily="18" charset="0"/>
                <a:cs typeface="Times New Roman" panose="02020603050405020304" pitchFamily="18" charset="0"/>
              </a:rPr>
              <a:t>et</a:t>
            </a:r>
            <a:r>
              <a:rPr lang="en-US" altLang="en-US" sz="1100">
                <a:solidFill>
                  <a:srgbClr val="545454"/>
                </a:solidFill>
                <a:latin typeface="Times New Roman" panose="02020603050405020304" pitchFamily="18" charset="0"/>
                <a:cs typeface="Times New Roman" panose="02020603050405020304" pitchFamily="18" charset="0"/>
              </a:rPr>
              <a:t> </a:t>
            </a:r>
            <a:r>
              <a:rPr lang="en-US" altLang="en-US" sz="1100" i="1">
                <a:solidFill>
                  <a:srgbClr val="545454"/>
                </a:solidFill>
                <a:latin typeface="Times New Roman" panose="02020603050405020304" pitchFamily="18" charset="0"/>
                <a:cs typeface="Times New Roman" panose="02020603050405020304" pitchFamily="18" charset="0"/>
              </a:rPr>
              <a:t>al.,</a:t>
            </a:r>
            <a:r>
              <a:rPr lang="en-US" altLang="en-US" sz="1100">
                <a:solidFill>
                  <a:srgbClr val="545454"/>
                </a:solidFill>
                <a:latin typeface="Times New Roman" panose="02020603050405020304" pitchFamily="18" charset="0"/>
                <a:cs typeface="Times New Roman" panose="02020603050405020304" pitchFamily="18" charset="0"/>
              </a:rPr>
              <a:t> </a:t>
            </a:r>
            <a:r>
              <a:rPr lang="en-US" altLang="en-US" sz="1100" i="1">
                <a:solidFill>
                  <a:srgbClr val="545454"/>
                </a:solidFill>
                <a:latin typeface="Times New Roman" panose="02020603050405020304" pitchFamily="18" charset="0"/>
                <a:cs typeface="Times New Roman" panose="02020603050405020304" pitchFamily="18" charset="0"/>
              </a:rPr>
              <a:t>Cluster</a:t>
            </a:r>
            <a:r>
              <a:rPr lang="en-US" altLang="en-US" sz="1100">
                <a:solidFill>
                  <a:srgbClr val="545454"/>
                </a:solidFill>
                <a:latin typeface="Times New Roman" panose="02020603050405020304" pitchFamily="18" charset="0"/>
                <a:cs typeface="Times New Roman" panose="02020603050405020304" pitchFamily="18" charset="0"/>
              </a:rPr>
              <a:t> </a:t>
            </a:r>
            <a:r>
              <a:rPr lang="en-US" altLang="en-US" sz="1100" i="1">
                <a:solidFill>
                  <a:srgbClr val="545454"/>
                </a:solidFill>
                <a:latin typeface="Times New Roman" panose="02020603050405020304" pitchFamily="18" charset="0"/>
                <a:cs typeface="Times New Roman" panose="02020603050405020304" pitchFamily="18" charset="0"/>
              </a:rPr>
              <a:t>Computing</a:t>
            </a:r>
            <a:r>
              <a:rPr lang="en-US" altLang="en-US" sz="1100">
                <a:solidFill>
                  <a:srgbClr val="545454"/>
                </a:solidFill>
                <a:latin typeface="Times New Roman" panose="02020603050405020304" pitchFamily="18" charset="0"/>
                <a:cs typeface="Times New Roman" panose="02020603050405020304" pitchFamily="18" charset="0"/>
              </a:rPr>
              <a:t> </a:t>
            </a:r>
            <a:r>
              <a:rPr lang="en-US" altLang="en-US" sz="1100" i="1">
                <a:solidFill>
                  <a:srgbClr val="545454"/>
                </a:solidFill>
                <a:latin typeface="Times New Roman" panose="02020603050405020304" pitchFamily="18" charset="0"/>
                <a:cs typeface="Times New Roman" panose="02020603050405020304" pitchFamily="18" charset="0"/>
              </a:rPr>
              <a:t>(2019)</a:t>
            </a:r>
            <a:r>
              <a:rPr lang="en-US" altLang="en-US" sz="1100">
                <a:solidFill>
                  <a:srgbClr val="545454"/>
                </a:solidFill>
                <a:latin typeface="Times New Roman" panose="02020603050405020304" pitchFamily="18" charset="0"/>
                <a:cs typeface="Times New Roman" panose="02020603050405020304" pitchFamily="18" charset="0"/>
              </a:rPr>
              <a:t> </a:t>
            </a:r>
            <a:r>
              <a:rPr lang="en-US" altLang="en-US" sz="1100" i="1">
                <a:solidFill>
                  <a:srgbClr val="545454"/>
                </a:solidFill>
                <a:latin typeface="Times New Roman" panose="02020603050405020304" pitchFamily="18" charset="0"/>
                <a:cs typeface="Times New Roman" panose="02020603050405020304" pitchFamily="18" charset="0"/>
              </a:rPr>
              <a:t>22:S12233–S12241</a:t>
            </a:r>
            <a:r>
              <a:rPr lang="en-US" altLang="en-US" sz="1100">
                <a:solidFill>
                  <a:srgbClr val="545454"/>
                </a:solidFill>
                <a:latin typeface="Times New Roman" panose="02020603050405020304" pitchFamily="18" charset="0"/>
                <a:cs typeface="Times New Roman" panose="02020603050405020304" pitchFamily="18" charset="0"/>
              </a:rPr>
              <a:t> </a:t>
            </a:r>
            <a:r>
              <a:rPr lang="en-US" altLang="en-US" sz="1100" i="1">
                <a:solidFill>
                  <a:srgbClr val="545454"/>
                </a:solidFill>
                <a:latin typeface="Times New Roman" panose="02020603050405020304" pitchFamily="18" charset="0"/>
                <a:cs typeface="Times New Roman" panose="02020603050405020304" pitchFamily="18" charset="0"/>
              </a:rPr>
              <a:t>DOI:</a:t>
            </a:r>
            <a:r>
              <a:rPr lang="en-US" altLang="en-US" sz="1100">
                <a:solidFill>
                  <a:srgbClr val="545454"/>
                </a:solidFill>
                <a:latin typeface="Times New Roman" panose="02020603050405020304" pitchFamily="18" charset="0"/>
                <a:cs typeface="Times New Roman" panose="02020603050405020304" pitchFamily="18" charset="0"/>
              </a:rPr>
              <a:t> </a:t>
            </a:r>
            <a:r>
              <a:rPr lang="en-US" altLang="en-US" sz="1100" i="1">
                <a:solidFill>
                  <a:srgbClr val="545454"/>
                </a:solidFill>
                <a:latin typeface="Times New Roman" panose="02020603050405020304" pitchFamily="18" charset="0"/>
                <a:cs typeface="Times New Roman" panose="02020603050405020304" pitchFamily="18" charset="0"/>
              </a:rPr>
              <a:t>10.1007/s10586-017-1602-0</a:t>
            </a:r>
            <a:endParaRPr lang="en-US" altLang="en-US" sz="1100">
              <a:solidFill>
                <a:srgbClr val="000000"/>
              </a:solidFill>
              <a:latin typeface="Times New Roman" panose="02020603050405020304" pitchFamily="18" charset="0"/>
              <a:cs typeface="Times New Roman" panose="02020603050405020304" pitchFamily="18" charset="0"/>
            </a:endParaRPr>
          </a:p>
        </p:txBody>
      </p:sp>
      <p:sp>
        <p:nvSpPr>
          <p:cNvPr id="2054" name="object 6">
            <a:extLst>
              <a:ext uri="{FF2B5EF4-FFF2-40B4-BE49-F238E27FC236}">
                <a16:creationId xmlns:a16="http://schemas.microsoft.com/office/drawing/2014/main" id="{16FA579C-99AB-29CD-05AA-5778327BE6C3}"/>
              </a:ext>
            </a:extLst>
          </p:cNvPr>
          <p:cNvSpPr>
            <a:spLocks/>
          </p:cNvSpPr>
          <p:nvPr/>
        </p:nvSpPr>
        <p:spPr bwMode="auto">
          <a:xfrm>
            <a:off x="1125538" y="4832350"/>
            <a:ext cx="5751512" cy="6350"/>
          </a:xfrm>
          <a:custGeom>
            <a:avLst/>
            <a:gdLst>
              <a:gd name="T0" fmla="*/ 5752459 w 5752465"/>
              <a:gd name="T1" fmla="*/ 0 h 6350"/>
              <a:gd name="T2" fmla="*/ 0 w 5752465"/>
              <a:gd name="T3" fmla="*/ 0 h 6350"/>
              <a:gd name="T4" fmla="*/ 0 w 5752465"/>
              <a:gd name="T5" fmla="*/ 6095 h 6350"/>
              <a:gd name="T6" fmla="*/ 5752459 w 5752465"/>
              <a:gd name="T7" fmla="*/ 6095 h 6350"/>
              <a:gd name="T8" fmla="*/ 5752459 w 5752465"/>
              <a:gd name="T9" fmla="*/ 0 h 6350"/>
            </a:gdLst>
            <a:ahLst/>
            <a:cxnLst>
              <a:cxn ang="0">
                <a:pos x="T0" y="T1"/>
              </a:cxn>
              <a:cxn ang="0">
                <a:pos x="T2" y="T3"/>
              </a:cxn>
              <a:cxn ang="0">
                <a:pos x="T4" y="T5"/>
              </a:cxn>
              <a:cxn ang="0">
                <a:pos x="T6" y="T7"/>
              </a:cxn>
              <a:cxn ang="0">
                <a:pos x="T8" y="T9"/>
              </a:cxn>
            </a:cxnLst>
            <a:rect l="0" t="0" r="r" b="b"/>
            <a:pathLst>
              <a:path w="5752465" h="6350">
                <a:moveTo>
                  <a:pt x="5752459" y="0"/>
                </a:moveTo>
                <a:lnTo>
                  <a:pt x="0" y="0"/>
                </a:lnTo>
                <a:lnTo>
                  <a:pt x="0" y="6095"/>
                </a:lnTo>
                <a:lnTo>
                  <a:pt x="5752459" y="6095"/>
                </a:lnTo>
                <a:lnTo>
                  <a:pt x="5752459" y="0"/>
                </a:lnTo>
                <a:close/>
              </a:path>
            </a:pathLst>
          </a:custGeom>
          <a:solidFill>
            <a:srgbClr val="2D75B6"/>
          </a:solidFill>
          <a:ln>
            <a:noFill/>
          </a:ln>
          <a:extLst>
            <a:ext uri="{91240B29-F687-4F45-9708-019B960494DF}">
              <a14:hiddenLine xmlns:a14="http://schemas.microsoft.com/office/drawing/2010/main" w="9525">
                <a:solidFill>
                  <a:srgbClr val="000000"/>
                </a:solidFill>
                <a:round/>
                <a:headEnd/>
                <a:tailEnd/>
              </a14:hiddenLine>
            </a:ext>
          </a:extLst>
        </p:spPr>
        <p:txBody>
          <a:bodyPr lIns="0" tIns="0" rIns="0" bIns="0"/>
          <a:lstStyle/>
          <a:p>
            <a:endParaRPr lang="en-IN"/>
          </a:p>
        </p:txBody>
      </p:sp>
      <p:sp>
        <p:nvSpPr>
          <p:cNvPr id="7" name="object 7">
            <a:extLst>
              <a:ext uri="{FF2B5EF4-FFF2-40B4-BE49-F238E27FC236}">
                <a16:creationId xmlns:a16="http://schemas.microsoft.com/office/drawing/2014/main" id="{8B8D4CD5-E631-E3EF-9690-BFA39399C24D}"/>
              </a:ext>
            </a:extLst>
          </p:cNvPr>
          <p:cNvSpPr txBox="1"/>
          <p:nvPr/>
        </p:nvSpPr>
        <p:spPr>
          <a:xfrm>
            <a:off x="1371600" y="5102225"/>
            <a:ext cx="5257800" cy="571500"/>
          </a:xfrm>
          <a:prstGeom prst="rect">
            <a:avLst/>
          </a:prstGeom>
        </p:spPr>
        <p:txBody>
          <a:bodyPr lIns="0" tIns="113664" rIns="0" bIns="0">
            <a:spAutoFit/>
          </a:bodyPr>
          <a:lstStyle/>
          <a:p>
            <a:pPr marL="635" algn="ctr" eaLnBrk="1" fontAlgn="auto" hangingPunct="1">
              <a:spcBef>
                <a:spcPts val="894"/>
              </a:spcBef>
              <a:spcAft>
                <a:spcPts val="0"/>
              </a:spcAft>
              <a:defRPr/>
            </a:pPr>
            <a:r>
              <a:rPr sz="1200" b="1" kern="0" dirty="0">
                <a:solidFill>
                  <a:sysClr val="windowText" lastClr="000000"/>
                </a:solidFill>
                <a:latin typeface="Times New Roman"/>
                <a:cs typeface="Times New Roman"/>
              </a:rPr>
              <a:t>Tools</a:t>
            </a:r>
            <a:r>
              <a:rPr sz="1200" kern="0" dirty="0">
                <a:solidFill>
                  <a:sysClr val="windowText" lastClr="000000"/>
                </a:solidFill>
                <a:latin typeface="Times New Roman"/>
                <a:cs typeface="Times New Roman"/>
              </a:rPr>
              <a:t> </a:t>
            </a:r>
            <a:r>
              <a:rPr sz="1200" b="1" kern="0" spc="-10" dirty="0">
                <a:solidFill>
                  <a:sysClr val="windowText" lastClr="000000"/>
                </a:solidFill>
                <a:latin typeface="Times New Roman"/>
                <a:cs typeface="Times New Roman"/>
              </a:rPr>
              <a:t>Used:</a:t>
            </a:r>
            <a:endParaRPr sz="1200" kern="0">
              <a:solidFill>
                <a:sysClr val="windowText" lastClr="000000"/>
              </a:solidFill>
              <a:latin typeface="Times New Roman"/>
              <a:cs typeface="Times New Roman"/>
            </a:endParaRPr>
          </a:p>
          <a:p>
            <a:pPr algn="ctr" eaLnBrk="1" fontAlgn="auto" hangingPunct="1">
              <a:spcBef>
                <a:spcPts val="735"/>
              </a:spcBef>
              <a:spcAft>
                <a:spcPts val="0"/>
              </a:spcAft>
              <a:defRPr/>
            </a:pPr>
            <a:r>
              <a:rPr sz="1100" kern="0" dirty="0">
                <a:solidFill>
                  <a:srgbClr val="323232"/>
                </a:solidFill>
                <a:latin typeface="Times New Roman"/>
                <a:cs typeface="Times New Roman"/>
              </a:rPr>
              <a:t>Verilog</a:t>
            </a:r>
            <a:r>
              <a:rPr sz="1100" kern="0" spc="-25" dirty="0">
                <a:solidFill>
                  <a:srgbClr val="323232"/>
                </a:solidFill>
                <a:latin typeface="Times New Roman"/>
                <a:cs typeface="Times New Roman"/>
              </a:rPr>
              <a:t> </a:t>
            </a:r>
            <a:r>
              <a:rPr sz="1100" kern="0" dirty="0">
                <a:solidFill>
                  <a:srgbClr val="323232"/>
                </a:solidFill>
                <a:latin typeface="Times New Roman"/>
                <a:cs typeface="Times New Roman"/>
              </a:rPr>
              <a:t>HDL</a:t>
            </a:r>
            <a:r>
              <a:rPr sz="1100" kern="0" spc="254" dirty="0">
                <a:solidFill>
                  <a:srgbClr val="323232"/>
                </a:solidFill>
                <a:latin typeface="Times New Roman"/>
                <a:cs typeface="Times New Roman"/>
              </a:rPr>
              <a:t> </a:t>
            </a:r>
            <a:r>
              <a:rPr sz="1100" kern="0" dirty="0">
                <a:solidFill>
                  <a:srgbClr val="323232"/>
                </a:solidFill>
                <a:latin typeface="Times New Roman"/>
                <a:cs typeface="Times New Roman"/>
              </a:rPr>
              <a:t>•</a:t>
            </a:r>
            <a:r>
              <a:rPr sz="1100" kern="0" spc="250" dirty="0">
                <a:solidFill>
                  <a:srgbClr val="323232"/>
                </a:solidFill>
                <a:latin typeface="Times New Roman"/>
                <a:cs typeface="Times New Roman"/>
              </a:rPr>
              <a:t> </a:t>
            </a:r>
            <a:r>
              <a:rPr sz="1100" kern="0" dirty="0">
                <a:solidFill>
                  <a:srgbClr val="323232"/>
                </a:solidFill>
                <a:latin typeface="Times New Roman"/>
                <a:cs typeface="Times New Roman"/>
              </a:rPr>
              <a:t>ModelSim</a:t>
            </a:r>
            <a:r>
              <a:rPr sz="1100" kern="0" spc="245" dirty="0">
                <a:solidFill>
                  <a:srgbClr val="323232"/>
                </a:solidFill>
                <a:latin typeface="Times New Roman"/>
                <a:cs typeface="Times New Roman"/>
              </a:rPr>
              <a:t> </a:t>
            </a:r>
            <a:r>
              <a:rPr sz="1100" kern="0" dirty="0">
                <a:solidFill>
                  <a:srgbClr val="323232"/>
                </a:solidFill>
                <a:latin typeface="Times New Roman"/>
                <a:cs typeface="Times New Roman"/>
              </a:rPr>
              <a:t>•</a:t>
            </a:r>
            <a:r>
              <a:rPr sz="1100" kern="0" spc="254" dirty="0">
                <a:solidFill>
                  <a:srgbClr val="323232"/>
                </a:solidFill>
                <a:latin typeface="Times New Roman"/>
                <a:cs typeface="Times New Roman"/>
              </a:rPr>
              <a:t> </a:t>
            </a:r>
            <a:r>
              <a:rPr sz="1100" kern="0" dirty="0">
                <a:solidFill>
                  <a:srgbClr val="323232"/>
                </a:solidFill>
                <a:latin typeface="Times New Roman"/>
                <a:cs typeface="Times New Roman"/>
              </a:rPr>
              <a:t>Xilinx</a:t>
            </a:r>
            <a:r>
              <a:rPr sz="1100" kern="0" spc="-10" dirty="0">
                <a:solidFill>
                  <a:srgbClr val="323232"/>
                </a:solidFill>
                <a:latin typeface="Times New Roman"/>
                <a:cs typeface="Times New Roman"/>
              </a:rPr>
              <a:t> </a:t>
            </a:r>
            <a:r>
              <a:rPr sz="1100" kern="0" dirty="0">
                <a:solidFill>
                  <a:srgbClr val="323232"/>
                </a:solidFill>
                <a:latin typeface="Times New Roman"/>
                <a:cs typeface="Times New Roman"/>
              </a:rPr>
              <a:t>ISE</a:t>
            </a:r>
            <a:r>
              <a:rPr sz="1100" kern="0" spc="245" dirty="0">
                <a:solidFill>
                  <a:srgbClr val="323232"/>
                </a:solidFill>
                <a:latin typeface="Times New Roman"/>
                <a:cs typeface="Times New Roman"/>
              </a:rPr>
              <a:t> </a:t>
            </a:r>
            <a:r>
              <a:rPr sz="1100" kern="0" dirty="0">
                <a:solidFill>
                  <a:srgbClr val="323232"/>
                </a:solidFill>
                <a:latin typeface="Times New Roman"/>
                <a:cs typeface="Times New Roman"/>
              </a:rPr>
              <a:t>•</a:t>
            </a:r>
            <a:r>
              <a:rPr sz="1100" kern="0" spc="254" dirty="0">
                <a:solidFill>
                  <a:srgbClr val="323232"/>
                </a:solidFill>
                <a:latin typeface="Times New Roman"/>
                <a:cs typeface="Times New Roman"/>
              </a:rPr>
              <a:t> </a:t>
            </a:r>
            <a:r>
              <a:rPr sz="1100" kern="0" dirty="0">
                <a:solidFill>
                  <a:srgbClr val="323232"/>
                </a:solidFill>
                <a:latin typeface="Times New Roman"/>
                <a:cs typeface="Times New Roman"/>
              </a:rPr>
              <a:t>Virtex</a:t>
            </a:r>
            <a:r>
              <a:rPr sz="1100" kern="0" spc="-10" dirty="0">
                <a:solidFill>
                  <a:srgbClr val="323232"/>
                </a:solidFill>
                <a:latin typeface="Times New Roman"/>
                <a:cs typeface="Times New Roman"/>
              </a:rPr>
              <a:t> </a:t>
            </a:r>
            <a:r>
              <a:rPr sz="1100" kern="0" dirty="0">
                <a:solidFill>
                  <a:srgbClr val="323232"/>
                </a:solidFill>
                <a:latin typeface="Times New Roman"/>
                <a:cs typeface="Times New Roman"/>
              </a:rPr>
              <a:t>5</a:t>
            </a:r>
            <a:r>
              <a:rPr sz="1100" kern="0" spc="-10" dirty="0">
                <a:solidFill>
                  <a:srgbClr val="323232"/>
                </a:solidFill>
                <a:latin typeface="Times New Roman"/>
                <a:cs typeface="Times New Roman"/>
              </a:rPr>
              <a:t> </a:t>
            </a:r>
            <a:r>
              <a:rPr sz="1100" kern="0" dirty="0">
                <a:solidFill>
                  <a:srgbClr val="323232"/>
                </a:solidFill>
                <a:latin typeface="Times New Roman"/>
                <a:cs typeface="Times New Roman"/>
              </a:rPr>
              <a:t>FPGA</a:t>
            </a:r>
            <a:r>
              <a:rPr sz="1100" kern="0" spc="-20" dirty="0">
                <a:solidFill>
                  <a:srgbClr val="323232"/>
                </a:solidFill>
                <a:latin typeface="Times New Roman"/>
                <a:cs typeface="Times New Roman"/>
              </a:rPr>
              <a:t> </a:t>
            </a:r>
            <a:r>
              <a:rPr sz="1100" kern="0" dirty="0">
                <a:solidFill>
                  <a:srgbClr val="323232"/>
                </a:solidFill>
                <a:latin typeface="Times New Roman"/>
                <a:cs typeface="Times New Roman"/>
              </a:rPr>
              <a:t>XC5LVX330</a:t>
            </a:r>
            <a:r>
              <a:rPr sz="1100" kern="0" spc="254" dirty="0">
                <a:solidFill>
                  <a:srgbClr val="323232"/>
                </a:solidFill>
                <a:latin typeface="Times New Roman"/>
                <a:cs typeface="Times New Roman"/>
              </a:rPr>
              <a:t> </a:t>
            </a:r>
            <a:r>
              <a:rPr sz="1100" kern="0" dirty="0">
                <a:solidFill>
                  <a:srgbClr val="323232"/>
                </a:solidFill>
                <a:latin typeface="Times New Roman"/>
                <a:cs typeface="Times New Roman"/>
              </a:rPr>
              <a:t>•</a:t>
            </a:r>
            <a:r>
              <a:rPr sz="1100" kern="0" spc="254" dirty="0">
                <a:solidFill>
                  <a:srgbClr val="323232"/>
                </a:solidFill>
                <a:latin typeface="Times New Roman"/>
                <a:cs typeface="Times New Roman"/>
              </a:rPr>
              <a:t> </a:t>
            </a:r>
            <a:r>
              <a:rPr sz="1100" kern="0" dirty="0">
                <a:solidFill>
                  <a:srgbClr val="323232"/>
                </a:solidFill>
                <a:latin typeface="Times New Roman"/>
                <a:cs typeface="Times New Roman"/>
              </a:rPr>
              <a:t>Microsoft</a:t>
            </a:r>
            <a:r>
              <a:rPr sz="1100" kern="0" spc="-5" dirty="0">
                <a:solidFill>
                  <a:srgbClr val="323232"/>
                </a:solidFill>
                <a:latin typeface="Times New Roman"/>
                <a:cs typeface="Times New Roman"/>
              </a:rPr>
              <a:t> </a:t>
            </a:r>
            <a:r>
              <a:rPr sz="1100" kern="0" spc="-10" dirty="0">
                <a:solidFill>
                  <a:srgbClr val="323232"/>
                </a:solidFill>
                <a:latin typeface="Times New Roman"/>
                <a:cs typeface="Times New Roman"/>
              </a:rPr>
              <a:t>Visio</a:t>
            </a:r>
            <a:endParaRPr sz="1100" kern="0">
              <a:solidFill>
                <a:sysClr val="windowText" lastClr="000000"/>
              </a:solidFill>
              <a:latin typeface="Times New Roman"/>
              <a:cs typeface="Times New Roman"/>
            </a:endParaRPr>
          </a:p>
        </p:txBody>
      </p:sp>
      <p:sp>
        <p:nvSpPr>
          <p:cNvPr id="8" name="object 8">
            <a:extLst>
              <a:ext uri="{FF2B5EF4-FFF2-40B4-BE49-F238E27FC236}">
                <a16:creationId xmlns:a16="http://schemas.microsoft.com/office/drawing/2014/main" id="{729C83DD-B5BC-3CDF-7D96-6688EF109949}"/>
              </a:ext>
            </a:extLst>
          </p:cNvPr>
          <p:cNvSpPr txBox="1"/>
          <p:nvPr/>
        </p:nvSpPr>
        <p:spPr>
          <a:xfrm>
            <a:off x="1130300" y="6929438"/>
            <a:ext cx="2914650" cy="269875"/>
          </a:xfrm>
          <a:prstGeom prst="rect">
            <a:avLst/>
          </a:prstGeom>
        </p:spPr>
        <p:txBody>
          <a:bodyPr lIns="0" tIns="12065" rIns="0" bIns="0">
            <a:spAutoFit/>
          </a:bodyPr>
          <a:lstStyle/>
          <a:p>
            <a:pPr marL="12700" eaLnBrk="1" fontAlgn="auto" hangingPunct="1">
              <a:spcBef>
                <a:spcPts val="95"/>
              </a:spcBef>
              <a:spcAft>
                <a:spcPts val="0"/>
              </a:spcAft>
              <a:defRPr/>
            </a:pPr>
            <a:r>
              <a:rPr sz="1600" b="1" kern="0" dirty="0">
                <a:solidFill>
                  <a:srgbClr val="1F4E79"/>
                </a:solidFill>
                <a:latin typeface="Times New Roman"/>
                <a:cs typeface="Times New Roman"/>
              </a:rPr>
              <a:t>CHAPTER</a:t>
            </a:r>
            <a:r>
              <a:rPr sz="1600" kern="0" spc="-60" dirty="0">
                <a:solidFill>
                  <a:srgbClr val="1F4E79"/>
                </a:solidFill>
                <a:latin typeface="Times New Roman"/>
                <a:cs typeface="Times New Roman"/>
              </a:rPr>
              <a:t> </a:t>
            </a:r>
            <a:r>
              <a:rPr sz="1600" b="1" kern="0" dirty="0">
                <a:solidFill>
                  <a:srgbClr val="1F4E79"/>
                </a:solidFill>
                <a:latin typeface="Times New Roman"/>
                <a:cs typeface="Times New Roman"/>
              </a:rPr>
              <a:t>1:</a:t>
            </a:r>
            <a:r>
              <a:rPr sz="1600" kern="0" spc="-45" dirty="0">
                <a:solidFill>
                  <a:srgbClr val="1F4E79"/>
                </a:solidFill>
                <a:latin typeface="Times New Roman"/>
                <a:cs typeface="Times New Roman"/>
              </a:rPr>
              <a:t> </a:t>
            </a:r>
            <a:r>
              <a:rPr sz="1600" b="1" kern="0" spc="-10" dirty="0">
                <a:solidFill>
                  <a:srgbClr val="1F4E79"/>
                </a:solidFill>
                <a:latin typeface="Times New Roman"/>
                <a:cs typeface="Times New Roman"/>
              </a:rPr>
              <a:t>INTRODUCTION</a:t>
            </a:r>
            <a:endParaRPr sz="1600" kern="0">
              <a:solidFill>
                <a:sysClr val="windowText" lastClr="000000"/>
              </a:solidFill>
              <a:latin typeface="Times New Roman"/>
              <a:cs typeface="Times New Roman"/>
            </a:endParaRPr>
          </a:p>
        </p:txBody>
      </p:sp>
      <p:sp>
        <p:nvSpPr>
          <p:cNvPr id="2057" name="object 9">
            <a:extLst>
              <a:ext uri="{FF2B5EF4-FFF2-40B4-BE49-F238E27FC236}">
                <a16:creationId xmlns:a16="http://schemas.microsoft.com/office/drawing/2014/main" id="{9053CA6F-D2B0-D8E2-BBF6-8807579DB720}"/>
              </a:ext>
            </a:extLst>
          </p:cNvPr>
          <p:cNvSpPr>
            <a:spLocks/>
          </p:cNvSpPr>
          <p:nvPr/>
        </p:nvSpPr>
        <p:spPr bwMode="auto">
          <a:xfrm>
            <a:off x="1125538" y="7662863"/>
            <a:ext cx="5751512" cy="6350"/>
          </a:xfrm>
          <a:custGeom>
            <a:avLst/>
            <a:gdLst>
              <a:gd name="T0" fmla="*/ 5752459 w 5752465"/>
              <a:gd name="T1" fmla="*/ 0 h 6350"/>
              <a:gd name="T2" fmla="*/ 0 w 5752465"/>
              <a:gd name="T3" fmla="*/ 0 h 6350"/>
              <a:gd name="T4" fmla="*/ 0 w 5752465"/>
              <a:gd name="T5" fmla="*/ 6095 h 6350"/>
              <a:gd name="T6" fmla="*/ 5752459 w 5752465"/>
              <a:gd name="T7" fmla="*/ 6095 h 6350"/>
              <a:gd name="T8" fmla="*/ 5752459 w 5752465"/>
              <a:gd name="T9" fmla="*/ 0 h 6350"/>
            </a:gdLst>
            <a:ahLst/>
            <a:cxnLst>
              <a:cxn ang="0">
                <a:pos x="T0" y="T1"/>
              </a:cxn>
              <a:cxn ang="0">
                <a:pos x="T2" y="T3"/>
              </a:cxn>
              <a:cxn ang="0">
                <a:pos x="T4" y="T5"/>
              </a:cxn>
              <a:cxn ang="0">
                <a:pos x="T6" y="T7"/>
              </a:cxn>
              <a:cxn ang="0">
                <a:pos x="T8" y="T9"/>
              </a:cxn>
            </a:cxnLst>
            <a:rect l="0" t="0" r="r" b="b"/>
            <a:pathLst>
              <a:path w="5752465" h="6350">
                <a:moveTo>
                  <a:pt x="5752459" y="0"/>
                </a:moveTo>
                <a:lnTo>
                  <a:pt x="0" y="0"/>
                </a:lnTo>
                <a:lnTo>
                  <a:pt x="0" y="6095"/>
                </a:lnTo>
                <a:lnTo>
                  <a:pt x="5752459" y="6095"/>
                </a:lnTo>
                <a:lnTo>
                  <a:pt x="5752459" y="0"/>
                </a:lnTo>
                <a:close/>
              </a:path>
            </a:pathLst>
          </a:custGeom>
          <a:solidFill>
            <a:srgbClr val="2D75B6"/>
          </a:solidFill>
          <a:ln>
            <a:noFill/>
          </a:ln>
          <a:extLst>
            <a:ext uri="{91240B29-F687-4F45-9708-019B960494DF}">
              <a14:hiddenLine xmlns:a14="http://schemas.microsoft.com/office/drawing/2010/main" w="9525">
                <a:solidFill>
                  <a:srgbClr val="000000"/>
                </a:solidFill>
                <a:round/>
                <a:headEnd/>
                <a:tailEnd/>
              </a14:hiddenLine>
            </a:ext>
          </a:extLst>
        </p:spPr>
        <p:txBody>
          <a:bodyPr lIns="0" tIns="0" rIns="0" bIns="0"/>
          <a:lstStyle/>
          <a:p>
            <a:endParaRPr lang="en-IN"/>
          </a:p>
        </p:txBody>
      </p:sp>
      <p:sp>
        <p:nvSpPr>
          <p:cNvPr id="10" name="object 10">
            <a:extLst>
              <a:ext uri="{FF2B5EF4-FFF2-40B4-BE49-F238E27FC236}">
                <a16:creationId xmlns:a16="http://schemas.microsoft.com/office/drawing/2014/main" id="{9016CCA6-38D5-66AD-358D-3A3966181A07}"/>
              </a:ext>
            </a:extLst>
          </p:cNvPr>
          <p:cNvSpPr txBox="1"/>
          <p:nvPr/>
        </p:nvSpPr>
        <p:spPr>
          <a:xfrm>
            <a:off x="1130300" y="7810500"/>
            <a:ext cx="5695950" cy="1301750"/>
          </a:xfrm>
          <a:prstGeom prst="rect">
            <a:avLst/>
          </a:prstGeom>
        </p:spPr>
        <p:txBody>
          <a:bodyPr lIns="0" tIns="13335" rIns="0" bIns="0">
            <a:spAutoFit/>
          </a:bodyPr>
          <a:lstStyle>
            <a:lvl1pPr marL="12700">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ts val="100"/>
              </a:spcBef>
            </a:pPr>
            <a:r>
              <a:rPr lang="en-US" altLang="en-US" sz="1400" b="1">
                <a:solidFill>
                  <a:srgbClr val="2D75B6"/>
                </a:solidFill>
                <a:latin typeface="Times New Roman" panose="02020603050405020304" pitchFamily="18" charset="0"/>
                <a:cs typeface="Times New Roman" panose="02020603050405020304" pitchFamily="18" charset="0"/>
              </a:rPr>
              <a:t>1.1</a:t>
            </a:r>
            <a:r>
              <a:rPr lang="en-US" altLang="en-US" sz="1400">
                <a:solidFill>
                  <a:srgbClr val="2D75B6"/>
                </a:solidFill>
                <a:latin typeface="Times New Roman" panose="02020603050405020304" pitchFamily="18" charset="0"/>
                <a:cs typeface="Times New Roman" panose="02020603050405020304" pitchFamily="18" charset="0"/>
              </a:rPr>
              <a:t> </a:t>
            </a:r>
            <a:r>
              <a:rPr lang="en-US" altLang="en-US" sz="1400" b="1">
                <a:solidFill>
                  <a:srgbClr val="2D75B6"/>
                </a:solidFill>
                <a:latin typeface="Times New Roman" panose="02020603050405020304" pitchFamily="18" charset="0"/>
                <a:cs typeface="Times New Roman" panose="02020603050405020304" pitchFamily="18" charset="0"/>
              </a:rPr>
              <a:t>Background</a:t>
            </a:r>
            <a:endParaRPr lang="en-US" altLang="en-US" sz="1400">
              <a:solidFill>
                <a:srgbClr val="000000"/>
              </a:solidFill>
              <a:latin typeface="Times New Roman" panose="02020603050405020304" pitchFamily="18" charset="0"/>
              <a:cs typeface="Times New Roman" panose="02020603050405020304" pitchFamily="18" charset="0"/>
            </a:endParaRPr>
          </a:p>
          <a:p>
            <a:pPr eaLnBrk="1" hangingPunct="1">
              <a:lnSpc>
                <a:spcPct val="144000"/>
              </a:lnSpc>
              <a:spcBef>
                <a:spcPts val="750"/>
              </a:spcBef>
            </a:pPr>
            <a:r>
              <a:rPr lang="en-US" altLang="en-US" sz="1100">
                <a:solidFill>
                  <a:srgbClr val="000000"/>
                </a:solidFill>
                <a:latin typeface="Calibri" panose="020F0502020204030204" pitchFamily="34" charset="0"/>
                <a:cs typeface="Calibri" panose="020F0502020204030204" pitchFamily="34" charset="0"/>
              </a:rPr>
              <a:t>Fast</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Fourier</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Transform</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(FFT)</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is</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widely</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used</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in</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signal</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processing</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applications</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such</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as</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biomedical</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signal</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analysis</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(ECG),</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communication</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systems,</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and</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image</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processing</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for</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frequency-domain</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analysis.</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In</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real-time</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ECG</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monitoring</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systems,</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FFT</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and</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adaptive</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filtering</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techniques</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help</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in</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identifying</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and</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removing</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noise</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components.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a:extLst>
              <a:ext uri="{FF2B5EF4-FFF2-40B4-BE49-F238E27FC236}">
                <a16:creationId xmlns:a16="http://schemas.microsoft.com/office/drawing/2014/main" id="{F80994E2-5A3C-C664-FD3A-2A1F320B2667}"/>
              </a:ext>
            </a:extLst>
          </p:cNvPr>
          <p:cNvSpPr txBox="1"/>
          <p:nvPr/>
        </p:nvSpPr>
        <p:spPr>
          <a:xfrm>
            <a:off x="1130300" y="820738"/>
            <a:ext cx="5732463" cy="1992725"/>
          </a:xfrm>
          <a:prstGeom prst="rect">
            <a:avLst/>
          </a:prstGeom>
        </p:spPr>
        <p:txBody>
          <a:bodyPr wrap="square" lIns="0" tIns="12700" rIns="0" bIns="0">
            <a:spAutoFit/>
          </a:bodyPr>
          <a:lstStyle>
            <a:lvl1pPr marL="12700">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lnSpc>
                <a:spcPct val="144000"/>
              </a:lnSpc>
              <a:spcBef>
                <a:spcPts val="100"/>
              </a:spcBef>
            </a:pPr>
            <a:r>
              <a:rPr lang="en-US" altLang="en-US" sz="1100" dirty="0">
                <a:solidFill>
                  <a:srgbClr val="000000"/>
                </a:solidFill>
                <a:latin typeface="Calibri" panose="020F0502020204030204" pitchFamily="34" charset="0"/>
                <a:cs typeface="Calibri" panose="020F0502020204030204" pitchFamily="34" charset="0"/>
              </a:rPr>
              <a:t>However,</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real-time</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signal</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processing</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requires</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high-speed</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computation</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and</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continuous</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data</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handling.</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Software-based</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implementations</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on</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DSPs</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or</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microprocessors</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often</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fail</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to</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meet</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these</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demands</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due</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to</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high</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computational</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complexity</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and</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slower</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execution</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speed.</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Therefore,</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hardware</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acceleration</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using</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Field</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Programmable</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Gate</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Arrays</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(FPGAs)</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has</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become</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essential.</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FPGAs</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provide</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parallel</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processing,</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low</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latency,</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and</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high</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throughput,</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making</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them</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suitable</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for</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real-time</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biomedical</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applications.</a:t>
            </a:r>
          </a:p>
          <a:p>
            <a:pPr eaLnBrk="1" hangingPunct="1">
              <a:lnSpc>
                <a:spcPct val="145000"/>
              </a:lnSpc>
              <a:spcBef>
                <a:spcPts val="388"/>
              </a:spcBef>
            </a:pPr>
            <a:r>
              <a:rPr lang="en-US" altLang="en-US" sz="1100" dirty="0">
                <a:solidFill>
                  <a:srgbClr val="000000"/>
                </a:solidFill>
                <a:latin typeface="Calibri" panose="020F0502020204030204" pitchFamily="34" charset="0"/>
                <a:cs typeface="Calibri" panose="020F0502020204030204" pitchFamily="34" charset="0"/>
              </a:rPr>
              <a:t>This</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project</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focuses</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on</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designing</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an</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FPGA-based</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architecture</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using</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a</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pipelined</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adaptive</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filtering</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technique</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(DENLMS)</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to</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achieve</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efficient</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ECG</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noise</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removal.</a:t>
            </a:r>
          </a:p>
        </p:txBody>
      </p:sp>
      <p:sp>
        <p:nvSpPr>
          <p:cNvPr id="3" name="object 3">
            <a:extLst>
              <a:ext uri="{FF2B5EF4-FFF2-40B4-BE49-F238E27FC236}">
                <a16:creationId xmlns:a16="http://schemas.microsoft.com/office/drawing/2014/main" id="{19AA2475-E3B5-C1D8-E44F-FFABBDA08C36}"/>
              </a:ext>
            </a:extLst>
          </p:cNvPr>
          <p:cNvSpPr txBox="1"/>
          <p:nvPr/>
        </p:nvSpPr>
        <p:spPr>
          <a:xfrm>
            <a:off x="1130300" y="3336925"/>
            <a:ext cx="5630863" cy="2078038"/>
          </a:xfrm>
          <a:prstGeom prst="rect">
            <a:avLst/>
          </a:prstGeom>
        </p:spPr>
        <p:txBody>
          <a:bodyPr lIns="0" tIns="13335" rIns="0" bIns="0">
            <a:spAutoFit/>
          </a:bodyPr>
          <a:lstStyle>
            <a:lvl1pPr marL="12700">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ts val="100"/>
              </a:spcBef>
            </a:pPr>
            <a:r>
              <a:rPr lang="en-US" altLang="en-US" sz="1400" b="1" dirty="0">
                <a:solidFill>
                  <a:srgbClr val="2D75B6"/>
                </a:solidFill>
                <a:latin typeface="Times New Roman" panose="02020603050405020304" pitchFamily="18" charset="0"/>
                <a:cs typeface="Times New Roman" panose="02020603050405020304" pitchFamily="18" charset="0"/>
              </a:rPr>
              <a:t>1.2</a:t>
            </a:r>
            <a:r>
              <a:rPr lang="en-US" altLang="en-US" sz="1400" dirty="0">
                <a:solidFill>
                  <a:srgbClr val="2D75B6"/>
                </a:solidFill>
                <a:latin typeface="Times New Roman" panose="02020603050405020304" pitchFamily="18" charset="0"/>
                <a:cs typeface="Times New Roman" panose="02020603050405020304" pitchFamily="18" charset="0"/>
              </a:rPr>
              <a:t> </a:t>
            </a:r>
            <a:r>
              <a:rPr lang="en-US" altLang="en-US" sz="1400" b="1" dirty="0">
                <a:solidFill>
                  <a:srgbClr val="2D75B6"/>
                </a:solidFill>
                <a:latin typeface="Times New Roman" panose="02020603050405020304" pitchFamily="18" charset="0"/>
                <a:cs typeface="Times New Roman" panose="02020603050405020304" pitchFamily="18" charset="0"/>
              </a:rPr>
              <a:t>Problem</a:t>
            </a:r>
            <a:r>
              <a:rPr lang="en-US" altLang="en-US" sz="1400" dirty="0">
                <a:solidFill>
                  <a:srgbClr val="2D75B6"/>
                </a:solidFill>
                <a:latin typeface="Times New Roman" panose="02020603050405020304" pitchFamily="18" charset="0"/>
                <a:cs typeface="Times New Roman" panose="02020603050405020304" pitchFamily="18" charset="0"/>
              </a:rPr>
              <a:t> </a:t>
            </a:r>
            <a:r>
              <a:rPr lang="en-US" altLang="en-US" sz="1400" b="1" dirty="0">
                <a:solidFill>
                  <a:srgbClr val="2D75B6"/>
                </a:solidFill>
                <a:latin typeface="Times New Roman" panose="02020603050405020304" pitchFamily="18" charset="0"/>
                <a:cs typeface="Times New Roman" panose="02020603050405020304" pitchFamily="18" charset="0"/>
              </a:rPr>
              <a:t>Statement</a:t>
            </a:r>
            <a:endParaRPr lang="en-US" altLang="en-US" sz="1400" dirty="0">
              <a:solidFill>
                <a:srgbClr val="000000"/>
              </a:solidFill>
              <a:latin typeface="Times New Roman" panose="02020603050405020304" pitchFamily="18" charset="0"/>
              <a:cs typeface="Times New Roman" panose="02020603050405020304" pitchFamily="18" charset="0"/>
            </a:endParaRPr>
          </a:p>
          <a:p>
            <a:pPr eaLnBrk="1" hangingPunct="1">
              <a:lnSpc>
                <a:spcPct val="144000"/>
              </a:lnSpc>
              <a:spcBef>
                <a:spcPts val="750"/>
              </a:spcBef>
            </a:pPr>
            <a:r>
              <a:rPr lang="en-US" altLang="en-US" sz="1100" dirty="0">
                <a:solidFill>
                  <a:srgbClr val="000000"/>
                </a:solidFill>
                <a:latin typeface="Calibri" panose="020F0502020204030204" pitchFamily="34" charset="0"/>
                <a:cs typeface="Calibri" panose="020F0502020204030204" pitchFamily="34" charset="0"/>
              </a:rPr>
              <a:t>In</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real-time</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signal</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processing</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applications,</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FFT</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and</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adaptive</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filtering</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operations</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require</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fast</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and</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continuous</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computation.</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However,</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software-based</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FFT</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implementations</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suffer</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from</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high</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latency,</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limited</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throughput,</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and</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increased</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power</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consumption,</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making</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them</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unsuitable</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for</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real-time</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ECG</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monitoring</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systems.</a:t>
            </a:r>
          </a:p>
          <a:p>
            <a:pPr eaLnBrk="1" hangingPunct="1">
              <a:lnSpc>
                <a:spcPct val="144000"/>
              </a:lnSpc>
              <a:spcBef>
                <a:spcPts val="400"/>
              </a:spcBef>
            </a:pPr>
            <a:r>
              <a:rPr lang="en-US" altLang="en-US" sz="1100" dirty="0">
                <a:solidFill>
                  <a:srgbClr val="000000"/>
                </a:solidFill>
                <a:latin typeface="Calibri" panose="020F0502020204030204" pitchFamily="34" charset="0"/>
                <a:cs typeface="Calibri" panose="020F0502020204030204" pitchFamily="34" charset="0"/>
              </a:rPr>
              <a:t>Additionally,</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direct</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hardware</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implementation</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of</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conventional</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algorithms</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may</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result</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in</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long</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critical</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paths,</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reducing</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processing</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speed.</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Therefore,</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there</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is</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a</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need</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for</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a</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hardware-efficient</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FPGA-based</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design</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that</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reduces</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delay,</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improves</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throughput,</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and</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supports</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real-time</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signal</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processing.</a:t>
            </a:r>
          </a:p>
        </p:txBody>
      </p:sp>
      <p:sp>
        <p:nvSpPr>
          <p:cNvPr id="4" name="object 4">
            <a:extLst>
              <a:ext uri="{FF2B5EF4-FFF2-40B4-BE49-F238E27FC236}">
                <a16:creationId xmlns:a16="http://schemas.microsoft.com/office/drawing/2014/main" id="{E92679A2-632F-A5F4-AA3C-71E1875AA365}"/>
              </a:ext>
            </a:extLst>
          </p:cNvPr>
          <p:cNvSpPr txBox="1"/>
          <p:nvPr/>
        </p:nvSpPr>
        <p:spPr>
          <a:xfrm>
            <a:off x="1130300" y="5922963"/>
            <a:ext cx="5646738" cy="1771650"/>
          </a:xfrm>
          <a:prstGeom prst="rect">
            <a:avLst/>
          </a:prstGeom>
        </p:spPr>
        <p:txBody>
          <a:bodyPr lIns="0" tIns="13335" rIns="0" bIns="0">
            <a:spAutoFit/>
          </a:bodyPr>
          <a:lstStyle>
            <a:lvl1pPr marL="342900" indent="-342900">
              <a:tabLst>
                <a:tab pos="325438" algn="l"/>
              </a:tabLst>
              <a:defRPr>
                <a:solidFill>
                  <a:schemeClr val="tx1"/>
                </a:solidFill>
                <a:latin typeface="Arial" panose="020B0604020202020204" pitchFamily="34" charset="0"/>
              </a:defRPr>
            </a:lvl1pPr>
            <a:lvl2pPr marL="323850" indent="-312738">
              <a:tabLst>
                <a:tab pos="325438" algn="l"/>
              </a:tabLst>
              <a:defRPr>
                <a:solidFill>
                  <a:schemeClr val="tx1"/>
                </a:solidFill>
                <a:latin typeface="Arial" panose="020B0604020202020204" pitchFamily="34" charset="0"/>
              </a:defRPr>
            </a:lvl2pPr>
            <a:lvl3pPr marL="468313" indent="-228600">
              <a:tabLst>
                <a:tab pos="325438" algn="l"/>
              </a:tabLst>
              <a:defRPr>
                <a:solidFill>
                  <a:schemeClr val="tx1"/>
                </a:solidFill>
                <a:latin typeface="Arial" panose="020B0604020202020204" pitchFamily="34" charset="0"/>
              </a:defRPr>
            </a:lvl3pPr>
            <a:lvl4pPr marL="1600200" indent="-228600">
              <a:tabLst>
                <a:tab pos="325438" algn="l"/>
              </a:tabLst>
              <a:defRPr>
                <a:solidFill>
                  <a:schemeClr val="tx1"/>
                </a:solidFill>
                <a:latin typeface="Arial" panose="020B0604020202020204" pitchFamily="34" charset="0"/>
              </a:defRPr>
            </a:lvl4pPr>
            <a:lvl5pPr marL="2057400" indent="-228600">
              <a:tabLst>
                <a:tab pos="325438" algn="l"/>
              </a:tabLst>
              <a:defRPr>
                <a:solidFill>
                  <a:schemeClr val="tx1"/>
                </a:solidFill>
                <a:latin typeface="Arial" panose="020B0604020202020204" pitchFamily="34" charset="0"/>
              </a:defRPr>
            </a:lvl5pPr>
            <a:lvl6pPr marL="2514600" indent="-228600" eaLnBrk="0" fontAlgn="base" hangingPunct="0">
              <a:spcBef>
                <a:spcPct val="0"/>
              </a:spcBef>
              <a:spcAft>
                <a:spcPct val="0"/>
              </a:spcAft>
              <a:tabLst>
                <a:tab pos="325438" algn="l"/>
              </a:tabLst>
              <a:defRPr>
                <a:solidFill>
                  <a:schemeClr val="tx1"/>
                </a:solidFill>
                <a:latin typeface="Arial" panose="020B0604020202020204" pitchFamily="34" charset="0"/>
              </a:defRPr>
            </a:lvl6pPr>
            <a:lvl7pPr marL="2971800" indent="-228600" eaLnBrk="0" fontAlgn="base" hangingPunct="0">
              <a:spcBef>
                <a:spcPct val="0"/>
              </a:spcBef>
              <a:spcAft>
                <a:spcPct val="0"/>
              </a:spcAft>
              <a:tabLst>
                <a:tab pos="325438" algn="l"/>
              </a:tabLst>
              <a:defRPr>
                <a:solidFill>
                  <a:schemeClr val="tx1"/>
                </a:solidFill>
                <a:latin typeface="Arial" panose="020B0604020202020204" pitchFamily="34" charset="0"/>
              </a:defRPr>
            </a:lvl7pPr>
            <a:lvl8pPr marL="3429000" indent="-228600" eaLnBrk="0" fontAlgn="base" hangingPunct="0">
              <a:spcBef>
                <a:spcPct val="0"/>
              </a:spcBef>
              <a:spcAft>
                <a:spcPct val="0"/>
              </a:spcAft>
              <a:tabLst>
                <a:tab pos="325438" algn="l"/>
              </a:tabLst>
              <a:defRPr>
                <a:solidFill>
                  <a:schemeClr val="tx1"/>
                </a:solidFill>
                <a:latin typeface="Arial" panose="020B0604020202020204" pitchFamily="34" charset="0"/>
              </a:defRPr>
            </a:lvl8pPr>
            <a:lvl9pPr marL="3886200" indent="-228600" eaLnBrk="0" fontAlgn="base" hangingPunct="0">
              <a:spcBef>
                <a:spcPct val="0"/>
              </a:spcBef>
              <a:spcAft>
                <a:spcPct val="0"/>
              </a:spcAft>
              <a:tabLst>
                <a:tab pos="325438" algn="l"/>
              </a:tabLst>
              <a:defRPr>
                <a:solidFill>
                  <a:schemeClr val="tx1"/>
                </a:solidFill>
                <a:latin typeface="Arial" panose="020B0604020202020204" pitchFamily="34" charset="0"/>
              </a:defRPr>
            </a:lvl9pPr>
          </a:lstStyle>
          <a:p>
            <a:pPr lvl="1" eaLnBrk="1" hangingPunct="1">
              <a:spcBef>
                <a:spcPts val="100"/>
              </a:spcBef>
              <a:buFontTx/>
              <a:buAutoNum type="arabicPeriod" startAt="3"/>
            </a:pPr>
            <a:r>
              <a:rPr lang="en-US" altLang="en-US" sz="1400" b="1">
                <a:solidFill>
                  <a:srgbClr val="2D75B6"/>
                </a:solidFill>
                <a:latin typeface="Times New Roman" panose="02020603050405020304" pitchFamily="18" charset="0"/>
                <a:cs typeface="Times New Roman" panose="02020603050405020304" pitchFamily="18" charset="0"/>
              </a:rPr>
              <a:t>Objectives</a:t>
            </a:r>
            <a:endParaRPr lang="en-US" altLang="en-US" sz="1400">
              <a:solidFill>
                <a:srgbClr val="000000"/>
              </a:solidFill>
              <a:latin typeface="Times New Roman" panose="02020603050405020304" pitchFamily="18" charset="0"/>
              <a:cs typeface="Times New Roman" panose="02020603050405020304" pitchFamily="18" charset="0"/>
            </a:endParaRPr>
          </a:p>
          <a:p>
            <a:pPr lvl="2" eaLnBrk="1" hangingPunct="1">
              <a:lnSpc>
                <a:spcPct val="102000"/>
              </a:lnSpc>
              <a:spcBef>
                <a:spcPts val="1300"/>
              </a:spcBef>
              <a:buFontTx/>
              <a:buAutoNum type="arabicPeriod"/>
            </a:pPr>
            <a:r>
              <a:rPr lang="en-US" altLang="en-US" sz="1100">
                <a:solidFill>
                  <a:srgbClr val="000000"/>
                </a:solidFill>
                <a:latin typeface="Calibri" panose="020F0502020204030204" pitchFamily="34" charset="0"/>
                <a:cs typeface="Calibri" panose="020F0502020204030204" pitchFamily="34" charset="0"/>
              </a:rPr>
              <a:t>To</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study</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FFT-based</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signal</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processing</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applications</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and</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adaptive</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filtering</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techniques</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for</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ECG</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noise</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removal.</a:t>
            </a:r>
          </a:p>
          <a:p>
            <a:pPr lvl="2" eaLnBrk="1" hangingPunct="1">
              <a:spcBef>
                <a:spcPts val="25"/>
              </a:spcBef>
              <a:buFontTx/>
              <a:buAutoNum type="arabicPeriod"/>
            </a:pPr>
            <a:r>
              <a:rPr lang="en-US" altLang="en-US" sz="1100">
                <a:solidFill>
                  <a:srgbClr val="000000"/>
                </a:solidFill>
                <a:latin typeface="Calibri" panose="020F0502020204030204" pitchFamily="34" charset="0"/>
                <a:cs typeface="Calibri" panose="020F0502020204030204" pitchFamily="34" charset="0"/>
              </a:rPr>
              <a:t>To</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design</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a</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hardware-accelerated</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architecture</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suitable</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for</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real-time</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processing.</a:t>
            </a:r>
          </a:p>
          <a:p>
            <a:pPr lvl="2" eaLnBrk="1" hangingPunct="1">
              <a:spcBef>
                <a:spcPts val="25"/>
              </a:spcBef>
              <a:buFontTx/>
              <a:buAutoNum type="arabicPeriod"/>
            </a:pPr>
            <a:r>
              <a:rPr lang="en-US" altLang="en-US" sz="1100">
                <a:solidFill>
                  <a:srgbClr val="000000"/>
                </a:solidFill>
                <a:latin typeface="Calibri" panose="020F0502020204030204" pitchFamily="34" charset="0"/>
                <a:cs typeface="Calibri" panose="020F0502020204030204" pitchFamily="34" charset="0"/>
              </a:rPr>
              <a:t>To</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implement</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the</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proposed</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design</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using</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Verilog</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HDL</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and</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perform</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simulation.</a:t>
            </a:r>
          </a:p>
          <a:p>
            <a:pPr lvl="2" eaLnBrk="1" hangingPunct="1">
              <a:lnSpc>
                <a:spcPct val="102000"/>
              </a:lnSpc>
              <a:buFontTx/>
              <a:buAutoNum type="arabicPeriod"/>
            </a:pPr>
            <a:r>
              <a:rPr lang="en-US" altLang="en-US" sz="1100">
                <a:solidFill>
                  <a:srgbClr val="000000"/>
                </a:solidFill>
                <a:latin typeface="Calibri" panose="020F0502020204030204" pitchFamily="34" charset="0"/>
                <a:cs typeface="Calibri" panose="020F0502020204030204" pitchFamily="34" charset="0"/>
              </a:rPr>
              <a:t>To</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deploy</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the</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design</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on</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FPGA</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and</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evaluate</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performance</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in</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terms</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of</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speed,</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latency,</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and</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power.</a:t>
            </a:r>
          </a:p>
          <a:p>
            <a:pPr lvl="2" eaLnBrk="1" hangingPunct="1">
              <a:spcBef>
                <a:spcPts val="25"/>
              </a:spcBef>
              <a:buFontTx/>
              <a:buAutoNum type="arabicPeriod"/>
            </a:pPr>
            <a:r>
              <a:rPr lang="en-US" altLang="en-US" sz="1100">
                <a:solidFill>
                  <a:srgbClr val="000000"/>
                </a:solidFill>
                <a:latin typeface="Calibri" panose="020F0502020204030204" pitchFamily="34" charset="0"/>
                <a:cs typeface="Calibri" panose="020F0502020204030204" pitchFamily="34" charset="0"/>
              </a:rPr>
              <a:t>To</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compare</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hardware</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implementation</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with</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software-based</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approaches.</a:t>
            </a:r>
          </a:p>
          <a:p>
            <a:pPr lvl="2" eaLnBrk="1" hangingPunct="1">
              <a:spcBef>
                <a:spcPts val="25"/>
              </a:spcBef>
              <a:buFontTx/>
              <a:buAutoNum type="arabicPeriod"/>
            </a:pPr>
            <a:r>
              <a:rPr lang="en-US" altLang="en-US" sz="1100">
                <a:solidFill>
                  <a:srgbClr val="000000"/>
                </a:solidFill>
                <a:latin typeface="Calibri" panose="020F0502020204030204" pitchFamily="34" charset="0"/>
                <a:cs typeface="Calibri" panose="020F0502020204030204" pitchFamily="34" charset="0"/>
              </a:rPr>
              <a:t>To</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achieve</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improved</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throughput,</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reduced</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latency,</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and</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efficient</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real-time</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operation.</a:t>
            </a:r>
          </a:p>
        </p:txBody>
      </p:sp>
      <p:sp>
        <p:nvSpPr>
          <p:cNvPr id="5" name="object 5">
            <a:extLst>
              <a:ext uri="{FF2B5EF4-FFF2-40B4-BE49-F238E27FC236}">
                <a16:creationId xmlns:a16="http://schemas.microsoft.com/office/drawing/2014/main" id="{A5D392F2-CC80-EEEB-F228-0F3225185F25}"/>
              </a:ext>
            </a:extLst>
          </p:cNvPr>
          <p:cNvSpPr txBox="1"/>
          <p:nvPr/>
        </p:nvSpPr>
        <p:spPr>
          <a:xfrm>
            <a:off x="1130300" y="8156575"/>
            <a:ext cx="4935538" cy="687388"/>
          </a:xfrm>
          <a:prstGeom prst="rect">
            <a:avLst/>
          </a:prstGeom>
        </p:spPr>
        <p:txBody>
          <a:bodyPr lIns="0" tIns="12700" rIns="0" bIns="0">
            <a:spAutoFit/>
          </a:bodyPr>
          <a:lstStyle>
            <a:lvl1pPr marL="12700">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lnSpc>
                <a:spcPct val="136000"/>
              </a:lnSpc>
              <a:spcBef>
                <a:spcPts val="100"/>
              </a:spcBef>
            </a:pPr>
            <a:r>
              <a:rPr lang="en-US" altLang="en-US" sz="1600" b="1">
                <a:solidFill>
                  <a:srgbClr val="1F4E79"/>
                </a:solidFill>
                <a:latin typeface="Times New Roman" panose="02020603050405020304" pitchFamily="18" charset="0"/>
                <a:cs typeface="Times New Roman" panose="02020603050405020304" pitchFamily="18" charset="0"/>
              </a:rPr>
              <a:t>CHAPTER</a:t>
            </a:r>
            <a:r>
              <a:rPr lang="en-US" altLang="en-US" sz="1600">
                <a:solidFill>
                  <a:srgbClr val="1F4E79"/>
                </a:solidFill>
                <a:latin typeface="Times New Roman" panose="02020603050405020304" pitchFamily="18" charset="0"/>
                <a:cs typeface="Times New Roman" panose="02020603050405020304" pitchFamily="18" charset="0"/>
              </a:rPr>
              <a:t> </a:t>
            </a:r>
            <a:r>
              <a:rPr lang="en-US" altLang="en-US" sz="1600" b="1">
                <a:solidFill>
                  <a:srgbClr val="1F4E79"/>
                </a:solidFill>
                <a:latin typeface="Times New Roman" panose="02020603050405020304" pitchFamily="18" charset="0"/>
                <a:cs typeface="Times New Roman" panose="02020603050405020304" pitchFamily="18" charset="0"/>
              </a:rPr>
              <a:t>2:</a:t>
            </a:r>
            <a:r>
              <a:rPr lang="en-US" altLang="en-US" sz="1600">
                <a:solidFill>
                  <a:srgbClr val="1F4E79"/>
                </a:solidFill>
                <a:latin typeface="Times New Roman" panose="02020603050405020304" pitchFamily="18" charset="0"/>
                <a:cs typeface="Times New Roman" panose="02020603050405020304" pitchFamily="18" charset="0"/>
              </a:rPr>
              <a:t> </a:t>
            </a:r>
            <a:r>
              <a:rPr lang="en-US" altLang="en-US" sz="1600" b="1">
                <a:solidFill>
                  <a:srgbClr val="1F4E79"/>
                </a:solidFill>
                <a:latin typeface="Times New Roman" panose="02020603050405020304" pitchFamily="18" charset="0"/>
                <a:cs typeface="Times New Roman" panose="02020603050405020304" pitchFamily="18" charset="0"/>
              </a:rPr>
              <a:t>LITERATURE</a:t>
            </a:r>
            <a:r>
              <a:rPr lang="en-US" altLang="en-US" sz="1600">
                <a:solidFill>
                  <a:srgbClr val="1F4E79"/>
                </a:solidFill>
                <a:latin typeface="Times New Roman" panose="02020603050405020304" pitchFamily="18" charset="0"/>
                <a:cs typeface="Times New Roman" panose="02020603050405020304" pitchFamily="18" charset="0"/>
              </a:rPr>
              <a:t> </a:t>
            </a:r>
            <a:r>
              <a:rPr lang="en-US" altLang="en-US" sz="1600" b="1">
                <a:solidFill>
                  <a:srgbClr val="1F4E79"/>
                </a:solidFill>
                <a:latin typeface="Times New Roman" panose="02020603050405020304" pitchFamily="18" charset="0"/>
                <a:cs typeface="Times New Roman" panose="02020603050405020304" pitchFamily="18" charset="0"/>
              </a:rPr>
              <a:t>REVIEW</a:t>
            </a:r>
            <a:r>
              <a:rPr lang="en-US" altLang="en-US" sz="1600">
                <a:solidFill>
                  <a:srgbClr val="1F4E79"/>
                </a:solidFill>
                <a:latin typeface="Times New Roman" panose="02020603050405020304" pitchFamily="18" charset="0"/>
                <a:cs typeface="Times New Roman" panose="02020603050405020304" pitchFamily="18" charset="0"/>
              </a:rPr>
              <a:t> </a:t>
            </a:r>
            <a:r>
              <a:rPr lang="en-US" altLang="en-US" sz="1600" b="1">
                <a:solidFill>
                  <a:srgbClr val="1F4E79"/>
                </a:solidFill>
                <a:latin typeface="Times New Roman" panose="02020603050405020304" pitchFamily="18" charset="0"/>
                <a:cs typeface="Times New Roman" panose="02020603050405020304" pitchFamily="18" charset="0"/>
              </a:rPr>
              <a:t>(SECONDARY</a:t>
            </a:r>
            <a:r>
              <a:rPr lang="en-US" altLang="en-US" sz="1600">
                <a:solidFill>
                  <a:srgbClr val="1F4E79"/>
                </a:solidFill>
                <a:latin typeface="Times New Roman" panose="02020603050405020304" pitchFamily="18" charset="0"/>
                <a:cs typeface="Times New Roman" panose="02020603050405020304" pitchFamily="18" charset="0"/>
              </a:rPr>
              <a:t> </a:t>
            </a:r>
            <a:r>
              <a:rPr lang="en-US" altLang="en-US" sz="1600" b="1">
                <a:solidFill>
                  <a:srgbClr val="1F4E79"/>
                </a:solidFill>
                <a:latin typeface="Times New Roman" panose="02020603050405020304" pitchFamily="18" charset="0"/>
                <a:cs typeface="Times New Roman" panose="02020603050405020304" pitchFamily="18" charset="0"/>
              </a:rPr>
              <a:t>RESEARCH)</a:t>
            </a:r>
            <a:endParaRPr lang="en-US" altLang="en-US" sz="1600">
              <a:solidFill>
                <a:srgbClr val="000000"/>
              </a:solidFill>
              <a:latin typeface="Times New Roman" panose="02020603050405020304" pitchFamily="18" charset="0"/>
              <a:cs typeface="Times New Roman" panose="02020603050405020304" pitchFamily="18"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098" name="object 2">
            <a:extLst>
              <a:ext uri="{FF2B5EF4-FFF2-40B4-BE49-F238E27FC236}">
                <a16:creationId xmlns:a16="http://schemas.microsoft.com/office/drawing/2014/main" id="{9A508395-682C-07CB-03B4-1175BBD13822}"/>
              </a:ext>
            </a:extLst>
          </p:cNvPr>
          <p:cNvSpPr>
            <a:spLocks/>
          </p:cNvSpPr>
          <p:nvPr/>
        </p:nvSpPr>
        <p:spPr bwMode="auto">
          <a:xfrm>
            <a:off x="1125538" y="1174750"/>
            <a:ext cx="5751512" cy="6350"/>
          </a:xfrm>
          <a:custGeom>
            <a:avLst/>
            <a:gdLst>
              <a:gd name="T0" fmla="*/ 5752459 w 5752465"/>
              <a:gd name="T1" fmla="*/ 0 h 6350"/>
              <a:gd name="T2" fmla="*/ 0 w 5752465"/>
              <a:gd name="T3" fmla="*/ 0 h 6350"/>
              <a:gd name="T4" fmla="*/ 0 w 5752465"/>
              <a:gd name="T5" fmla="*/ 6095 h 6350"/>
              <a:gd name="T6" fmla="*/ 5752459 w 5752465"/>
              <a:gd name="T7" fmla="*/ 6095 h 6350"/>
              <a:gd name="T8" fmla="*/ 5752459 w 5752465"/>
              <a:gd name="T9" fmla="*/ 0 h 6350"/>
            </a:gdLst>
            <a:ahLst/>
            <a:cxnLst>
              <a:cxn ang="0">
                <a:pos x="T0" y="T1"/>
              </a:cxn>
              <a:cxn ang="0">
                <a:pos x="T2" y="T3"/>
              </a:cxn>
              <a:cxn ang="0">
                <a:pos x="T4" y="T5"/>
              </a:cxn>
              <a:cxn ang="0">
                <a:pos x="T6" y="T7"/>
              </a:cxn>
              <a:cxn ang="0">
                <a:pos x="T8" y="T9"/>
              </a:cxn>
            </a:cxnLst>
            <a:rect l="0" t="0" r="r" b="b"/>
            <a:pathLst>
              <a:path w="5752465" h="6350">
                <a:moveTo>
                  <a:pt x="5752459" y="0"/>
                </a:moveTo>
                <a:lnTo>
                  <a:pt x="0" y="0"/>
                </a:lnTo>
                <a:lnTo>
                  <a:pt x="0" y="6095"/>
                </a:lnTo>
                <a:lnTo>
                  <a:pt x="5752459" y="6095"/>
                </a:lnTo>
                <a:lnTo>
                  <a:pt x="5752459" y="0"/>
                </a:lnTo>
                <a:close/>
              </a:path>
            </a:pathLst>
          </a:custGeom>
          <a:solidFill>
            <a:srgbClr val="2D75B6"/>
          </a:solidFill>
          <a:ln>
            <a:noFill/>
          </a:ln>
          <a:extLst>
            <a:ext uri="{91240B29-F687-4F45-9708-019B960494DF}">
              <a14:hiddenLine xmlns:a14="http://schemas.microsoft.com/office/drawing/2010/main" w="9525">
                <a:solidFill>
                  <a:srgbClr val="000000"/>
                </a:solidFill>
                <a:round/>
                <a:headEnd/>
                <a:tailEnd/>
              </a14:hiddenLine>
            </a:ext>
          </a:extLst>
        </p:spPr>
        <p:txBody>
          <a:bodyPr lIns="0" tIns="0" rIns="0" bIns="0"/>
          <a:lstStyle/>
          <a:p>
            <a:endParaRPr lang="en-IN"/>
          </a:p>
        </p:txBody>
      </p:sp>
      <p:sp>
        <p:nvSpPr>
          <p:cNvPr id="3" name="object 3">
            <a:extLst>
              <a:ext uri="{FF2B5EF4-FFF2-40B4-BE49-F238E27FC236}">
                <a16:creationId xmlns:a16="http://schemas.microsoft.com/office/drawing/2014/main" id="{308C4813-4F0C-35B1-38A6-38CBA381DAFD}"/>
              </a:ext>
            </a:extLst>
          </p:cNvPr>
          <p:cNvSpPr txBox="1"/>
          <p:nvPr/>
        </p:nvSpPr>
        <p:spPr>
          <a:xfrm>
            <a:off x="1130300" y="1322388"/>
            <a:ext cx="5711825" cy="7710487"/>
          </a:xfrm>
          <a:prstGeom prst="rect">
            <a:avLst/>
          </a:prstGeom>
        </p:spPr>
        <p:txBody>
          <a:bodyPr lIns="0" tIns="13335" rIns="0" bIns="0">
            <a:spAutoFit/>
          </a:bodyPr>
          <a:lstStyle>
            <a:lvl1pPr marL="12700">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ts val="100"/>
              </a:spcBef>
            </a:pPr>
            <a:r>
              <a:rPr lang="en-US" altLang="en-US" sz="1400" b="1">
                <a:solidFill>
                  <a:srgbClr val="2D75B6"/>
                </a:solidFill>
                <a:latin typeface="Times New Roman" panose="02020603050405020304" pitchFamily="18" charset="0"/>
                <a:cs typeface="Times New Roman" panose="02020603050405020304" pitchFamily="18" charset="0"/>
              </a:rPr>
              <a:t>2.1</a:t>
            </a:r>
            <a:r>
              <a:rPr lang="en-US" altLang="en-US" sz="1400">
                <a:solidFill>
                  <a:srgbClr val="2D75B6"/>
                </a:solidFill>
                <a:latin typeface="Times New Roman" panose="02020603050405020304" pitchFamily="18" charset="0"/>
                <a:cs typeface="Times New Roman" panose="02020603050405020304" pitchFamily="18" charset="0"/>
              </a:rPr>
              <a:t> </a:t>
            </a:r>
            <a:r>
              <a:rPr lang="en-US" altLang="en-US" sz="1400" b="1">
                <a:solidFill>
                  <a:srgbClr val="2D75B6"/>
                </a:solidFill>
                <a:latin typeface="Times New Roman" panose="02020603050405020304" pitchFamily="18" charset="0"/>
                <a:cs typeface="Times New Roman" panose="02020603050405020304" pitchFamily="18" charset="0"/>
              </a:rPr>
              <a:t>Review</a:t>
            </a:r>
            <a:r>
              <a:rPr lang="en-US" altLang="en-US" sz="1400">
                <a:solidFill>
                  <a:srgbClr val="2D75B6"/>
                </a:solidFill>
                <a:latin typeface="Times New Roman" panose="02020603050405020304" pitchFamily="18" charset="0"/>
                <a:cs typeface="Times New Roman" panose="02020603050405020304" pitchFamily="18" charset="0"/>
              </a:rPr>
              <a:t> </a:t>
            </a:r>
            <a:r>
              <a:rPr lang="en-US" altLang="en-US" sz="1400" b="1">
                <a:solidFill>
                  <a:srgbClr val="2D75B6"/>
                </a:solidFill>
                <a:latin typeface="Times New Roman" panose="02020603050405020304" pitchFamily="18" charset="0"/>
                <a:cs typeface="Times New Roman" panose="02020603050405020304" pitchFamily="18" charset="0"/>
              </a:rPr>
              <a:t>of</a:t>
            </a:r>
            <a:r>
              <a:rPr lang="en-US" altLang="en-US" sz="1400">
                <a:solidFill>
                  <a:srgbClr val="2D75B6"/>
                </a:solidFill>
                <a:latin typeface="Times New Roman" panose="02020603050405020304" pitchFamily="18" charset="0"/>
                <a:cs typeface="Times New Roman" panose="02020603050405020304" pitchFamily="18" charset="0"/>
              </a:rPr>
              <a:t> </a:t>
            </a:r>
            <a:r>
              <a:rPr lang="en-US" altLang="en-US" sz="1400" b="1">
                <a:solidFill>
                  <a:srgbClr val="2D75B6"/>
                </a:solidFill>
                <a:latin typeface="Times New Roman" panose="02020603050405020304" pitchFamily="18" charset="0"/>
                <a:cs typeface="Times New Roman" panose="02020603050405020304" pitchFamily="18" charset="0"/>
              </a:rPr>
              <a:t>Existing</a:t>
            </a:r>
            <a:r>
              <a:rPr lang="en-US" altLang="en-US" sz="1400">
                <a:solidFill>
                  <a:srgbClr val="2D75B6"/>
                </a:solidFill>
                <a:latin typeface="Times New Roman" panose="02020603050405020304" pitchFamily="18" charset="0"/>
                <a:cs typeface="Times New Roman" panose="02020603050405020304" pitchFamily="18" charset="0"/>
              </a:rPr>
              <a:t> </a:t>
            </a:r>
            <a:r>
              <a:rPr lang="en-US" altLang="en-US" sz="1400" b="1">
                <a:solidFill>
                  <a:srgbClr val="2D75B6"/>
                </a:solidFill>
                <a:latin typeface="Times New Roman" panose="02020603050405020304" pitchFamily="18" charset="0"/>
                <a:cs typeface="Times New Roman" panose="02020603050405020304" pitchFamily="18" charset="0"/>
              </a:rPr>
              <a:t>Work</a:t>
            </a:r>
            <a:endParaRPr lang="en-US" altLang="en-US" sz="1400">
              <a:solidFill>
                <a:srgbClr val="000000"/>
              </a:solidFill>
              <a:latin typeface="Times New Roman" panose="02020603050405020304" pitchFamily="18" charset="0"/>
              <a:cs typeface="Times New Roman" panose="02020603050405020304" pitchFamily="18" charset="0"/>
            </a:endParaRPr>
          </a:p>
          <a:p>
            <a:pPr eaLnBrk="1" hangingPunct="1">
              <a:lnSpc>
                <a:spcPct val="144000"/>
              </a:lnSpc>
              <a:spcBef>
                <a:spcPts val="750"/>
              </a:spcBef>
            </a:pPr>
            <a:r>
              <a:rPr lang="en-US" altLang="en-US" sz="1100">
                <a:solidFill>
                  <a:srgbClr val="000000"/>
                </a:solidFill>
                <a:latin typeface="Calibri" panose="020F0502020204030204" pitchFamily="34" charset="0"/>
                <a:cs typeface="Calibri" panose="020F0502020204030204" pitchFamily="34" charset="0"/>
              </a:rPr>
              <a:t>A</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review</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of</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existing</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literature</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on</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adaptive</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filtering</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techniques</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for</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ECG</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noise</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removal</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and</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their</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FPGA</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implementations</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has</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been</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conducted</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to</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establish</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the</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foundation</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of</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this</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project.</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The</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reviewed</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works</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include</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classical</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filtering</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methods</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and</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modern</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hardware-accelerated</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adaptive</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algorithms.</a:t>
            </a:r>
          </a:p>
          <a:p>
            <a:pPr eaLnBrk="1" hangingPunct="1"/>
            <a:endParaRPr lang="en-US" altLang="en-US" sz="1100">
              <a:solidFill>
                <a:srgbClr val="000000"/>
              </a:solidFill>
              <a:latin typeface="Calibri" panose="020F0502020204030204" pitchFamily="34" charset="0"/>
              <a:cs typeface="Calibri" panose="020F0502020204030204" pitchFamily="34" charset="0"/>
            </a:endParaRPr>
          </a:p>
          <a:p>
            <a:pPr eaLnBrk="1" hangingPunct="1">
              <a:spcBef>
                <a:spcPts val="25"/>
              </a:spcBef>
            </a:pPr>
            <a:endParaRPr lang="en-US" altLang="en-US" sz="1100">
              <a:solidFill>
                <a:srgbClr val="000000"/>
              </a:solidFill>
              <a:latin typeface="Calibri" panose="020F0502020204030204" pitchFamily="34" charset="0"/>
              <a:cs typeface="Calibri" panose="020F0502020204030204" pitchFamily="34" charset="0"/>
            </a:endParaRPr>
          </a:p>
          <a:p>
            <a:pPr eaLnBrk="1" hangingPunct="1">
              <a:lnSpc>
                <a:spcPct val="144000"/>
              </a:lnSpc>
            </a:pPr>
            <a:r>
              <a:rPr lang="en-US" altLang="en-US" sz="1100" b="1">
                <a:solidFill>
                  <a:srgbClr val="000000"/>
                </a:solidFill>
                <a:latin typeface="Calibri" panose="020F0502020204030204" pitchFamily="34" charset="0"/>
                <a:cs typeface="Calibri" panose="020F0502020204030204" pitchFamily="34" charset="0"/>
              </a:rPr>
              <a:t>Chang</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b="1">
                <a:solidFill>
                  <a:srgbClr val="000000"/>
                </a:solidFill>
                <a:latin typeface="Calibri" panose="020F0502020204030204" pitchFamily="34" charset="0"/>
                <a:cs typeface="Calibri" panose="020F0502020204030204" pitchFamily="34" charset="0"/>
              </a:rPr>
              <a:t>and</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b="1">
                <a:solidFill>
                  <a:srgbClr val="000000"/>
                </a:solidFill>
                <a:latin typeface="Calibri" panose="020F0502020204030204" pitchFamily="34" charset="0"/>
                <a:cs typeface="Calibri" panose="020F0502020204030204" pitchFamily="34" charset="0"/>
              </a:rPr>
              <a:t>Liu</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b="1">
                <a:solidFill>
                  <a:srgbClr val="000000"/>
                </a:solidFill>
                <a:latin typeface="Calibri" panose="020F0502020204030204" pitchFamily="34" charset="0"/>
                <a:cs typeface="Calibri" panose="020F0502020204030204" pitchFamily="34" charset="0"/>
              </a:rPr>
              <a:t>(2011)</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proposed</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a</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method</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combining</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Wiener</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filtering</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and</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Ensemble</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Empirical</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Mode</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Decomposition</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(EEMD)</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for</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removing</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white</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Gaussian</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noise</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from</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ECG</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signals.</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Although</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it</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provides</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good</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SNR</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improvement,</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the</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method</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involves</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high</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computational</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complexity</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and</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is</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not</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suitable</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for</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real-time</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applications.</a:t>
            </a:r>
          </a:p>
          <a:p>
            <a:pPr eaLnBrk="1" hangingPunct="1"/>
            <a:endParaRPr lang="en-US" altLang="en-US" sz="1100">
              <a:solidFill>
                <a:srgbClr val="000000"/>
              </a:solidFill>
              <a:latin typeface="Calibri" panose="020F0502020204030204" pitchFamily="34" charset="0"/>
              <a:cs typeface="Calibri" panose="020F0502020204030204" pitchFamily="34" charset="0"/>
            </a:endParaRPr>
          </a:p>
          <a:p>
            <a:pPr eaLnBrk="1" hangingPunct="1">
              <a:spcBef>
                <a:spcPts val="25"/>
              </a:spcBef>
            </a:pPr>
            <a:endParaRPr lang="en-US" altLang="en-US" sz="1100">
              <a:solidFill>
                <a:srgbClr val="000000"/>
              </a:solidFill>
              <a:latin typeface="Calibri" panose="020F0502020204030204" pitchFamily="34" charset="0"/>
              <a:cs typeface="Calibri" panose="020F0502020204030204" pitchFamily="34" charset="0"/>
            </a:endParaRPr>
          </a:p>
          <a:p>
            <a:pPr eaLnBrk="1" hangingPunct="1">
              <a:lnSpc>
                <a:spcPct val="144000"/>
              </a:lnSpc>
            </a:pPr>
            <a:r>
              <a:rPr lang="en-US" altLang="en-US" sz="1100" b="1">
                <a:solidFill>
                  <a:srgbClr val="000000"/>
                </a:solidFill>
                <a:latin typeface="Calibri" panose="020F0502020204030204" pitchFamily="34" charset="0"/>
                <a:cs typeface="Calibri" panose="020F0502020204030204" pitchFamily="34" charset="0"/>
              </a:rPr>
              <a:t>Sayadi</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b="1">
                <a:solidFill>
                  <a:srgbClr val="000000"/>
                </a:solidFill>
                <a:latin typeface="Calibri" panose="020F0502020204030204" pitchFamily="34" charset="0"/>
                <a:cs typeface="Calibri" panose="020F0502020204030204" pitchFamily="34" charset="0"/>
              </a:rPr>
              <a:t>and</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b="1">
                <a:solidFill>
                  <a:srgbClr val="000000"/>
                </a:solidFill>
                <a:latin typeface="Calibri" panose="020F0502020204030204" pitchFamily="34" charset="0"/>
                <a:cs typeface="Calibri" panose="020F0502020204030204" pitchFamily="34" charset="0"/>
              </a:rPr>
              <a:t>Shamsollahi</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b="1">
                <a:solidFill>
                  <a:srgbClr val="000000"/>
                </a:solidFill>
                <a:latin typeface="Calibri" panose="020F0502020204030204" pitchFamily="34" charset="0"/>
                <a:cs typeface="Calibri" panose="020F0502020204030204" pitchFamily="34" charset="0"/>
              </a:rPr>
              <a:t>(2008)</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introduced</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a</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modified</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Extended</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Kalman</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Filter</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(EKF)</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for</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ECG</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denoising</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and</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compression.</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While</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effective,</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it</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requires</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complex</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computations,</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accurate</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initialization,</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and</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shows</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slow</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convergence</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in</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dynamic</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environments.</a:t>
            </a:r>
          </a:p>
          <a:p>
            <a:pPr eaLnBrk="1" hangingPunct="1"/>
            <a:endParaRPr lang="en-US" altLang="en-US" sz="1100">
              <a:solidFill>
                <a:srgbClr val="000000"/>
              </a:solidFill>
              <a:latin typeface="Calibri" panose="020F0502020204030204" pitchFamily="34" charset="0"/>
              <a:cs typeface="Calibri" panose="020F0502020204030204" pitchFamily="34" charset="0"/>
            </a:endParaRPr>
          </a:p>
          <a:p>
            <a:pPr eaLnBrk="1" hangingPunct="1">
              <a:spcBef>
                <a:spcPts val="25"/>
              </a:spcBef>
            </a:pPr>
            <a:endParaRPr lang="en-US" altLang="en-US" sz="1100">
              <a:solidFill>
                <a:srgbClr val="000000"/>
              </a:solidFill>
              <a:latin typeface="Calibri" panose="020F0502020204030204" pitchFamily="34" charset="0"/>
              <a:cs typeface="Calibri" panose="020F0502020204030204" pitchFamily="34" charset="0"/>
            </a:endParaRPr>
          </a:p>
          <a:p>
            <a:pPr eaLnBrk="1" hangingPunct="1">
              <a:lnSpc>
                <a:spcPct val="144000"/>
              </a:lnSpc>
            </a:pPr>
            <a:r>
              <a:rPr lang="en-US" altLang="en-US" sz="1100" b="1">
                <a:solidFill>
                  <a:srgbClr val="000000"/>
                </a:solidFill>
                <a:latin typeface="Calibri" panose="020F0502020204030204" pitchFamily="34" charset="0"/>
                <a:cs typeface="Calibri" panose="020F0502020204030204" pitchFamily="34" charset="0"/>
              </a:rPr>
              <a:t>Elhossini,</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b="1">
                <a:solidFill>
                  <a:srgbClr val="000000"/>
                </a:solidFill>
                <a:latin typeface="Calibri" panose="020F0502020204030204" pitchFamily="34" charset="0"/>
                <a:cs typeface="Calibri" panose="020F0502020204030204" pitchFamily="34" charset="0"/>
              </a:rPr>
              <a:t>Areibi,</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b="1">
                <a:solidFill>
                  <a:srgbClr val="000000"/>
                </a:solidFill>
                <a:latin typeface="Calibri" panose="020F0502020204030204" pitchFamily="34" charset="0"/>
                <a:cs typeface="Calibri" panose="020F0502020204030204" pitchFamily="34" charset="0"/>
              </a:rPr>
              <a:t>and</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b="1">
                <a:solidFill>
                  <a:srgbClr val="000000"/>
                </a:solidFill>
                <a:latin typeface="Calibri" panose="020F0502020204030204" pitchFamily="34" charset="0"/>
                <a:cs typeface="Calibri" panose="020F0502020204030204" pitchFamily="34" charset="0"/>
              </a:rPr>
              <a:t>Dony</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b="1">
                <a:solidFill>
                  <a:srgbClr val="000000"/>
                </a:solidFill>
                <a:latin typeface="Calibri" panose="020F0502020204030204" pitchFamily="34" charset="0"/>
                <a:cs typeface="Calibri" panose="020F0502020204030204" pitchFamily="34" charset="0"/>
              </a:rPr>
              <a:t>(2006)</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implemented</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an</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LMS</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adaptive</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filter</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on</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FPGA,</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demonstrating</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improved</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speed</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through</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parallel</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processing.</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However,</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the</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use</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of</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a</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fixed</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step</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size</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limits</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convergence</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performance</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and</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accuracy.</a:t>
            </a:r>
          </a:p>
          <a:p>
            <a:pPr eaLnBrk="1" hangingPunct="1"/>
            <a:endParaRPr lang="en-US" altLang="en-US" sz="1100">
              <a:solidFill>
                <a:srgbClr val="000000"/>
              </a:solidFill>
              <a:latin typeface="Calibri" panose="020F0502020204030204" pitchFamily="34" charset="0"/>
              <a:cs typeface="Calibri" panose="020F0502020204030204" pitchFamily="34" charset="0"/>
            </a:endParaRPr>
          </a:p>
          <a:p>
            <a:pPr eaLnBrk="1" hangingPunct="1">
              <a:spcBef>
                <a:spcPts val="25"/>
              </a:spcBef>
            </a:pPr>
            <a:endParaRPr lang="en-US" altLang="en-US" sz="1100">
              <a:solidFill>
                <a:srgbClr val="000000"/>
              </a:solidFill>
              <a:latin typeface="Calibri" panose="020F0502020204030204" pitchFamily="34" charset="0"/>
              <a:cs typeface="Calibri" panose="020F0502020204030204" pitchFamily="34" charset="0"/>
            </a:endParaRPr>
          </a:p>
          <a:p>
            <a:pPr eaLnBrk="1" hangingPunct="1">
              <a:lnSpc>
                <a:spcPct val="144000"/>
              </a:lnSpc>
            </a:pPr>
            <a:r>
              <a:rPr lang="en-US" altLang="en-US" sz="1100" b="1">
                <a:solidFill>
                  <a:srgbClr val="000000"/>
                </a:solidFill>
                <a:latin typeface="Calibri" panose="020F0502020204030204" pitchFamily="34" charset="0"/>
                <a:cs typeface="Calibri" panose="020F0502020204030204" pitchFamily="34" charset="0"/>
              </a:rPr>
              <a:t>Ting,</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b="1">
                <a:solidFill>
                  <a:srgbClr val="000000"/>
                </a:solidFill>
                <a:latin typeface="Calibri" panose="020F0502020204030204" pitchFamily="34" charset="0"/>
                <a:cs typeface="Calibri" panose="020F0502020204030204" pitchFamily="34" charset="0"/>
              </a:rPr>
              <a:t>Woods,</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b="1">
                <a:solidFill>
                  <a:srgbClr val="000000"/>
                </a:solidFill>
                <a:latin typeface="Calibri" panose="020F0502020204030204" pitchFamily="34" charset="0"/>
                <a:cs typeface="Calibri" panose="020F0502020204030204" pitchFamily="34" charset="0"/>
              </a:rPr>
              <a:t>and</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b="1">
                <a:solidFill>
                  <a:srgbClr val="000000"/>
                </a:solidFill>
                <a:latin typeface="Calibri" panose="020F0502020204030204" pitchFamily="34" charset="0"/>
                <a:cs typeface="Calibri" panose="020F0502020204030204" pitchFamily="34" charset="0"/>
              </a:rPr>
              <a:t>Cowan</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b="1">
                <a:solidFill>
                  <a:srgbClr val="000000"/>
                </a:solidFill>
                <a:latin typeface="Calibri" panose="020F0502020204030204" pitchFamily="34" charset="0"/>
                <a:cs typeface="Calibri" panose="020F0502020204030204" pitchFamily="34" charset="0"/>
              </a:rPr>
              <a:t>(2005)</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presented</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a</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pipelined</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LMS</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predictor</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on</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FPGA,</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showing</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that</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inserting</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delay</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elements</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improves</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throughput</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and</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clock</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speed.</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However,</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the</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absence</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of</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error</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normalization</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affects</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performance</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under</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varying</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noise</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conditions.</a:t>
            </a:r>
          </a:p>
          <a:p>
            <a:pPr eaLnBrk="1" hangingPunct="1"/>
            <a:endParaRPr lang="en-US" altLang="en-US" sz="1100">
              <a:solidFill>
                <a:srgbClr val="000000"/>
              </a:solidFill>
              <a:latin typeface="Calibri" panose="020F0502020204030204" pitchFamily="34" charset="0"/>
              <a:cs typeface="Calibri" panose="020F0502020204030204" pitchFamily="34" charset="0"/>
            </a:endParaRPr>
          </a:p>
          <a:p>
            <a:pPr eaLnBrk="1" hangingPunct="1">
              <a:spcBef>
                <a:spcPts val="13"/>
              </a:spcBef>
            </a:pPr>
            <a:endParaRPr lang="en-US" altLang="en-US" sz="1100">
              <a:solidFill>
                <a:srgbClr val="000000"/>
              </a:solidFill>
              <a:latin typeface="Calibri" panose="020F0502020204030204" pitchFamily="34" charset="0"/>
              <a:cs typeface="Calibri" panose="020F0502020204030204" pitchFamily="34" charset="0"/>
            </a:endParaRPr>
          </a:p>
          <a:p>
            <a:pPr eaLnBrk="1" hangingPunct="1">
              <a:lnSpc>
                <a:spcPct val="144000"/>
              </a:lnSpc>
            </a:pPr>
            <a:r>
              <a:rPr lang="en-US" altLang="en-US" sz="1100" b="1">
                <a:solidFill>
                  <a:srgbClr val="000000"/>
                </a:solidFill>
                <a:latin typeface="Calibri" panose="020F0502020204030204" pitchFamily="34" charset="0"/>
                <a:cs typeface="Calibri" panose="020F0502020204030204" pitchFamily="34" charset="0"/>
              </a:rPr>
              <a:t>Satheeskumaran</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b="1">
                <a:solidFill>
                  <a:srgbClr val="000000"/>
                </a:solidFill>
                <a:latin typeface="Calibri" panose="020F0502020204030204" pitchFamily="34" charset="0"/>
                <a:cs typeface="Calibri" panose="020F0502020204030204" pitchFamily="34" charset="0"/>
              </a:rPr>
              <a:t>and</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b="1">
                <a:solidFill>
                  <a:srgbClr val="000000"/>
                </a:solidFill>
                <a:latin typeface="Calibri" panose="020F0502020204030204" pitchFamily="34" charset="0"/>
                <a:cs typeface="Calibri" panose="020F0502020204030204" pitchFamily="34" charset="0"/>
              </a:rPr>
              <a:t>Sabrigiriraj</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b="1">
                <a:solidFill>
                  <a:srgbClr val="000000"/>
                </a:solidFill>
                <a:latin typeface="Calibri" panose="020F0502020204030204" pitchFamily="34" charset="0"/>
                <a:cs typeface="Calibri" panose="020F0502020204030204" pitchFamily="34" charset="0"/>
              </a:rPr>
              <a:t>(2016)</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proposed</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an</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LMS-based</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ECG</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noise</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removal</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method</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combined</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with</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Discrete</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Wavelet</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Transform</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(DWT).</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Although</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it</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achieves</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low</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power</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consumption,</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the</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lack</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of</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pipelining</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results</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in</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reduced</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processing</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speed.</a:t>
            </a:r>
          </a:p>
          <a:p>
            <a:pPr eaLnBrk="1" hangingPunct="1"/>
            <a:endParaRPr lang="en-US" altLang="en-US" sz="1100">
              <a:solidFill>
                <a:srgbClr val="000000"/>
              </a:solidFill>
              <a:latin typeface="Calibri" panose="020F0502020204030204" pitchFamily="34" charset="0"/>
              <a:cs typeface="Calibri" panose="020F0502020204030204" pitchFamily="34" charset="0"/>
            </a:endParaRPr>
          </a:p>
          <a:p>
            <a:pPr eaLnBrk="1" hangingPunct="1">
              <a:spcBef>
                <a:spcPts val="25"/>
              </a:spcBef>
            </a:pPr>
            <a:endParaRPr lang="en-US" altLang="en-US" sz="1100">
              <a:solidFill>
                <a:srgbClr val="000000"/>
              </a:solidFill>
              <a:latin typeface="Calibri" panose="020F0502020204030204" pitchFamily="34" charset="0"/>
              <a:cs typeface="Calibri" panose="020F0502020204030204" pitchFamily="34" charset="0"/>
            </a:endParaRPr>
          </a:p>
          <a:p>
            <a:pPr eaLnBrk="1" hangingPunct="1">
              <a:lnSpc>
                <a:spcPct val="144000"/>
              </a:lnSpc>
            </a:pPr>
            <a:r>
              <a:rPr lang="en-US" altLang="en-US" sz="1100" b="1">
                <a:solidFill>
                  <a:srgbClr val="000000"/>
                </a:solidFill>
                <a:latin typeface="Calibri" panose="020F0502020204030204" pitchFamily="34" charset="0"/>
                <a:cs typeface="Calibri" panose="020F0502020204030204" pitchFamily="34" charset="0"/>
              </a:rPr>
              <a:t>Mullins</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b="1">
                <a:solidFill>
                  <a:srgbClr val="000000"/>
                </a:solidFill>
                <a:latin typeface="Calibri" panose="020F0502020204030204" pitchFamily="34" charset="0"/>
                <a:cs typeface="Calibri" panose="020F0502020204030204" pitchFamily="34" charset="0"/>
              </a:rPr>
              <a:t>and</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b="1">
                <a:solidFill>
                  <a:srgbClr val="000000"/>
                </a:solidFill>
                <a:latin typeface="Calibri" panose="020F0502020204030204" pitchFamily="34" charset="0"/>
                <a:cs typeface="Calibri" panose="020F0502020204030204" pitchFamily="34" charset="0"/>
              </a:rPr>
              <a:t>Heneghan</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b="1">
                <a:solidFill>
                  <a:srgbClr val="000000"/>
                </a:solidFill>
                <a:latin typeface="Calibri" panose="020F0502020204030204" pitchFamily="34" charset="0"/>
                <a:cs typeface="Calibri" panose="020F0502020204030204" pitchFamily="34" charset="0"/>
              </a:rPr>
              <a:t>(2002</a:t>
            </a:r>
            <a:r>
              <a:rPr lang="en-US" altLang="en-US" sz="1100">
                <a:solidFill>
                  <a:srgbClr val="000000"/>
                </a:solidFill>
                <a:latin typeface="Calibri" panose="020F0502020204030204" pitchFamily="34" charset="0"/>
                <a:cs typeface="Calibri" panose="020F0502020204030204" pitchFamily="34" charset="0"/>
              </a:rPr>
              <a:t>)</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explored</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various</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LMS</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architectures</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for</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FPGA,</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including</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delayed</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models</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that</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improve</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clock</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frequency.</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However,</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the</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absence</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of</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error</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normalization</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limits</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performance</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in</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varying</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noise</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environments.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2" name="object 2">
            <a:extLst>
              <a:ext uri="{FF2B5EF4-FFF2-40B4-BE49-F238E27FC236}">
                <a16:creationId xmlns:a16="http://schemas.microsoft.com/office/drawing/2014/main" id="{3ED3B3E7-06E1-9E08-EC31-B1EED7FB3761}"/>
              </a:ext>
            </a:extLst>
          </p:cNvPr>
          <p:cNvGraphicFramePr>
            <a:graphicFrameLocks noGrp="1"/>
          </p:cNvGraphicFramePr>
          <p:nvPr>
            <p:extLst>
              <p:ext uri="{D42A27DB-BD31-4B8C-83A1-F6EECF244321}">
                <p14:modId xmlns:p14="http://schemas.microsoft.com/office/powerpoint/2010/main" val="4166635825"/>
              </p:ext>
            </p:extLst>
          </p:nvPr>
        </p:nvGraphicFramePr>
        <p:xfrm>
          <a:off x="1143000" y="1141410"/>
          <a:ext cx="5946775" cy="3816352"/>
        </p:xfrm>
        <a:graphic>
          <a:graphicData uri="http://schemas.openxmlformats.org/drawingml/2006/table">
            <a:tbl>
              <a:tblPr>
                <a:tableStyleId>{5940675A-B579-460E-94D1-54222C63F5DA}</a:tableStyleId>
              </a:tblPr>
              <a:tblGrid>
                <a:gridCol w="1143000">
                  <a:extLst>
                    <a:ext uri="{9D8B030D-6E8A-4147-A177-3AD203B41FA5}">
                      <a16:colId xmlns:a16="http://schemas.microsoft.com/office/drawing/2014/main" val="3643614890"/>
                    </a:ext>
                  </a:extLst>
                </a:gridCol>
                <a:gridCol w="1398588">
                  <a:extLst>
                    <a:ext uri="{9D8B030D-6E8A-4147-A177-3AD203B41FA5}">
                      <a16:colId xmlns:a16="http://schemas.microsoft.com/office/drawing/2014/main" val="948708995"/>
                    </a:ext>
                  </a:extLst>
                </a:gridCol>
                <a:gridCol w="1206500">
                  <a:extLst>
                    <a:ext uri="{9D8B030D-6E8A-4147-A177-3AD203B41FA5}">
                      <a16:colId xmlns:a16="http://schemas.microsoft.com/office/drawing/2014/main" val="1491150005"/>
                    </a:ext>
                  </a:extLst>
                </a:gridCol>
                <a:gridCol w="1206500">
                  <a:extLst>
                    <a:ext uri="{9D8B030D-6E8A-4147-A177-3AD203B41FA5}">
                      <a16:colId xmlns:a16="http://schemas.microsoft.com/office/drawing/2014/main" val="3467959945"/>
                    </a:ext>
                  </a:extLst>
                </a:gridCol>
                <a:gridCol w="992187">
                  <a:extLst>
                    <a:ext uri="{9D8B030D-6E8A-4147-A177-3AD203B41FA5}">
                      <a16:colId xmlns:a16="http://schemas.microsoft.com/office/drawing/2014/main" val="1272032410"/>
                    </a:ext>
                  </a:extLst>
                </a:gridCol>
              </a:tblGrid>
              <a:tr h="192088">
                <a:tc>
                  <a:txBody>
                    <a:bodyPr/>
                    <a:lstStyle>
                      <a:lvl1pPr marL="66675">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66675" marR="0" lvl="0" indent="0" algn="l" defTabSz="914400" rtl="0" eaLnBrk="1" fontAlgn="base" latinLnBrk="0" hangingPunct="1">
                        <a:lnSpc>
                          <a:spcPts val="1400"/>
                        </a:lnSpc>
                        <a:spcBef>
                          <a:spcPct val="0"/>
                        </a:spcBef>
                        <a:spcAft>
                          <a:spcPct val="0"/>
                        </a:spcAft>
                        <a:buClrTx/>
                        <a:buSzTx/>
                        <a:buFontTx/>
                        <a:buNone/>
                        <a:tabLst/>
                      </a:pPr>
                      <a:r>
                        <a:rPr kumimoji="0" lang="en-US" altLang="en-US" sz="1200" b="1" u="none" strike="noStrike" cap="none" normalizeH="0" baseline="0" dirty="0">
                          <a:ln>
                            <a:noFill/>
                          </a:ln>
                          <a:solidFill>
                            <a:schemeClr val="tx1"/>
                          </a:solidFill>
                          <a:effectLst/>
                        </a:rPr>
                        <a:t>Author/Year</a:t>
                      </a:r>
                      <a:endParaRPr kumimoji="0" lang="en-US" altLang="en-US" sz="1200" b="0" i="0" u="none" strike="noStrike" cap="none" normalizeH="0" baseline="0" dirty="0">
                        <a:ln>
                          <a:noFill/>
                        </a:ln>
                        <a:solidFill>
                          <a:schemeClr val="tx1"/>
                        </a:solidFill>
                        <a:effectLst/>
                        <a:latin typeface="Calibri" panose="020F0502020204030204" pitchFamily="34" charset="0"/>
                        <a:cs typeface="Calibri" panose="020F0502020204030204" pitchFamily="34" charset="0"/>
                      </a:endParaRPr>
                    </a:p>
                  </a:txBody>
                  <a:tcPr marL="0" marR="0" marT="0" marB="0" horzOverflow="overflow"/>
                </a:tc>
                <a:tc>
                  <a:txBody>
                    <a:bodyPr/>
                    <a:lstStyle>
                      <a:lvl1pPr marL="68263">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68263" marR="0" lvl="0" indent="0" algn="l" defTabSz="914400" rtl="0" eaLnBrk="1" fontAlgn="base" latinLnBrk="0" hangingPunct="1">
                        <a:lnSpc>
                          <a:spcPts val="1400"/>
                        </a:lnSpc>
                        <a:spcBef>
                          <a:spcPct val="0"/>
                        </a:spcBef>
                        <a:spcAft>
                          <a:spcPct val="0"/>
                        </a:spcAft>
                        <a:buClrTx/>
                        <a:buSzTx/>
                        <a:buFontTx/>
                        <a:buNone/>
                        <a:tabLst/>
                      </a:pPr>
                      <a:r>
                        <a:rPr kumimoji="0" lang="en-US" altLang="en-US" sz="1200" b="1" u="none" strike="noStrike" cap="none" normalizeH="0" baseline="0">
                          <a:ln>
                            <a:noFill/>
                          </a:ln>
                          <a:solidFill>
                            <a:schemeClr val="tx1"/>
                          </a:solidFill>
                          <a:effectLst/>
                        </a:rPr>
                        <a:t>Method</a:t>
                      </a:r>
                      <a:endParaRPr kumimoji="0" lang="en-US" altLang="en-US" sz="1200" b="0" i="0" u="none" strike="noStrike" cap="none" normalizeH="0" baseline="0">
                        <a:ln>
                          <a:noFill/>
                        </a:ln>
                        <a:solidFill>
                          <a:schemeClr val="tx1"/>
                        </a:solidFill>
                        <a:effectLst/>
                        <a:latin typeface="Calibri" panose="020F0502020204030204" pitchFamily="34" charset="0"/>
                        <a:cs typeface="Calibri" panose="020F0502020204030204" pitchFamily="34" charset="0"/>
                      </a:endParaRPr>
                    </a:p>
                  </a:txBody>
                  <a:tcPr marL="0" marR="0" marT="0" marB="0" horzOverflow="overflow"/>
                </a:tc>
                <a:tc>
                  <a:txBody>
                    <a:bodyPr/>
                    <a:lstStyle>
                      <a:lvl1pPr marL="66675">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66675" marR="0" lvl="0" indent="0" algn="l" defTabSz="914400" rtl="0" eaLnBrk="1" fontAlgn="base" latinLnBrk="0" hangingPunct="1">
                        <a:lnSpc>
                          <a:spcPts val="1400"/>
                        </a:lnSpc>
                        <a:spcBef>
                          <a:spcPct val="0"/>
                        </a:spcBef>
                        <a:spcAft>
                          <a:spcPct val="0"/>
                        </a:spcAft>
                        <a:buClrTx/>
                        <a:buSzTx/>
                        <a:buFontTx/>
                        <a:buNone/>
                        <a:tabLst/>
                      </a:pPr>
                      <a:r>
                        <a:rPr kumimoji="0" lang="en-US" altLang="en-US" sz="1200" b="1" u="none" strike="noStrike" cap="none" normalizeH="0" baseline="0">
                          <a:ln>
                            <a:noFill/>
                          </a:ln>
                          <a:solidFill>
                            <a:schemeClr val="tx1"/>
                          </a:solidFill>
                          <a:effectLst/>
                        </a:rPr>
                        <a:t>Noise</a:t>
                      </a:r>
                      <a:r>
                        <a:rPr kumimoji="0" lang="en-US" altLang="en-US" sz="1200" b="0" u="none" strike="noStrike" cap="none" normalizeH="0" baseline="0">
                          <a:ln>
                            <a:noFill/>
                          </a:ln>
                          <a:solidFill>
                            <a:schemeClr val="tx1"/>
                          </a:solidFill>
                          <a:effectLst/>
                        </a:rPr>
                        <a:t> </a:t>
                      </a:r>
                      <a:r>
                        <a:rPr kumimoji="0" lang="en-US" altLang="en-US" sz="1200" b="1" u="none" strike="noStrike" cap="none" normalizeH="0" baseline="0">
                          <a:ln>
                            <a:noFill/>
                          </a:ln>
                          <a:solidFill>
                            <a:schemeClr val="tx1"/>
                          </a:solidFill>
                          <a:effectLst/>
                        </a:rPr>
                        <a:t>Type</a:t>
                      </a:r>
                      <a:endParaRPr kumimoji="0" lang="en-US" altLang="en-US" sz="1200" b="0" i="0" u="none" strike="noStrike" cap="none" normalizeH="0" baseline="0">
                        <a:ln>
                          <a:noFill/>
                        </a:ln>
                        <a:solidFill>
                          <a:schemeClr val="tx1"/>
                        </a:solidFill>
                        <a:effectLst/>
                        <a:latin typeface="Calibri" panose="020F0502020204030204" pitchFamily="34" charset="0"/>
                        <a:cs typeface="Calibri" panose="020F0502020204030204" pitchFamily="34" charset="0"/>
                      </a:endParaRPr>
                    </a:p>
                  </a:txBody>
                  <a:tcPr marL="0" marR="0" marT="0" marB="0" horzOverflow="overflow"/>
                </a:tc>
                <a:tc>
                  <a:txBody>
                    <a:bodyPr/>
                    <a:lstStyle>
                      <a:lvl1pPr marL="68263">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68263" marR="0" lvl="0" indent="0" algn="l" defTabSz="914400" rtl="0" eaLnBrk="1" fontAlgn="base" latinLnBrk="0" hangingPunct="1">
                        <a:lnSpc>
                          <a:spcPts val="1400"/>
                        </a:lnSpc>
                        <a:spcBef>
                          <a:spcPct val="0"/>
                        </a:spcBef>
                        <a:spcAft>
                          <a:spcPct val="0"/>
                        </a:spcAft>
                        <a:buClrTx/>
                        <a:buSzTx/>
                        <a:buFontTx/>
                        <a:buNone/>
                        <a:tabLst/>
                      </a:pPr>
                      <a:r>
                        <a:rPr kumimoji="0" lang="en-US" altLang="en-US" sz="1200" b="1" u="none" strike="noStrike" cap="none" normalizeH="0" baseline="0">
                          <a:ln>
                            <a:noFill/>
                          </a:ln>
                          <a:solidFill>
                            <a:schemeClr val="tx1"/>
                          </a:solidFill>
                          <a:effectLst/>
                        </a:rPr>
                        <a:t>Advantage</a:t>
                      </a:r>
                      <a:endParaRPr kumimoji="0" lang="en-US" altLang="en-US" sz="1200" b="0" i="0" u="none" strike="noStrike" cap="none" normalizeH="0" baseline="0">
                        <a:ln>
                          <a:noFill/>
                        </a:ln>
                        <a:solidFill>
                          <a:schemeClr val="tx1"/>
                        </a:solidFill>
                        <a:effectLst/>
                        <a:latin typeface="Calibri" panose="020F0502020204030204" pitchFamily="34" charset="0"/>
                        <a:cs typeface="Calibri" panose="020F0502020204030204" pitchFamily="34" charset="0"/>
                      </a:endParaRPr>
                    </a:p>
                  </a:txBody>
                  <a:tcPr marL="0" marR="0" marT="0" marB="0" horzOverflow="overflow"/>
                </a:tc>
                <a:tc>
                  <a:txBody>
                    <a:bodyPr/>
                    <a:lstStyle>
                      <a:lvl1pPr marL="66675">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66675" marR="0" lvl="0" indent="0" algn="l" defTabSz="914400" rtl="0" eaLnBrk="1" fontAlgn="base" latinLnBrk="0" hangingPunct="1">
                        <a:lnSpc>
                          <a:spcPts val="1400"/>
                        </a:lnSpc>
                        <a:spcBef>
                          <a:spcPct val="0"/>
                        </a:spcBef>
                        <a:spcAft>
                          <a:spcPct val="0"/>
                        </a:spcAft>
                        <a:buClrTx/>
                        <a:buSzTx/>
                        <a:buFontTx/>
                        <a:buNone/>
                        <a:tabLst/>
                      </a:pPr>
                      <a:r>
                        <a:rPr kumimoji="0" lang="en-US" altLang="en-US" sz="1200" b="1" u="none" strike="noStrike" cap="none" normalizeH="0" baseline="0">
                          <a:ln>
                            <a:noFill/>
                          </a:ln>
                          <a:solidFill>
                            <a:schemeClr val="tx1"/>
                          </a:solidFill>
                          <a:effectLst/>
                        </a:rPr>
                        <a:t>Limitation</a:t>
                      </a:r>
                      <a:endParaRPr kumimoji="0" lang="en-US" altLang="en-US" sz="1200" b="0" i="0" u="none" strike="noStrike" cap="none" normalizeH="0" baseline="0">
                        <a:ln>
                          <a:noFill/>
                        </a:ln>
                        <a:solidFill>
                          <a:schemeClr val="tx1"/>
                        </a:solidFill>
                        <a:effectLst/>
                        <a:latin typeface="Calibri" panose="020F0502020204030204" pitchFamily="34" charset="0"/>
                        <a:cs typeface="Calibri" panose="020F0502020204030204" pitchFamily="34" charset="0"/>
                      </a:endParaRPr>
                    </a:p>
                  </a:txBody>
                  <a:tcPr marL="0" marR="0" marT="0" marB="0" horzOverflow="overflow"/>
                </a:tc>
                <a:extLst>
                  <a:ext uri="{0D108BD9-81ED-4DB2-BD59-A6C34878D82A}">
                    <a16:rowId xmlns:a16="http://schemas.microsoft.com/office/drawing/2014/main" val="3784801825"/>
                  </a:ext>
                </a:extLst>
              </a:tr>
              <a:tr h="688975">
                <a:tc>
                  <a:txBody>
                    <a:bodyPr/>
                    <a:lstStyle>
                      <a:lvl1pPr marL="66675">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66675" marR="0" lvl="0" indent="0" algn="l" defTabSz="914400" rtl="0" eaLnBrk="1" fontAlgn="base" latinLnBrk="0" hangingPunct="1">
                        <a:lnSpc>
                          <a:spcPts val="1288"/>
                        </a:lnSpc>
                        <a:spcBef>
                          <a:spcPct val="0"/>
                        </a:spcBef>
                        <a:spcAft>
                          <a:spcPct val="0"/>
                        </a:spcAft>
                        <a:buClrTx/>
                        <a:buSzTx/>
                        <a:buFontTx/>
                        <a:buNone/>
                        <a:tabLst/>
                      </a:pPr>
                      <a:r>
                        <a:rPr kumimoji="0" lang="en-US" altLang="en-US" sz="1100" b="0" u="none" strike="noStrike" cap="none" normalizeH="0" baseline="0" dirty="0">
                          <a:ln>
                            <a:noFill/>
                          </a:ln>
                          <a:solidFill>
                            <a:schemeClr val="tx1"/>
                          </a:solidFill>
                          <a:effectLst/>
                        </a:rPr>
                        <a:t>Chang &amp; Liu</a:t>
                      </a:r>
                    </a:p>
                    <a:p>
                      <a:pPr marL="66675" marR="0" lvl="0" indent="0" algn="l" defTabSz="914400" rtl="0" eaLnBrk="1" fontAlgn="base" latinLnBrk="0" hangingPunct="1">
                        <a:lnSpc>
                          <a:spcPct val="100000"/>
                        </a:lnSpc>
                        <a:spcBef>
                          <a:spcPts val="25"/>
                        </a:spcBef>
                        <a:spcAft>
                          <a:spcPct val="0"/>
                        </a:spcAft>
                        <a:buClrTx/>
                        <a:buSzTx/>
                        <a:buFontTx/>
                        <a:buNone/>
                        <a:tabLst/>
                      </a:pPr>
                      <a:r>
                        <a:rPr kumimoji="0" lang="en-US" altLang="en-US" sz="1100" b="0" u="none" strike="noStrike" cap="none" normalizeH="0" baseline="0" dirty="0">
                          <a:ln>
                            <a:noFill/>
                          </a:ln>
                          <a:solidFill>
                            <a:schemeClr val="tx1"/>
                          </a:solidFill>
                          <a:effectLst/>
                        </a:rPr>
                        <a:t>(2011)</a:t>
                      </a:r>
                      <a:endParaRPr kumimoji="0" lang="en-US" altLang="en-US" sz="1100" b="0" i="0" u="none" strike="noStrike" cap="none" normalizeH="0" baseline="0" dirty="0">
                        <a:ln>
                          <a:noFill/>
                        </a:ln>
                        <a:solidFill>
                          <a:schemeClr val="tx1"/>
                        </a:solidFill>
                        <a:effectLst/>
                        <a:latin typeface="Calibri" panose="020F0502020204030204" pitchFamily="34" charset="0"/>
                        <a:cs typeface="Calibri" panose="020F0502020204030204" pitchFamily="34" charset="0"/>
                      </a:endParaRPr>
                    </a:p>
                  </a:txBody>
                  <a:tcPr marL="0" marR="0" marT="0" marB="0" horzOverflow="overflow"/>
                </a:tc>
                <a:tc>
                  <a:txBody>
                    <a:bodyPr/>
                    <a:lstStyle>
                      <a:lvl1pPr marL="68263">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68263" marR="0" lvl="0" indent="0" algn="l" defTabSz="914400" rtl="0" eaLnBrk="1" fontAlgn="base" latinLnBrk="0" hangingPunct="1">
                        <a:lnSpc>
                          <a:spcPts val="1288"/>
                        </a:lnSpc>
                        <a:spcBef>
                          <a:spcPct val="0"/>
                        </a:spcBef>
                        <a:spcAft>
                          <a:spcPct val="0"/>
                        </a:spcAft>
                        <a:buClrTx/>
                        <a:buSzTx/>
                        <a:buFontTx/>
                        <a:buNone/>
                        <a:tabLst/>
                      </a:pPr>
                      <a:r>
                        <a:rPr kumimoji="0" lang="en-US" altLang="en-US" sz="1100" b="0" u="none" strike="noStrike" cap="none" normalizeH="0" baseline="0">
                          <a:ln>
                            <a:noFill/>
                          </a:ln>
                          <a:solidFill>
                            <a:schemeClr val="tx1"/>
                          </a:solidFill>
                          <a:effectLst/>
                        </a:rPr>
                        <a:t>Wiener filter + EEMD</a:t>
                      </a:r>
                      <a:endParaRPr kumimoji="0" lang="en-US" altLang="en-US" sz="1100" b="0" i="0" u="none" strike="noStrike" cap="none" normalizeH="0" baseline="0">
                        <a:ln>
                          <a:noFill/>
                        </a:ln>
                        <a:solidFill>
                          <a:schemeClr val="tx1"/>
                        </a:solidFill>
                        <a:effectLst/>
                        <a:latin typeface="Calibri" panose="020F0502020204030204" pitchFamily="34" charset="0"/>
                        <a:cs typeface="Calibri" panose="020F0502020204030204" pitchFamily="34" charset="0"/>
                      </a:endParaRPr>
                    </a:p>
                  </a:txBody>
                  <a:tcPr marL="0" marR="0" marT="0" marB="0" horzOverflow="overflow"/>
                </a:tc>
                <a:tc>
                  <a:txBody>
                    <a:bodyPr/>
                    <a:lstStyle>
                      <a:lvl1pPr marL="66675">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66675" marR="0" lvl="0" indent="0" algn="l" defTabSz="914400" rtl="0" eaLnBrk="1" fontAlgn="base" latinLnBrk="0" hangingPunct="1">
                        <a:lnSpc>
                          <a:spcPts val="1288"/>
                        </a:lnSpc>
                        <a:spcBef>
                          <a:spcPct val="0"/>
                        </a:spcBef>
                        <a:spcAft>
                          <a:spcPct val="0"/>
                        </a:spcAft>
                        <a:buClrTx/>
                        <a:buSzTx/>
                        <a:buFontTx/>
                        <a:buNone/>
                        <a:tabLst/>
                      </a:pPr>
                      <a:r>
                        <a:rPr kumimoji="0" lang="en-US" altLang="en-US" sz="1100" b="0" u="none" strike="noStrike" cap="none" normalizeH="0" baseline="0">
                          <a:ln>
                            <a:noFill/>
                          </a:ln>
                          <a:solidFill>
                            <a:schemeClr val="tx1"/>
                          </a:solidFill>
                          <a:effectLst/>
                        </a:rPr>
                        <a:t>White Gaussian</a:t>
                      </a:r>
                      <a:endParaRPr kumimoji="0" lang="en-US" altLang="en-US" sz="1100" b="0" i="0" u="none" strike="noStrike" cap="none" normalizeH="0" baseline="0">
                        <a:ln>
                          <a:noFill/>
                        </a:ln>
                        <a:solidFill>
                          <a:schemeClr val="tx1"/>
                        </a:solidFill>
                        <a:effectLst/>
                        <a:latin typeface="Calibri" panose="020F0502020204030204" pitchFamily="34" charset="0"/>
                        <a:cs typeface="Calibri" panose="020F0502020204030204" pitchFamily="34" charset="0"/>
                      </a:endParaRPr>
                    </a:p>
                  </a:txBody>
                  <a:tcPr marL="0" marR="0" marT="0" marB="0" horzOverflow="overflow"/>
                </a:tc>
                <a:tc>
                  <a:txBody>
                    <a:bodyPr/>
                    <a:lstStyle>
                      <a:lvl1pPr marL="68263">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68263" marR="0" lvl="0" indent="0" algn="l" defTabSz="914400" rtl="0" eaLnBrk="1" fontAlgn="base" latinLnBrk="0" hangingPunct="1">
                        <a:lnSpc>
                          <a:spcPts val="1288"/>
                        </a:lnSpc>
                        <a:spcBef>
                          <a:spcPct val="0"/>
                        </a:spcBef>
                        <a:spcAft>
                          <a:spcPct val="0"/>
                        </a:spcAft>
                        <a:buClrTx/>
                        <a:buSzTx/>
                        <a:buFontTx/>
                        <a:buNone/>
                        <a:tabLst/>
                      </a:pPr>
                      <a:r>
                        <a:rPr kumimoji="0" lang="en-US" altLang="en-US" sz="1100" b="0" u="none" strike="noStrike" cap="none" normalizeH="0" baseline="0">
                          <a:ln>
                            <a:noFill/>
                          </a:ln>
                          <a:solidFill>
                            <a:schemeClr val="tx1"/>
                          </a:solidFill>
                          <a:effectLst/>
                        </a:rPr>
                        <a:t>Good SNR</a:t>
                      </a:r>
                    </a:p>
                    <a:p>
                      <a:pPr marL="68263" marR="0" lvl="0" indent="0" algn="l" defTabSz="914400" rtl="0" eaLnBrk="1" fontAlgn="base" latinLnBrk="0" hangingPunct="1">
                        <a:lnSpc>
                          <a:spcPct val="100000"/>
                        </a:lnSpc>
                        <a:spcBef>
                          <a:spcPts val="25"/>
                        </a:spcBef>
                        <a:spcAft>
                          <a:spcPct val="0"/>
                        </a:spcAft>
                        <a:buClrTx/>
                        <a:buSzTx/>
                        <a:buFontTx/>
                        <a:buNone/>
                        <a:tabLst/>
                      </a:pPr>
                      <a:r>
                        <a:rPr kumimoji="0" lang="en-US" altLang="en-US" sz="1100" b="0" u="none" strike="noStrike" cap="none" normalizeH="0" baseline="0">
                          <a:ln>
                            <a:noFill/>
                          </a:ln>
                          <a:solidFill>
                            <a:schemeClr val="tx1"/>
                          </a:solidFill>
                          <a:effectLst/>
                        </a:rPr>
                        <a:t>improvement</a:t>
                      </a:r>
                      <a:endParaRPr kumimoji="0" lang="en-US" altLang="en-US" sz="1100" b="0" i="0" u="none" strike="noStrike" cap="none" normalizeH="0" baseline="0">
                        <a:ln>
                          <a:noFill/>
                        </a:ln>
                        <a:solidFill>
                          <a:schemeClr val="tx1"/>
                        </a:solidFill>
                        <a:effectLst/>
                        <a:latin typeface="Calibri" panose="020F0502020204030204" pitchFamily="34" charset="0"/>
                        <a:cs typeface="Calibri" panose="020F0502020204030204" pitchFamily="34" charset="0"/>
                      </a:endParaRPr>
                    </a:p>
                  </a:txBody>
                  <a:tcPr marL="0" marR="0" marT="0" marB="0" horzOverflow="overflow"/>
                </a:tc>
                <a:tc>
                  <a:txBody>
                    <a:bodyPr/>
                    <a:lstStyle>
                      <a:lvl1pPr marL="66675">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66675" marR="0" lvl="0" indent="0" algn="l" defTabSz="914400" rtl="0" eaLnBrk="1" fontAlgn="base" latinLnBrk="0" hangingPunct="1">
                        <a:lnSpc>
                          <a:spcPts val="1288"/>
                        </a:lnSpc>
                        <a:spcBef>
                          <a:spcPct val="0"/>
                        </a:spcBef>
                        <a:spcAft>
                          <a:spcPct val="0"/>
                        </a:spcAft>
                        <a:buClrTx/>
                        <a:buSzTx/>
                        <a:buFontTx/>
                        <a:buNone/>
                        <a:tabLst/>
                      </a:pPr>
                      <a:r>
                        <a:rPr kumimoji="0" lang="en-US" altLang="en-US" sz="1100" b="0" u="none" strike="noStrike" cap="none" normalizeH="0" baseline="0">
                          <a:ln>
                            <a:noFill/>
                          </a:ln>
                          <a:solidFill>
                            <a:schemeClr val="tx1"/>
                          </a:solidFill>
                          <a:effectLst/>
                        </a:rPr>
                        <a:t>High</a:t>
                      </a:r>
                    </a:p>
                    <a:p>
                      <a:pPr marL="66675" marR="0" lvl="0" indent="0" algn="l" defTabSz="914400" rtl="0" eaLnBrk="1" fontAlgn="base" latinLnBrk="0" hangingPunct="1">
                        <a:lnSpc>
                          <a:spcPct val="102000"/>
                        </a:lnSpc>
                        <a:spcBef>
                          <a:spcPct val="0"/>
                        </a:spcBef>
                        <a:spcAft>
                          <a:spcPct val="0"/>
                        </a:spcAft>
                        <a:buClrTx/>
                        <a:buSzTx/>
                        <a:buFontTx/>
                        <a:buNone/>
                        <a:tabLst/>
                      </a:pPr>
                      <a:r>
                        <a:rPr kumimoji="0" lang="en-US" altLang="en-US" sz="1100" b="0" u="none" strike="noStrike" cap="none" normalizeH="0" baseline="0">
                          <a:ln>
                            <a:noFill/>
                          </a:ln>
                          <a:solidFill>
                            <a:schemeClr val="tx1"/>
                          </a:solidFill>
                          <a:effectLst/>
                        </a:rPr>
                        <a:t>computational cost, not real- time</a:t>
                      </a:r>
                      <a:endParaRPr kumimoji="0" lang="en-US" altLang="en-US" sz="1100" b="0" i="0" u="none" strike="noStrike" cap="none" normalizeH="0" baseline="0">
                        <a:ln>
                          <a:noFill/>
                        </a:ln>
                        <a:solidFill>
                          <a:schemeClr val="tx1"/>
                        </a:solidFill>
                        <a:effectLst/>
                        <a:latin typeface="Calibri" panose="020F0502020204030204" pitchFamily="34" charset="0"/>
                        <a:cs typeface="Calibri" panose="020F0502020204030204" pitchFamily="34" charset="0"/>
                      </a:endParaRPr>
                    </a:p>
                  </a:txBody>
                  <a:tcPr marL="0" marR="0" marT="0" marB="0" horzOverflow="overflow"/>
                </a:tc>
                <a:extLst>
                  <a:ext uri="{0D108BD9-81ED-4DB2-BD59-A6C34878D82A}">
                    <a16:rowId xmlns:a16="http://schemas.microsoft.com/office/drawing/2014/main" val="705707497"/>
                  </a:ext>
                </a:extLst>
              </a:tr>
              <a:tr h="688975">
                <a:tc>
                  <a:txBody>
                    <a:bodyPr/>
                    <a:lstStyle>
                      <a:lvl1pPr marL="66675">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66675" marR="0" lvl="0" indent="0" algn="l" defTabSz="914400" rtl="0" eaLnBrk="1" fontAlgn="base" latinLnBrk="0" hangingPunct="1">
                        <a:lnSpc>
                          <a:spcPts val="1288"/>
                        </a:lnSpc>
                        <a:spcBef>
                          <a:spcPct val="0"/>
                        </a:spcBef>
                        <a:spcAft>
                          <a:spcPct val="0"/>
                        </a:spcAft>
                        <a:buClrTx/>
                        <a:buSzTx/>
                        <a:buFontTx/>
                        <a:buNone/>
                        <a:tabLst/>
                      </a:pPr>
                      <a:r>
                        <a:rPr kumimoji="0" lang="en-US" altLang="en-US" sz="1100" b="0" u="none" strike="noStrike" cap="none" normalizeH="0" baseline="0">
                          <a:ln>
                            <a:noFill/>
                          </a:ln>
                          <a:solidFill>
                            <a:schemeClr val="tx1"/>
                          </a:solidFill>
                          <a:effectLst/>
                        </a:rPr>
                        <a:t>Sayadi &amp;</a:t>
                      </a:r>
                    </a:p>
                    <a:p>
                      <a:pPr marL="66675" marR="0" lvl="0" indent="0" algn="l" defTabSz="914400" rtl="0" eaLnBrk="1" fontAlgn="base" latinLnBrk="0" hangingPunct="1">
                        <a:lnSpc>
                          <a:spcPct val="102000"/>
                        </a:lnSpc>
                        <a:spcBef>
                          <a:spcPct val="0"/>
                        </a:spcBef>
                        <a:spcAft>
                          <a:spcPct val="0"/>
                        </a:spcAft>
                        <a:buClrTx/>
                        <a:buSzTx/>
                        <a:buFontTx/>
                        <a:buNone/>
                        <a:tabLst/>
                      </a:pPr>
                      <a:r>
                        <a:rPr kumimoji="0" lang="en-US" altLang="en-US" sz="1100" b="0" u="none" strike="noStrike" cap="none" normalizeH="0" baseline="0">
                          <a:ln>
                            <a:noFill/>
                          </a:ln>
                          <a:solidFill>
                            <a:schemeClr val="tx1"/>
                          </a:solidFill>
                          <a:effectLst/>
                        </a:rPr>
                        <a:t>Shamsollahi (2008)</a:t>
                      </a:r>
                      <a:endParaRPr kumimoji="0" lang="en-US" altLang="en-US" sz="1100" b="0" i="0" u="none" strike="noStrike" cap="none" normalizeH="0" baseline="0">
                        <a:ln>
                          <a:noFill/>
                        </a:ln>
                        <a:solidFill>
                          <a:schemeClr val="tx1"/>
                        </a:solidFill>
                        <a:effectLst/>
                        <a:latin typeface="Calibri" panose="020F0502020204030204" pitchFamily="34" charset="0"/>
                        <a:cs typeface="Calibri" panose="020F0502020204030204" pitchFamily="34" charset="0"/>
                      </a:endParaRPr>
                    </a:p>
                  </a:txBody>
                  <a:tcPr marL="0" marR="0" marT="0" marB="0" horzOverflow="overflow"/>
                </a:tc>
                <a:tc>
                  <a:txBody>
                    <a:bodyPr/>
                    <a:lstStyle>
                      <a:lvl1pPr marL="68263">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68263" marR="0" lvl="0" indent="0" algn="l" defTabSz="914400" rtl="0" eaLnBrk="1" fontAlgn="base" latinLnBrk="0" hangingPunct="1">
                        <a:lnSpc>
                          <a:spcPts val="1288"/>
                        </a:lnSpc>
                        <a:spcBef>
                          <a:spcPct val="0"/>
                        </a:spcBef>
                        <a:spcAft>
                          <a:spcPct val="0"/>
                        </a:spcAft>
                        <a:buClrTx/>
                        <a:buSzTx/>
                        <a:buFontTx/>
                        <a:buNone/>
                        <a:tabLst/>
                      </a:pPr>
                      <a:r>
                        <a:rPr kumimoji="0" lang="en-US" altLang="en-US" sz="1100" b="0" u="none" strike="noStrike" cap="none" normalizeH="0" baseline="0">
                          <a:ln>
                            <a:noFill/>
                          </a:ln>
                          <a:solidFill>
                            <a:schemeClr val="tx1"/>
                          </a:solidFill>
                          <a:effectLst/>
                        </a:rPr>
                        <a:t>Modified Extended</a:t>
                      </a:r>
                    </a:p>
                    <a:p>
                      <a:pPr marL="68263" marR="0" lvl="0" indent="0" algn="l" defTabSz="914400" rtl="0" eaLnBrk="1" fontAlgn="base" latinLnBrk="0" hangingPunct="1">
                        <a:lnSpc>
                          <a:spcPct val="100000"/>
                        </a:lnSpc>
                        <a:spcBef>
                          <a:spcPts val="25"/>
                        </a:spcBef>
                        <a:spcAft>
                          <a:spcPct val="0"/>
                        </a:spcAft>
                        <a:buClrTx/>
                        <a:buSzTx/>
                        <a:buFontTx/>
                        <a:buNone/>
                        <a:tabLst/>
                      </a:pPr>
                      <a:r>
                        <a:rPr kumimoji="0" lang="en-US" altLang="en-US" sz="1100" b="0" u="none" strike="noStrike" cap="none" normalizeH="0" baseline="0">
                          <a:ln>
                            <a:noFill/>
                          </a:ln>
                          <a:solidFill>
                            <a:schemeClr val="tx1"/>
                          </a:solidFill>
                          <a:effectLst/>
                        </a:rPr>
                        <a:t>Kalman Filter</a:t>
                      </a:r>
                      <a:endParaRPr kumimoji="0" lang="en-US" altLang="en-US" sz="1100" b="0" i="0" u="none" strike="noStrike" cap="none" normalizeH="0" baseline="0">
                        <a:ln>
                          <a:noFill/>
                        </a:ln>
                        <a:solidFill>
                          <a:schemeClr val="tx1"/>
                        </a:solidFill>
                        <a:effectLst/>
                        <a:latin typeface="Calibri" panose="020F0502020204030204" pitchFamily="34" charset="0"/>
                        <a:cs typeface="Calibri" panose="020F0502020204030204" pitchFamily="34" charset="0"/>
                      </a:endParaRPr>
                    </a:p>
                  </a:txBody>
                  <a:tcPr marL="0" marR="0" marT="0" marB="0" horzOverflow="overflow"/>
                </a:tc>
                <a:tc>
                  <a:txBody>
                    <a:bodyPr/>
                    <a:lstStyle>
                      <a:lvl1pPr marL="66675">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66675" marR="0" lvl="0" indent="0" algn="l" defTabSz="914400" rtl="0" eaLnBrk="1" fontAlgn="base" latinLnBrk="0" hangingPunct="1">
                        <a:lnSpc>
                          <a:spcPts val="1288"/>
                        </a:lnSpc>
                        <a:spcBef>
                          <a:spcPct val="0"/>
                        </a:spcBef>
                        <a:spcAft>
                          <a:spcPct val="0"/>
                        </a:spcAft>
                        <a:buClrTx/>
                        <a:buSzTx/>
                        <a:buFontTx/>
                        <a:buNone/>
                        <a:tabLst/>
                      </a:pPr>
                      <a:r>
                        <a:rPr kumimoji="0" lang="en-US" altLang="en-US" sz="1100" b="0" u="none" strike="noStrike" cap="none" normalizeH="0" baseline="0" dirty="0">
                          <a:ln>
                            <a:noFill/>
                          </a:ln>
                          <a:solidFill>
                            <a:schemeClr val="tx1"/>
                          </a:solidFill>
                          <a:effectLst/>
                        </a:rPr>
                        <a:t>General ECG noise</a:t>
                      </a:r>
                      <a:endParaRPr kumimoji="0" lang="en-US" altLang="en-US" sz="1100" b="0" i="0" u="none" strike="noStrike" cap="none" normalizeH="0" baseline="0" dirty="0">
                        <a:ln>
                          <a:noFill/>
                        </a:ln>
                        <a:solidFill>
                          <a:schemeClr val="tx1"/>
                        </a:solidFill>
                        <a:effectLst/>
                        <a:latin typeface="Calibri" panose="020F0502020204030204" pitchFamily="34" charset="0"/>
                        <a:cs typeface="Calibri" panose="020F0502020204030204" pitchFamily="34" charset="0"/>
                      </a:endParaRPr>
                    </a:p>
                  </a:txBody>
                  <a:tcPr marL="0" marR="0" marT="0" marB="0" horzOverflow="overflow"/>
                </a:tc>
                <a:tc>
                  <a:txBody>
                    <a:bodyPr/>
                    <a:lstStyle>
                      <a:lvl1pPr marL="68263">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68263" marR="0" lvl="0" indent="0" algn="l" defTabSz="914400" rtl="0" eaLnBrk="1" fontAlgn="base" latinLnBrk="0" hangingPunct="1">
                        <a:lnSpc>
                          <a:spcPts val="1288"/>
                        </a:lnSpc>
                        <a:spcBef>
                          <a:spcPct val="0"/>
                        </a:spcBef>
                        <a:spcAft>
                          <a:spcPct val="0"/>
                        </a:spcAft>
                        <a:buClrTx/>
                        <a:buSzTx/>
                        <a:buFontTx/>
                        <a:buNone/>
                        <a:tabLst/>
                      </a:pPr>
                      <a:r>
                        <a:rPr kumimoji="0" lang="en-US" altLang="en-US" sz="1100" b="0" u="none" strike="noStrike" cap="none" normalizeH="0" baseline="0">
                          <a:ln>
                            <a:noFill/>
                          </a:ln>
                          <a:solidFill>
                            <a:schemeClr val="tx1"/>
                          </a:solidFill>
                          <a:effectLst/>
                        </a:rPr>
                        <a:t>Good denoising</a:t>
                      </a:r>
                      <a:endParaRPr kumimoji="0" lang="en-US" altLang="en-US" sz="1100" b="0" i="0" u="none" strike="noStrike" cap="none" normalizeH="0" baseline="0">
                        <a:ln>
                          <a:noFill/>
                        </a:ln>
                        <a:solidFill>
                          <a:schemeClr val="tx1"/>
                        </a:solidFill>
                        <a:effectLst/>
                        <a:latin typeface="Calibri" panose="020F0502020204030204" pitchFamily="34" charset="0"/>
                        <a:cs typeface="Calibri" panose="020F0502020204030204" pitchFamily="34" charset="0"/>
                      </a:endParaRPr>
                    </a:p>
                  </a:txBody>
                  <a:tcPr marL="0" marR="0" marT="0" marB="0" horzOverflow="overflow"/>
                </a:tc>
                <a:tc>
                  <a:txBody>
                    <a:bodyPr/>
                    <a:lstStyle>
                      <a:lvl1pPr marL="66675">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66675" marR="0" lvl="0" indent="0" algn="l" defTabSz="914400" rtl="0" eaLnBrk="1" fontAlgn="base" latinLnBrk="0" hangingPunct="1">
                        <a:lnSpc>
                          <a:spcPts val="1288"/>
                        </a:lnSpc>
                        <a:spcBef>
                          <a:spcPct val="0"/>
                        </a:spcBef>
                        <a:spcAft>
                          <a:spcPct val="0"/>
                        </a:spcAft>
                        <a:buClrTx/>
                        <a:buSzTx/>
                        <a:buFontTx/>
                        <a:buNone/>
                        <a:tabLst/>
                      </a:pPr>
                      <a:r>
                        <a:rPr kumimoji="0" lang="en-US" altLang="en-US" sz="1100" b="0" u="none" strike="noStrike" cap="none" normalizeH="0" baseline="0">
                          <a:ln>
                            <a:noFill/>
                          </a:ln>
                          <a:solidFill>
                            <a:schemeClr val="tx1"/>
                          </a:solidFill>
                          <a:effectLst/>
                        </a:rPr>
                        <a:t>High</a:t>
                      </a:r>
                    </a:p>
                    <a:p>
                      <a:pPr marL="66675" marR="0" lvl="0" indent="0" algn="l" defTabSz="914400" rtl="0" eaLnBrk="1" fontAlgn="base" latinLnBrk="0" hangingPunct="1">
                        <a:lnSpc>
                          <a:spcPct val="102000"/>
                        </a:lnSpc>
                        <a:spcBef>
                          <a:spcPct val="0"/>
                        </a:spcBef>
                        <a:spcAft>
                          <a:spcPct val="0"/>
                        </a:spcAft>
                        <a:buClrTx/>
                        <a:buSzTx/>
                        <a:buFontTx/>
                        <a:buNone/>
                        <a:tabLst/>
                      </a:pPr>
                      <a:r>
                        <a:rPr kumimoji="0" lang="en-US" altLang="en-US" sz="1100" b="0" u="none" strike="noStrike" cap="none" normalizeH="0" baseline="0">
                          <a:ln>
                            <a:noFill/>
                          </a:ln>
                          <a:solidFill>
                            <a:schemeClr val="tx1"/>
                          </a:solidFill>
                          <a:effectLst/>
                        </a:rPr>
                        <a:t>complexity, slow convergence</a:t>
                      </a:r>
                      <a:endParaRPr kumimoji="0" lang="en-US" altLang="en-US" sz="1100" b="0" i="0" u="none" strike="noStrike" cap="none" normalizeH="0" baseline="0">
                        <a:ln>
                          <a:noFill/>
                        </a:ln>
                        <a:solidFill>
                          <a:schemeClr val="tx1"/>
                        </a:solidFill>
                        <a:effectLst/>
                        <a:latin typeface="Calibri" panose="020F0502020204030204" pitchFamily="34" charset="0"/>
                        <a:cs typeface="Calibri" panose="020F0502020204030204" pitchFamily="34" charset="0"/>
                      </a:endParaRPr>
                    </a:p>
                  </a:txBody>
                  <a:tcPr marL="0" marR="0" marT="0" marB="0" horzOverflow="overflow"/>
                </a:tc>
                <a:extLst>
                  <a:ext uri="{0D108BD9-81ED-4DB2-BD59-A6C34878D82A}">
                    <a16:rowId xmlns:a16="http://schemas.microsoft.com/office/drawing/2014/main" val="2620519106"/>
                  </a:ext>
                </a:extLst>
              </a:tr>
              <a:tr h="517525">
                <a:tc>
                  <a:txBody>
                    <a:bodyPr/>
                    <a:lstStyle>
                      <a:lvl1pPr marL="66675">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66675" marR="0" lvl="0" indent="0" algn="l" defTabSz="914400" rtl="0" eaLnBrk="1" fontAlgn="base" latinLnBrk="0" hangingPunct="1">
                        <a:lnSpc>
                          <a:spcPts val="1288"/>
                        </a:lnSpc>
                        <a:spcBef>
                          <a:spcPct val="0"/>
                        </a:spcBef>
                        <a:spcAft>
                          <a:spcPct val="0"/>
                        </a:spcAft>
                        <a:buClrTx/>
                        <a:buSzTx/>
                        <a:buFontTx/>
                        <a:buNone/>
                        <a:tabLst/>
                      </a:pPr>
                      <a:r>
                        <a:rPr kumimoji="0" lang="en-US" altLang="en-US" sz="1100" b="0" u="none" strike="noStrike" cap="none" normalizeH="0" baseline="0">
                          <a:ln>
                            <a:noFill/>
                          </a:ln>
                          <a:solidFill>
                            <a:schemeClr val="tx1"/>
                          </a:solidFill>
                          <a:effectLst/>
                        </a:rPr>
                        <a:t>Elhossini et al.</a:t>
                      </a:r>
                    </a:p>
                    <a:p>
                      <a:pPr marL="66675" marR="0" lvl="0" indent="0" algn="l" defTabSz="914400" rtl="0" eaLnBrk="1" fontAlgn="base" latinLnBrk="0" hangingPunct="1">
                        <a:lnSpc>
                          <a:spcPct val="100000"/>
                        </a:lnSpc>
                        <a:spcBef>
                          <a:spcPts val="25"/>
                        </a:spcBef>
                        <a:spcAft>
                          <a:spcPct val="0"/>
                        </a:spcAft>
                        <a:buClrTx/>
                        <a:buSzTx/>
                        <a:buFontTx/>
                        <a:buNone/>
                        <a:tabLst/>
                      </a:pPr>
                      <a:r>
                        <a:rPr kumimoji="0" lang="en-US" altLang="en-US" sz="1100" b="0" u="none" strike="noStrike" cap="none" normalizeH="0" baseline="0">
                          <a:ln>
                            <a:noFill/>
                          </a:ln>
                          <a:solidFill>
                            <a:schemeClr val="tx1"/>
                          </a:solidFill>
                          <a:effectLst/>
                        </a:rPr>
                        <a:t>(2006)</a:t>
                      </a:r>
                      <a:endParaRPr kumimoji="0" lang="en-US" altLang="en-US" sz="1100" b="0" i="0" u="none" strike="noStrike" cap="none" normalizeH="0" baseline="0">
                        <a:ln>
                          <a:noFill/>
                        </a:ln>
                        <a:solidFill>
                          <a:schemeClr val="tx1"/>
                        </a:solidFill>
                        <a:effectLst/>
                        <a:latin typeface="Calibri" panose="020F0502020204030204" pitchFamily="34" charset="0"/>
                        <a:cs typeface="Calibri" panose="020F0502020204030204" pitchFamily="34" charset="0"/>
                      </a:endParaRPr>
                    </a:p>
                  </a:txBody>
                  <a:tcPr marL="0" marR="0" marT="0" marB="0" horzOverflow="overflow"/>
                </a:tc>
                <a:tc>
                  <a:txBody>
                    <a:bodyPr/>
                    <a:lstStyle>
                      <a:lvl1pPr marL="68263">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68263" marR="0" lvl="0" indent="0" algn="l" defTabSz="914400" rtl="0" eaLnBrk="1" fontAlgn="base" latinLnBrk="0" hangingPunct="1">
                        <a:lnSpc>
                          <a:spcPts val="1288"/>
                        </a:lnSpc>
                        <a:spcBef>
                          <a:spcPct val="0"/>
                        </a:spcBef>
                        <a:spcAft>
                          <a:spcPct val="0"/>
                        </a:spcAft>
                        <a:buClrTx/>
                        <a:buSzTx/>
                        <a:buFontTx/>
                        <a:buNone/>
                        <a:tabLst/>
                      </a:pPr>
                      <a:r>
                        <a:rPr kumimoji="0" lang="en-US" altLang="en-US" sz="1100" b="0" u="none" strike="noStrike" cap="none" normalizeH="0" baseline="0">
                          <a:ln>
                            <a:noFill/>
                          </a:ln>
                          <a:solidFill>
                            <a:schemeClr val="tx1"/>
                          </a:solidFill>
                          <a:effectLst/>
                        </a:rPr>
                        <a:t>LMS on FPGA</a:t>
                      </a:r>
                      <a:endParaRPr kumimoji="0" lang="en-US" altLang="en-US" sz="1100" b="0" i="0" u="none" strike="noStrike" cap="none" normalizeH="0" baseline="0">
                        <a:ln>
                          <a:noFill/>
                        </a:ln>
                        <a:solidFill>
                          <a:schemeClr val="tx1"/>
                        </a:solidFill>
                        <a:effectLst/>
                        <a:latin typeface="Calibri" panose="020F0502020204030204" pitchFamily="34" charset="0"/>
                        <a:cs typeface="Calibri" panose="020F0502020204030204" pitchFamily="34" charset="0"/>
                      </a:endParaRPr>
                    </a:p>
                  </a:txBody>
                  <a:tcPr marL="0" marR="0" marT="0" marB="0" horzOverflow="overflow"/>
                </a:tc>
                <a:tc>
                  <a:txBody>
                    <a:bodyPr/>
                    <a:lstStyle>
                      <a:lvl1pPr marL="66675">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66675" marR="0" lvl="0" indent="0" algn="l" defTabSz="914400" rtl="0" eaLnBrk="1" fontAlgn="base" latinLnBrk="0" hangingPunct="1">
                        <a:lnSpc>
                          <a:spcPts val="1288"/>
                        </a:lnSpc>
                        <a:spcBef>
                          <a:spcPct val="0"/>
                        </a:spcBef>
                        <a:spcAft>
                          <a:spcPct val="0"/>
                        </a:spcAft>
                        <a:buClrTx/>
                        <a:buSzTx/>
                        <a:buFontTx/>
                        <a:buNone/>
                        <a:tabLst/>
                      </a:pPr>
                      <a:r>
                        <a:rPr kumimoji="0" lang="en-US" altLang="en-US" sz="1100" b="0" u="none" strike="noStrike" cap="none" normalizeH="0" baseline="0">
                          <a:ln>
                            <a:noFill/>
                          </a:ln>
                          <a:solidFill>
                            <a:schemeClr val="tx1"/>
                          </a:solidFill>
                          <a:effectLst/>
                        </a:rPr>
                        <a:t>Audio noise</a:t>
                      </a:r>
                      <a:endParaRPr kumimoji="0" lang="en-US" altLang="en-US" sz="1100" b="0" i="0" u="none" strike="noStrike" cap="none" normalizeH="0" baseline="0">
                        <a:ln>
                          <a:noFill/>
                        </a:ln>
                        <a:solidFill>
                          <a:schemeClr val="tx1"/>
                        </a:solidFill>
                        <a:effectLst/>
                        <a:latin typeface="Calibri" panose="020F0502020204030204" pitchFamily="34" charset="0"/>
                        <a:cs typeface="Calibri" panose="020F0502020204030204" pitchFamily="34" charset="0"/>
                      </a:endParaRPr>
                    </a:p>
                  </a:txBody>
                  <a:tcPr marL="0" marR="0" marT="0" marB="0" horzOverflow="overflow"/>
                </a:tc>
                <a:tc>
                  <a:txBody>
                    <a:bodyPr/>
                    <a:lstStyle>
                      <a:lvl1pPr marL="68263">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68263" marR="0" lvl="0" indent="0" algn="l" defTabSz="914400" rtl="0" eaLnBrk="1" fontAlgn="base" latinLnBrk="0" hangingPunct="1">
                        <a:lnSpc>
                          <a:spcPts val="1288"/>
                        </a:lnSpc>
                        <a:spcBef>
                          <a:spcPct val="0"/>
                        </a:spcBef>
                        <a:spcAft>
                          <a:spcPct val="0"/>
                        </a:spcAft>
                        <a:buClrTx/>
                        <a:buSzTx/>
                        <a:buFontTx/>
                        <a:buNone/>
                        <a:tabLst/>
                      </a:pPr>
                      <a:r>
                        <a:rPr kumimoji="0" lang="en-US" altLang="en-US" sz="1100" b="0" u="none" strike="noStrike" cap="none" normalizeH="0" baseline="0">
                          <a:ln>
                            <a:noFill/>
                          </a:ln>
                          <a:solidFill>
                            <a:schemeClr val="tx1"/>
                          </a:solidFill>
                          <a:effectLst/>
                        </a:rPr>
                        <a:t>Fast FPGA</a:t>
                      </a:r>
                    </a:p>
                    <a:p>
                      <a:pPr marL="68263" marR="0" lvl="0" indent="0" algn="l" defTabSz="914400" rtl="0" eaLnBrk="1" fontAlgn="base" latinLnBrk="0" hangingPunct="1">
                        <a:lnSpc>
                          <a:spcPct val="100000"/>
                        </a:lnSpc>
                        <a:spcBef>
                          <a:spcPts val="25"/>
                        </a:spcBef>
                        <a:spcAft>
                          <a:spcPct val="0"/>
                        </a:spcAft>
                        <a:buClrTx/>
                        <a:buSzTx/>
                        <a:buFontTx/>
                        <a:buNone/>
                        <a:tabLst/>
                      </a:pPr>
                      <a:r>
                        <a:rPr kumimoji="0" lang="en-US" altLang="en-US" sz="1100" b="0" u="none" strike="noStrike" cap="none" normalizeH="0" baseline="0">
                          <a:ln>
                            <a:noFill/>
                          </a:ln>
                          <a:solidFill>
                            <a:schemeClr val="tx1"/>
                          </a:solidFill>
                          <a:effectLst/>
                        </a:rPr>
                        <a:t>execution</a:t>
                      </a:r>
                      <a:endParaRPr kumimoji="0" lang="en-US" altLang="en-US" sz="1100" b="0" i="0" u="none" strike="noStrike" cap="none" normalizeH="0" baseline="0">
                        <a:ln>
                          <a:noFill/>
                        </a:ln>
                        <a:solidFill>
                          <a:schemeClr val="tx1"/>
                        </a:solidFill>
                        <a:effectLst/>
                        <a:latin typeface="Calibri" panose="020F0502020204030204" pitchFamily="34" charset="0"/>
                        <a:cs typeface="Calibri" panose="020F0502020204030204" pitchFamily="34" charset="0"/>
                      </a:endParaRPr>
                    </a:p>
                  </a:txBody>
                  <a:tcPr marL="0" marR="0" marT="0" marB="0" horzOverflow="overflow"/>
                </a:tc>
                <a:tc>
                  <a:txBody>
                    <a:bodyPr/>
                    <a:lstStyle>
                      <a:lvl1pPr marL="66675">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66675" marR="0" lvl="0" indent="0" algn="l" defTabSz="914400" rtl="0" eaLnBrk="1" fontAlgn="base" latinLnBrk="0" hangingPunct="1">
                        <a:lnSpc>
                          <a:spcPts val="1288"/>
                        </a:lnSpc>
                        <a:spcBef>
                          <a:spcPct val="0"/>
                        </a:spcBef>
                        <a:spcAft>
                          <a:spcPct val="0"/>
                        </a:spcAft>
                        <a:buClrTx/>
                        <a:buSzTx/>
                        <a:buFontTx/>
                        <a:buNone/>
                        <a:tabLst/>
                      </a:pPr>
                      <a:r>
                        <a:rPr kumimoji="0" lang="en-US" altLang="en-US" sz="1100" b="0" u="none" strike="noStrike" cap="none" normalizeH="0" baseline="0">
                          <a:ln>
                            <a:noFill/>
                          </a:ln>
                          <a:solidFill>
                            <a:schemeClr val="tx1"/>
                          </a:solidFill>
                          <a:effectLst/>
                        </a:rPr>
                        <a:t>Fixed step size,</a:t>
                      </a:r>
                    </a:p>
                    <a:p>
                      <a:pPr marL="66675" marR="0" lvl="0" indent="0" algn="l" defTabSz="914400" rtl="0" eaLnBrk="1" fontAlgn="base" latinLnBrk="0" hangingPunct="1">
                        <a:lnSpc>
                          <a:spcPct val="102000"/>
                        </a:lnSpc>
                        <a:spcBef>
                          <a:spcPct val="0"/>
                        </a:spcBef>
                        <a:spcAft>
                          <a:spcPct val="0"/>
                        </a:spcAft>
                        <a:buClrTx/>
                        <a:buSzTx/>
                        <a:buFontTx/>
                        <a:buNone/>
                        <a:tabLst/>
                      </a:pPr>
                      <a:r>
                        <a:rPr kumimoji="0" lang="en-US" altLang="en-US" sz="1100" b="0" u="none" strike="noStrike" cap="none" normalizeH="0" baseline="0">
                          <a:ln>
                            <a:noFill/>
                          </a:ln>
                          <a:solidFill>
                            <a:schemeClr val="tx1"/>
                          </a:solidFill>
                          <a:effectLst/>
                        </a:rPr>
                        <a:t>poor convergence</a:t>
                      </a:r>
                      <a:endParaRPr kumimoji="0" lang="en-US" altLang="en-US" sz="1100" b="0" i="0" u="none" strike="noStrike" cap="none" normalizeH="0" baseline="0">
                        <a:ln>
                          <a:noFill/>
                        </a:ln>
                        <a:solidFill>
                          <a:schemeClr val="tx1"/>
                        </a:solidFill>
                        <a:effectLst/>
                        <a:latin typeface="Calibri" panose="020F0502020204030204" pitchFamily="34" charset="0"/>
                        <a:cs typeface="Calibri" panose="020F0502020204030204" pitchFamily="34" charset="0"/>
                      </a:endParaRPr>
                    </a:p>
                  </a:txBody>
                  <a:tcPr marL="0" marR="0" marT="0" marB="0" horzOverflow="overflow"/>
                </a:tc>
                <a:extLst>
                  <a:ext uri="{0D108BD9-81ED-4DB2-BD59-A6C34878D82A}">
                    <a16:rowId xmlns:a16="http://schemas.microsoft.com/office/drawing/2014/main" val="2241999302"/>
                  </a:ext>
                </a:extLst>
              </a:tr>
              <a:tr h="347663">
                <a:tc>
                  <a:txBody>
                    <a:bodyPr/>
                    <a:lstStyle>
                      <a:lvl1pPr marL="66675">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66675" marR="0" lvl="0" indent="0" algn="l" defTabSz="914400" rtl="0" eaLnBrk="1" fontAlgn="base" latinLnBrk="0" hangingPunct="1">
                        <a:lnSpc>
                          <a:spcPts val="1288"/>
                        </a:lnSpc>
                        <a:spcBef>
                          <a:spcPct val="0"/>
                        </a:spcBef>
                        <a:spcAft>
                          <a:spcPct val="0"/>
                        </a:spcAft>
                        <a:buClrTx/>
                        <a:buSzTx/>
                        <a:buFontTx/>
                        <a:buNone/>
                        <a:tabLst/>
                      </a:pPr>
                      <a:r>
                        <a:rPr kumimoji="0" lang="en-US" altLang="en-US" sz="1100" b="0" u="none" strike="noStrike" cap="none" normalizeH="0" baseline="0">
                          <a:ln>
                            <a:noFill/>
                          </a:ln>
                          <a:solidFill>
                            <a:schemeClr val="tx1"/>
                          </a:solidFill>
                          <a:effectLst/>
                        </a:rPr>
                        <a:t>Ting et al. (2005)</a:t>
                      </a:r>
                      <a:endParaRPr kumimoji="0" lang="en-US" altLang="en-US" sz="1100" b="0" i="0" u="none" strike="noStrike" cap="none" normalizeH="0" baseline="0">
                        <a:ln>
                          <a:noFill/>
                        </a:ln>
                        <a:solidFill>
                          <a:schemeClr val="tx1"/>
                        </a:solidFill>
                        <a:effectLst/>
                        <a:latin typeface="Calibri" panose="020F0502020204030204" pitchFamily="34" charset="0"/>
                        <a:cs typeface="Calibri" panose="020F0502020204030204" pitchFamily="34" charset="0"/>
                      </a:endParaRPr>
                    </a:p>
                  </a:txBody>
                  <a:tcPr marL="0" marR="0" marT="0" marB="0" horzOverflow="overflow"/>
                </a:tc>
                <a:tc>
                  <a:txBody>
                    <a:bodyPr/>
                    <a:lstStyle>
                      <a:lvl1pPr marL="68263">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68263" marR="0" lvl="0" indent="0" algn="l" defTabSz="914400" rtl="0" eaLnBrk="1" fontAlgn="base" latinLnBrk="0" hangingPunct="1">
                        <a:lnSpc>
                          <a:spcPts val="1338"/>
                        </a:lnSpc>
                        <a:spcBef>
                          <a:spcPct val="0"/>
                        </a:spcBef>
                        <a:spcAft>
                          <a:spcPct val="0"/>
                        </a:spcAft>
                        <a:buClrTx/>
                        <a:buSzTx/>
                        <a:buFontTx/>
                        <a:buNone/>
                        <a:tabLst/>
                      </a:pPr>
                      <a:r>
                        <a:rPr kumimoji="0" lang="en-US" altLang="en-US" sz="1100" b="0" u="none" strike="noStrike" cap="none" normalizeH="0" baseline="0">
                          <a:ln>
                            <a:noFill/>
                          </a:ln>
                          <a:solidFill>
                            <a:schemeClr val="tx1"/>
                          </a:solidFill>
                          <a:effectLst/>
                        </a:rPr>
                        <a:t>Pipelined LMS predictor</a:t>
                      </a:r>
                      <a:endParaRPr kumimoji="0" lang="en-US" altLang="en-US" sz="1100" b="0" i="0" u="none" strike="noStrike" cap="none" normalizeH="0" baseline="0">
                        <a:ln>
                          <a:noFill/>
                        </a:ln>
                        <a:solidFill>
                          <a:schemeClr val="tx1"/>
                        </a:solidFill>
                        <a:effectLst/>
                        <a:latin typeface="Calibri" panose="020F0502020204030204" pitchFamily="34" charset="0"/>
                        <a:cs typeface="Calibri" panose="020F0502020204030204" pitchFamily="34" charset="0"/>
                      </a:endParaRPr>
                    </a:p>
                  </a:txBody>
                  <a:tcPr marL="0" marR="0" marT="0" marB="0" horzOverflow="overflow"/>
                </a:tc>
                <a:tc>
                  <a:txBody>
                    <a:bodyPr/>
                    <a:lstStyle>
                      <a:lvl1pPr marL="66675">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66675" marR="0" lvl="0" indent="0" algn="l" defTabSz="914400" rtl="0" eaLnBrk="1" fontAlgn="base" latinLnBrk="0" hangingPunct="1">
                        <a:lnSpc>
                          <a:spcPts val="1288"/>
                        </a:lnSpc>
                        <a:spcBef>
                          <a:spcPct val="0"/>
                        </a:spcBef>
                        <a:spcAft>
                          <a:spcPct val="0"/>
                        </a:spcAft>
                        <a:buClrTx/>
                        <a:buSzTx/>
                        <a:buFontTx/>
                        <a:buNone/>
                        <a:tabLst/>
                      </a:pPr>
                      <a:r>
                        <a:rPr kumimoji="0" lang="en-US" altLang="en-US" sz="1100" b="0" u="none" strike="noStrike" cap="none" normalizeH="0" baseline="0">
                          <a:ln>
                            <a:noFill/>
                          </a:ln>
                          <a:solidFill>
                            <a:schemeClr val="tx1"/>
                          </a:solidFill>
                          <a:effectLst/>
                        </a:rPr>
                        <a:t>ESM receivers</a:t>
                      </a:r>
                      <a:endParaRPr kumimoji="0" lang="en-US" altLang="en-US" sz="1100" b="0" i="0" u="none" strike="noStrike" cap="none" normalizeH="0" baseline="0">
                        <a:ln>
                          <a:noFill/>
                        </a:ln>
                        <a:solidFill>
                          <a:schemeClr val="tx1"/>
                        </a:solidFill>
                        <a:effectLst/>
                        <a:latin typeface="Calibri" panose="020F0502020204030204" pitchFamily="34" charset="0"/>
                        <a:cs typeface="Calibri" panose="020F0502020204030204" pitchFamily="34" charset="0"/>
                      </a:endParaRPr>
                    </a:p>
                  </a:txBody>
                  <a:tcPr marL="0" marR="0" marT="0" marB="0" horzOverflow="overflow"/>
                </a:tc>
                <a:tc>
                  <a:txBody>
                    <a:bodyPr/>
                    <a:lstStyle>
                      <a:lvl1pPr marL="68263">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68263" marR="0" lvl="0" indent="0" algn="l" defTabSz="914400" rtl="0" eaLnBrk="1" fontAlgn="base" latinLnBrk="0" hangingPunct="1">
                        <a:lnSpc>
                          <a:spcPts val="1338"/>
                        </a:lnSpc>
                        <a:spcBef>
                          <a:spcPct val="0"/>
                        </a:spcBef>
                        <a:spcAft>
                          <a:spcPct val="0"/>
                        </a:spcAft>
                        <a:buClrTx/>
                        <a:buSzTx/>
                        <a:buFontTx/>
                        <a:buNone/>
                        <a:tabLst/>
                      </a:pPr>
                      <a:r>
                        <a:rPr kumimoji="0" lang="en-US" altLang="en-US" sz="1100" b="0" u="none" strike="noStrike" cap="none" normalizeH="0" baseline="0">
                          <a:ln>
                            <a:noFill/>
                          </a:ln>
                          <a:solidFill>
                            <a:schemeClr val="tx1"/>
                          </a:solidFill>
                          <a:effectLst/>
                        </a:rPr>
                        <a:t>High speed pipeline</a:t>
                      </a:r>
                      <a:endParaRPr kumimoji="0" lang="en-US" altLang="en-US" sz="1100" b="0" i="0" u="none" strike="noStrike" cap="none" normalizeH="0" baseline="0">
                        <a:ln>
                          <a:noFill/>
                        </a:ln>
                        <a:solidFill>
                          <a:schemeClr val="tx1"/>
                        </a:solidFill>
                        <a:effectLst/>
                        <a:latin typeface="Calibri" panose="020F0502020204030204" pitchFamily="34" charset="0"/>
                        <a:cs typeface="Calibri" panose="020F0502020204030204" pitchFamily="34" charset="0"/>
                      </a:endParaRPr>
                    </a:p>
                  </a:txBody>
                  <a:tcPr marL="0" marR="0" marT="0" marB="0" horzOverflow="overflow"/>
                </a:tc>
                <a:tc>
                  <a:txBody>
                    <a:bodyPr/>
                    <a:lstStyle>
                      <a:lvl1pPr marL="66675">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66675" marR="0" lvl="0" indent="0" algn="l" defTabSz="914400" rtl="0" eaLnBrk="1" fontAlgn="base" latinLnBrk="0" hangingPunct="1">
                        <a:lnSpc>
                          <a:spcPts val="1338"/>
                        </a:lnSpc>
                        <a:spcBef>
                          <a:spcPct val="0"/>
                        </a:spcBef>
                        <a:spcAft>
                          <a:spcPct val="0"/>
                        </a:spcAft>
                        <a:buClrTx/>
                        <a:buSzTx/>
                        <a:buFontTx/>
                        <a:buNone/>
                        <a:tabLst/>
                      </a:pPr>
                      <a:r>
                        <a:rPr kumimoji="0" lang="en-US" altLang="en-US" sz="1100" b="0" u="none" strike="noStrike" cap="none" normalizeH="0" baseline="0">
                          <a:ln>
                            <a:noFill/>
                          </a:ln>
                          <a:solidFill>
                            <a:schemeClr val="tx1"/>
                          </a:solidFill>
                          <a:effectLst/>
                        </a:rPr>
                        <a:t>No error normalization</a:t>
                      </a:r>
                      <a:endParaRPr kumimoji="0" lang="en-US" altLang="en-US" sz="1100" b="0" i="0" u="none" strike="noStrike" cap="none" normalizeH="0" baseline="0">
                        <a:ln>
                          <a:noFill/>
                        </a:ln>
                        <a:solidFill>
                          <a:schemeClr val="tx1"/>
                        </a:solidFill>
                        <a:effectLst/>
                        <a:latin typeface="Calibri" panose="020F0502020204030204" pitchFamily="34" charset="0"/>
                        <a:cs typeface="Calibri" panose="020F0502020204030204" pitchFamily="34" charset="0"/>
                      </a:endParaRPr>
                    </a:p>
                  </a:txBody>
                  <a:tcPr marL="0" marR="0" marT="0" marB="0" horzOverflow="overflow"/>
                </a:tc>
                <a:extLst>
                  <a:ext uri="{0D108BD9-81ED-4DB2-BD59-A6C34878D82A}">
                    <a16:rowId xmlns:a16="http://schemas.microsoft.com/office/drawing/2014/main" val="1133486618"/>
                  </a:ext>
                </a:extLst>
              </a:tr>
              <a:tr h="515938">
                <a:tc>
                  <a:txBody>
                    <a:bodyPr/>
                    <a:lstStyle>
                      <a:lvl1pPr marL="66675">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66675" marR="0" lvl="0" indent="0" algn="l" defTabSz="914400" rtl="0" eaLnBrk="1" fontAlgn="base" latinLnBrk="0" hangingPunct="1">
                        <a:lnSpc>
                          <a:spcPts val="1288"/>
                        </a:lnSpc>
                        <a:spcBef>
                          <a:spcPct val="0"/>
                        </a:spcBef>
                        <a:spcAft>
                          <a:spcPct val="0"/>
                        </a:spcAft>
                        <a:buClrTx/>
                        <a:buSzTx/>
                        <a:buFontTx/>
                        <a:buNone/>
                        <a:tabLst/>
                      </a:pPr>
                      <a:r>
                        <a:rPr kumimoji="0" lang="en-US" altLang="en-US" sz="1100" b="0" u="none" strike="noStrike" cap="none" normalizeH="0" baseline="0">
                          <a:ln>
                            <a:noFill/>
                          </a:ln>
                          <a:solidFill>
                            <a:schemeClr val="tx1"/>
                          </a:solidFill>
                          <a:effectLst/>
                        </a:rPr>
                        <a:t>Satheeskumaran</a:t>
                      </a:r>
                    </a:p>
                    <a:p>
                      <a:pPr marL="66675" marR="0" lvl="0" indent="0" algn="l" defTabSz="914400" rtl="0" eaLnBrk="1" fontAlgn="base" latinLnBrk="0" hangingPunct="1">
                        <a:lnSpc>
                          <a:spcPct val="101000"/>
                        </a:lnSpc>
                        <a:spcBef>
                          <a:spcPts val="13"/>
                        </a:spcBef>
                        <a:spcAft>
                          <a:spcPct val="0"/>
                        </a:spcAft>
                        <a:buClrTx/>
                        <a:buSzTx/>
                        <a:buFontTx/>
                        <a:buNone/>
                        <a:tabLst/>
                      </a:pPr>
                      <a:r>
                        <a:rPr kumimoji="0" lang="en-US" altLang="en-US" sz="1100" b="0" u="none" strike="noStrike" cap="none" normalizeH="0" baseline="0">
                          <a:ln>
                            <a:noFill/>
                          </a:ln>
                          <a:solidFill>
                            <a:schemeClr val="tx1"/>
                          </a:solidFill>
                          <a:effectLst/>
                        </a:rPr>
                        <a:t>&amp; Sabrigiriraj (2016)</a:t>
                      </a:r>
                      <a:endParaRPr kumimoji="0" lang="en-US" altLang="en-US" sz="1100" b="0" i="0" u="none" strike="noStrike" cap="none" normalizeH="0" baseline="0">
                        <a:ln>
                          <a:noFill/>
                        </a:ln>
                        <a:solidFill>
                          <a:schemeClr val="tx1"/>
                        </a:solidFill>
                        <a:effectLst/>
                        <a:latin typeface="Calibri" panose="020F0502020204030204" pitchFamily="34" charset="0"/>
                        <a:cs typeface="Calibri" panose="020F0502020204030204" pitchFamily="34" charset="0"/>
                      </a:endParaRPr>
                    </a:p>
                  </a:txBody>
                  <a:tcPr marL="0" marR="0" marT="0" marB="0" horzOverflow="overflow"/>
                </a:tc>
                <a:tc>
                  <a:txBody>
                    <a:bodyPr/>
                    <a:lstStyle>
                      <a:lvl1pPr marL="68263">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68263" marR="0" lvl="0" indent="0" algn="l" defTabSz="914400" rtl="0" eaLnBrk="1" fontAlgn="base" latinLnBrk="0" hangingPunct="1">
                        <a:lnSpc>
                          <a:spcPts val="1288"/>
                        </a:lnSpc>
                        <a:spcBef>
                          <a:spcPct val="0"/>
                        </a:spcBef>
                        <a:spcAft>
                          <a:spcPct val="0"/>
                        </a:spcAft>
                        <a:buClrTx/>
                        <a:buSzTx/>
                        <a:buFontTx/>
                        <a:buNone/>
                        <a:tabLst/>
                      </a:pPr>
                      <a:r>
                        <a:rPr kumimoji="0" lang="en-US" altLang="en-US" sz="1100" b="0" u="none" strike="noStrike" cap="none" normalizeH="0" baseline="0">
                          <a:ln>
                            <a:noFill/>
                          </a:ln>
                          <a:solidFill>
                            <a:schemeClr val="tx1"/>
                          </a:solidFill>
                          <a:effectLst/>
                        </a:rPr>
                        <a:t>New LMS + DWT R-</a:t>
                      </a:r>
                    </a:p>
                    <a:p>
                      <a:pPr marL="68263" marR="0" lvl="0" indent="0" algn="l" defTabSz="914400" rtl="0" eaLnBrk="1" fontAlgn="base" latinLnBrk="0" hangingPunct="1">
                        <a:lnSpc>
                          <a:spcPct val="100000"/>
                        </a:lnSpc>
                        <a:spcBef>
                          <a:spcPts val="25"/>
                        </a:spcBef>
                        <a:spcAft>
                          <a:spcPct val="0"/>
                        </a:spcAft>
                        <a:buClrTx/>
                        <a:buSzTx/>
                        <a:buFontTx/>
                        <a:buNone/>
                        <a:tabLst/>
                      </a:pPr>
                      <a:r>
                        <a:rPr kumimoji="0" lang="en-US" altLang="en-US" sz="1100" b="0" u="none" strike="noStrike" cap="none" normalizeH="0" baseline="0">
                          <a:ln>
                            <a:noFill/>
                          </a:ln>
                          <a:solidFill>
                            <a:schemeClr val="tx1"/>
                          </a:solidFill>
                          <a:effectLst/>
                        </a:rPr>
                        <a:t>peak</a:t>
                      </a:r>
                      <a:endParaRPr kumimoji="0" lang="en-US" altLang="en-US" sz="1100" b="0" i="0" u="none" strike="noStrike" cap="none" normalizeH="0" baseline="0">
                        <a:ln>
                          <a:noFill/>
                        </a:ln>
                        <a:solidFill>
                          <a:schemeClr val="tx1"/>
                        </a:solidFill>
                        <a:effectLst/>
                        <a:latin typeface="Calibri" panose="020F0502020204030204" pitchFamily="34" charset="0"/>
                        <a:cs typeface="Calibri" panose="020F0502020204030204" pitchFamily="34" charset="0"/>
                      </a:endParaRPr>
                    </a:p>
                  </a:txBody>
                  <a:tcPr marL="0" marR="0" marT="0" marB="0" horzOverflow="overflow"/>
                </a:tc>
                <a:tc>
                  <a:txBody>
                    <a:bodyPr/>
                    <a:lstStyle>
                      <a:lvl1pPr marL="66675">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66675" marR="0" lvl="0" indent="0" algn="l" defTabSz="914400" rtl="0" eaLnBrk="1" fontAlgn="base" latinLnBrk="0" hangingPunct="1">
                        <a:lnSpc>
                          <a:spcPts val="1288"/>
                        </a:lnSpc>
                        <a:spcBef>
                          <a:spcPct val="0"/>
                        </a:spcBef>
                        <a:spcAft>
                          <a:spcPct val="0"/>
                        </a:spcAft>
                        <a:buClrTx/>
                        <a:buSzTx/>
                        <a:buFontTx/>
                        <a:buNone/>
                        <a:tabLst/>
                      </a:pPr>
                      <a:r>
                        <a:rPr kumimoji="0" lang="en-US" altLang="en-US" sz="1100" b="0" u="none" strike="noStrike" cap="none" normalizeH="0" baseline="0">
                          <a:ln>
                            <a:noFill/>
                          </a:ln>
                          <a:solidFill>
                            <a:schemeClr val="tx1"/>
                          </a:solidFill>
                          <a:effectLst/>
                        </a:rPr>
                        <a:t>ECG biotelemetry</a:t>
                      </a:r>
                      <a:endParaRPr kumimoji="0" lang="en-US" altLang="en-US" sz="1100" b="0" i="0" u="none" strike="noStrike" cap="none" normalizeH="0" baseline="0">
                        <a:ln>
                          <a:noFill/>
                        </a:ln>
                        <a:solidFill>
                          <a:schemeClr val="tx1"/>
                        </a:solidFill>
                        <a:effectLst/>
                        <a:latin typeface="Calibri" panose="020F0502020204030204" pitchFamily="34" charset="0"/>
                        <a:cs typeface="Calibri" panose="020F0502020204030204" pitchFamily="34" charset="0"/>
                      </a:endParaRPr>
                    </a:p>
                  </a:txBody>
                  <a:tcPr marL="0" marR="0" marT="0" marB="0" horzOverflow="overflow"/>
                </a:tc>
                <a:tc>
                  <a:txBody>
                    <a:bodyPr/>
                    <a:lstStyle>
                      <a:lvl1pPr marL="68263">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68263" marR="0" lvl="0" indent="0" algn="l" defTabSz="914400" rtl="0" eaLnBrk="1" fontAlgn="base" latinLnBrk="0" hangingPunct="1">
                        <a:lnSpc>
                          <a:spcPts val="1288"/>
                        </a:lnSpc>
                        <a:spcBef>
                          <a:spcPct val="0"/>
                        </a:spcBef>
                        <a:spcAft>
                          <a:spcPct val="0"/>
                        </a:spcAft>
                        <a:buClrTx/>
                        <a:buSzTx/>
                        <a:buFontTx/>
                        <a:buNone/>
                        <a:tabLst/>
                      </a:pPr>
                      <a:r>
                        <a:rPr kumimoji="0" lang="en-US" altLang="en-US" sz="1100" b="0" u="none" strike="noStrike" cap="none" normalizeH="0" baseline="0">
                          <a:ln>
                            <a:noFill/>
                          </a:ln>
                          <a:solidFill>
                            <a:schemeClr val="tx1"/>
                          </a:solidFill>
                          <a:effectLst/>
                        </a:rPr>
                        <a:t>Low power</a:t>
                      </a:r>
                      <a:endParaRPr kumimoji="0" lang="en-US" altLang="en-US" sz="1100" b="0" i="0" u="none" strike="noStrike" cap="none" normalizeH="0" baseline="0">
                        <a:ln>
                          <a:noFill/>
                        </a:ln>
                        <a:solidFill>
                          <a:schemeClr val="tx1"/>
                        </a:solidFill>
                        <a:effectLst/>
                        <a:latin typeface="Calibri" panose="020F0502020204030204" pitchFamily="34" charset="0"/>
                        <a:cs typeface="Calibri" panose="020F0502020204030204" pitchFamily="34" charset="0"/>
                      </a:endParaRPr>
                    </a:p>
                  </a:txBody>
                  <a:tcPr marL="0" marR="0" marT="0" marB="0" horzOverflow="overflow"/>
                </a:tc>
                <a:tc>
                  <a:txBody>
                    <a:bodyPr/>
                    <a:lstStyle>
                      <a:lvl1pPr marL="66675">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66675" marR="0" lvl="0" indent="0" algn="l" defTabSz="914400" rtl="0" eaLnBrk="1" fontAlgn="base" latinLnBrk="0" hangingPunct="1">
                        <a:lnSpc>
                          <a:spcPts val="1288"/>
                        </a:lnSpc>
                        <a:spcBef>
                          <a:spcPct val="0"/>
                        </a:spcBef>
                        <a:spcAft>
                          <a:spcPct val="0"/>
                        </a:spcAft>
                        <a:buClrTx/>
                        <a:buSzTx/>
                        <a:buFontTx/>
                        <a:buNone/>
                        <a:tabLst/>
                      </a:pPr>
                      <a:r>
                        <a:rPr kumimoji="0" lang="en-US" altLang="en-US" sz="1100" b="0" u="none" strike="noStrike" cap="none" normalizeH="0" baseline="0">
                          <a:ln>
                            <a:noFill/>
                          </a:ln>
                          <a:solidFill>
                            <a:schemeClr val="tx1"/>
                          </a:solidFill>
                          <a:effectLst/>
                        </a:rPr>
                        <a:t>No pipelining,</a:t>
                      </a:r>
                    </a:p>
                    <a:p>
                      <a:pPr marL="66675" marR="0" lvl="0" indent="0" algn="l" defTabSz="914400" rtl="0" eaLnBrk="1" fontAlgn="base" latinLnBrk="0" hangingPunct="1">
                        <a:lnSpc>
                          <a:spcPct val="100000"/>
                        </a:lnSpc>
                        <a:spcBef>
                          <a:spcPts val="25"/>
                        </a:spcBef>
                        <a:spcAft>
                          <a:spcPct val="0"/>
                        </a:spcAft>
                        <a:buClrTx/>
                        <a:buSzTx/>
                        <a:buFontTx/>
                        <a:buNone/>
                        <a:tabLst/>
                      </a:pPr>
                      <a:r>
                        <a:rPr kumimoji="0" lang="en-US" altLang="en-US" sz="1100" b="0" u="none" strike="noStrike" cap="none" normalizeH="0" baseline="0">
                          <a:ln>
                            <a:noFill/>
                          </a:ln>
                          <a:solidFill>
                            <a:schemeClr val="tx1"/>
                          </a:solidFill>
                          <a:effectLst/>
                        </a:rPr>
                        <a:t>slow feedback</a:t>
                      </a:r>
                      <a:endParaRPr kumimoji="0" lang="en-US" altLang="en-US" sz="1100" b="0" i="0" u="none" strike="noStrike" cap="none" normalizeH="0" baseline="0">
                        <a:ln>
                          <a:noFill/>
                        </a:ln>
                        <a:solidFill>
                          <a:schemeClr val="tx1"/>
                        </a:solidFill>
                        <a:effectLst/>
                        <a:latin typeface="Calibri" panose="020F0502020204030204" pitchFamily="34" charset="0"/>
                        <a:cs typeface="Calibri" panose="020F0502020204030204" pitchFamily="34" charset="0"/>
                      </a:endParaRPr>
                    </a:p>
                  </a:txBody>
                  <a:tcPr marL="0" marR="0" marT="0" marB="0" horzOverflow="overflow"/>
                </a:tc>
                <a:extLst>
                  <a:ext uri="{0D108BD9-81ED-4DB2-BD59-A6C34878D82A}">
                    <a16:rowId xmlns:a16="http://schemas.microsoft.com/office/drawing/2014/main" val="2491825202"/>
                  </a:ext>
                </a:extLst>
              </a:tr>
              <a:tr h="347663">
                <a:tc>
                  <a:txBody>
                    <a:bodyPr/>
                    <a:lstStyle>
                      <a:lvl1pPr marL="66675">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66675" marR="0" lvl="0" indent="0" algn="l" defTabSz="914400" rtl="0" eaLnBrk="1" fontAlgn="base" latinLnBrk="0" hangingPunct="1">
                        <a:lnSpc>
                          <a:spcPts val="1288"/>
                        </a:lnSpc>
                        <a:spcBef>
                          <a:spcPct val="0"/>
                        </a:spcBef>
                        <a:spcAft>
                          <a:spcPct val="0"/>
                        </a:spcAft>
                        <a:buClrTx/>
                        <a:buSzTx/>
                        <a:buFontTx/>
                        <a:buNone/>
                        <a:tabLst/>
                      </a:pPr>
                      <a:r>
                        <a:rPr kumimoji="0" lang="en-US" altLang="en-US" sz="1100" b="0" u="none" strike="noStrike" cap="none" normalizeH="0" baseline="0">
                          <a:ln>
                            <a:noFill/>
                          </a:ln>
                          <a:solidFill>
                            <a:schemeClr val="tx1"/>
                          </a:solidFill>
                          <a:effectLst/>
                        </a:rPr>
                        <a:t>Mullins &amp;</a:t>
                      </a:r>
                    </a:p>
                    <a:p>
                      <a:pPr marL="66675" marR="0" lvl="0" indent="0" algn="l" defTabSz="914400" rtl="0" eaLnBrk="1" fontAlgn="base" latinLnBrk="0" hangingPunct="1">
                        <a:lnSpc>
                          <a:spcPct val="100000"/>
                        </a:lnSpc>
                        <a:spcBef>
                          <a:spcPts val="25"/>
                        </a:spcBef>
                        <a:spcAft>
                          <a:spcPct val="0"/>
                        </a:spcAft>
                        <a:buClrTx/>
                        <a:buSzTx/>
                        <a:buFontTx/>
                        <a:buNone/>
                        <a:tabLst/>
                      </a:pPr>
                      <a:r>
                        <a:rPr kumimoji="0" lang="en-US" altLang="en-US" sz="1100" b="0" u="none" strike="noStrike" cap="none" normalizeH="0" baseline="0">
                          <a:ln>
                            <a:noFill/>
                          </a:ln>
                          <a:solidFill>
                            <a:schemeClr val="tx1"/>
                          </a:solidFill>
                          <a:effectLst/>
                        </a:rPr>
                        <a:t>Heneghan (2002)</a:t>
                      </a:r>
                      <a:endParaRPr kumimoji="0" lang="en-US" altLang="en-US" sz="1100" b="0" i="0" u="none" strike="noStrike" cap="none" normalizeH="0" baseline="0">
                        <a:ln>
                          <a:noFill/>
                        </a:ln>
                        <a:solidFill>
                          <a:schemeClr val="tx1"/>
                        </a:solidFill>
                        <a:effectLst/>
                        <a:latin typeface="Calibri" panose="020F0502020204030204" pitchFamily="34" charset="0"/>
                        <a:cs typeface="Calibri" panose="020F0502020204030204" pitchFamily="34" charset="0"/>
                      </a:endParaRPr>
                    </a:p>
                  </a:txBody>
                  <a:tcPr marL="0" marR="0" marT="0" marB="0" horzOverflow="overflow"/>
                </a:tc>
                <a:tc>
                  <a:txBody>
                    <a:bodyPr/>
                    <a:lstStyle>
                      <a:lvl1pPr marL="68263">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68263" marR="0" lvl="0" indent="0" algn="l" defTabSz="914400" rtl="0" eaLnBrk="1" fontAlgn="base" latinLnBrk="0" hangingPunct="1">
                        <a:lnSpc>
                          <a:spcPts val="1288"/>
                        </a:lnSpc>
                        <a:spcBef>
                          <a:spcPct val="0"/>
                        </a:spcBef>
                        <a:spcAft>
                          <a:spcPct val="0"/>
                        </a:spcAft>
                        <a:buClrTx/>
                        <a:buSzTx/>
                        <a:buFontTx/>
                        <a:buNone/>
                        <a:tabLst/>
                      </a:pPr>
                      <a:r>
                        <a:rPr kumimoji="0" lang="en-US" altLang="en-US" sz="1100" b="0" u="none" strike="noStrike" cap="none" normalizeH="0" baseline="0">
                          <a:ln>
                            <a:noFill/>
                          </a:ln>
                          <a:solidFill>
                            <a:schemeClr val="tx1"/>
                          </a:solidFill>
                          <a:effectLst/>
                        </a:rPr>
                        <a:t>Delayed LMS FPGA</a:t>
                      </a:r>
                    </a:p>
                    <a:p>
                      <a:pPr marL="68263" marR="0" lvl="0" indent="0" algn="l" defTabSz="914400" rtl="0" eaLnBrk="1" fontAlgn="base" latinLnBrk="0" hangingPunct="1">
                        <a:lnSpc>
                          <a:spcPct val="100000"/>
                        </a:lnSpc>
                        <a:spcBef>
                          <a:spcPts val="25"/>
                        </a:spcBef>
                        <a:spcAft>
                          <a:spcPct val="0"/>
                        </a:spcAft>
                        <a:buClrTx/>
                        <a:buSzTx/>
                        <a:buFontTx/>
                        <a:buNone/>
                        <a:tabLst/>
                      </a:pPr>
                      <a:r>
                        <a:rPr kumimoji="0" lang="en-US" altLang="en-US" sz="1100" b="0" u="none" strike="noStrike" cap="none" normalizeH="0" baseline="0">
                          <a:ln>
                            <a:noFill/>
                          </a:ln>
                          <a:solidFill>
                            <a:schemeClr val="tx1"/>
                          </a:solidFill>
                          <a:effectLst/>
                        </a:rPr>
                        <a:t>architectures</a:t>
                      </a:r>
                      <a:endParaRPr kumimoji="0" lang="en-US" altLang="en-US" sz="1100" b="0" i="0" u="none" strike="noStrike" cap="none" normalizeH="0" baseline="0">
                        <a:ln>
                          <a:noFill/>
                        </a:ln>
                        <a:solidFill>
                          <a:schemeClr val="tx1"/>
                        </a:solidFill>
                        <a:effectLst/>
                        <a:latin typeface="Calibri" panose="020F0502020204030204" pitchFamily="34" charset="0"/>
                        <a:cs typeface="Calibri" panose="020F0502020204030204" pitchFamily="34" charset="0"/>
                      </a:endParaRPr>
                    </a:p>
                  </a:txBody>
                  <a:tcPr marL="0" marR="0" marT="0" marB="0" horzOverflow="overflow"/>
                </a:tc>
                <a:tc>
                  <a:txBody>
                    <a:bodyPr/>
                    <a:lstStyle>
                      <a:lvl1pPr marL="66675">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66675" marR="0" lvl="0" indent="0" algn="l" defTabSz="914400" rtl="0" eaLnBrk="1" fontAlgn="base" latinLnBrk="0" hangingPunct="1">
                        <a:lnSpc>
                          <a:spcPts val="1288"/>
                        </a:lnSpc>
                        <a:spcBef>
                          <a:spcPct val="0"/>
                        </a:spcBef>
                        <a:spcAft>
                          <a:spcPct val="0"/>
                        </a:spcAft>
                        <a:buClrTx/>
                        <a:buSzTx/>
                        <a:buFontTx/>
                        <a:buNone/>
                        <a:tabLst/>
                      </a:pPr>
                      <a:r>
                        <a:rPr kumimoji="0" lang="en-US" altLang="en-US" sz="1100" b="0" u="none" strike="noStrike" cap="none" normalizeH="0" baseline="0">
                          <a:ln>
                            <a:noFill/>
                          </a:ln>
                          <a:solidFill>
                            <a:schemeClr val="tx1"/>
                          </a:solidFill>
                          <a:effectLst/>
                        </a:rPr>
                        <a:t>General signal</a:t>
                      </a:r>
                      <a:endParaRPr kumimoji="0" lang="en-US" altLang="en-US" sz="1100" b="0" i="0" u="none" strike="noStrike" cap="none" normalizeH="0" baseline="0">
                        <a:ln>
                          <a:noFill/>
                        </a:ln>
                        <a:solidFill>
                          <a:schemeClr val="tx1"/>
                        </a:solidFill>
                        <a:effectLst/>
                        <a:latin typeface="Calibri" panose="020F0502020204030204" pitchFamily="34" charset="0"/>
                        <a:cs typeface="Calibri" panose="020F0502020204030204" pitchFamily="34" charset="0"/>
                      </a:endParaRPr>
                    </a:p>
                  </a:txBody>
                  <a:tcPr marL="0" marR="0" marT="0" marB="0" horzOverflow="overflow"/>
                </a:tc>
                <a:tc>
                  <a:txBody>
                    <a:bodyPr/>
                    <a:lstStyle>
                      <a:lvl1pPr marL="68263">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68263" marR="0" lvl="0" indent="0" algn="l" defTabSz="914400" rtl="0" eaLnBrk="1" fontAlgn="base" latinLnBrk="0" hangingPunct="1">
                        <a:lnSpc>
                          <a:spcPts val="1288"/>
                        </a:lnSpc>
                        <a:spcBef>
                          <a:spcPct val="0"/>
                        </a:spcBef>
                        <a:spcAft>
                          <a:spcPct val="0"/>
                        </a:spcAft>
                        <a:buClrTx/>
                        <a:buSzTx/>
                        <a:buFontTx/>
                        <a:buNone/>
                        <a:tabLst/>
                      </a:pPr>
                      <a:r>
                        <a:rPr kumimoji="0" lang="en-US" altLang="en-US" sz="1100" b="0" u="none" strike="noStrike" cap="none" normalizeH="0" baseline="0">
                          <a:ln>
                            <a:noFill/>
                          </a:ln>
                          <a:solidFill>
                            <a:schemeClr val="tx1"/>
                          </a:solidFill>
                          <a:effectLst/>
                        </a:rPr>
                        <a:t>Direct &amp;</a:t>
                      </a:r>
                    </a:p>
                    <a:p>
                      <a:pPr marL="68263" marR="0" lvl="0" indent="0" algn="l" defTabSz="914400" rtl="0" eaLnBrk="1" fontAlgn="base" latinLnBrk="0" hangingPunct="1">
                        <a:lnSpc>
                          <a:spcPct val="100000"/>
                        </a:lnSpc>
                        <a:spcBef>
                          <a:spcPts val="25"/>
                        </a:spcBef>
                        <a:spcAft>
                          <a:spcPct val="0"/>
                        </a:spcAft>
                        <a:buClrTx/>
                        <a:buSzTx/>
                        <a:buFontTx/>
                        <a:buNone/>
                        <a:tabLst/>
                      </a:pPr>
                      <a:r>
                        <a:rPr kumimoji="0" lang="en-US" altLang="en-US" sz="1100" b="0" u="none" strike="noStrike" cap="none" normalizeH="0" baseline="0">
                          <a:ln>
                            <a:noFill/>
                          </a:ln>
                          <a:solidFill>
                            <a:schemeClr val="tx1"/>
                          </a:solidFill>
                          <a:effectLst/>
                        </a:rPr>
                        <a:t>transposed forms</a:t>
                      </a:r>
                      <a:endParaRPr kumimoji="0" lang="en-US" altLang="en-US" sz="1100" b="0" i="0" u="none" strike="noStrike" cap="none" normalizeH="0" baseline="0">
                        <a:ln>
                          <a:noFill/>
                        </a:ln>
                        <a:solidFill>
                          <a:schemeClr val="tx1"/>
                        </a:solidFill>
                        <a:effectLst/>
                        <a:latin typeface="Calibri" panose="020F0502020204030204" pitchFamily="34" charset="0"/>
                        <a:cs typeface="Calibri" panose="020F0502020204030204" pitchFamily="34" charset="0"/>
                      </a:endParaRPr>
                    </a:p>
                  </a:txBody>
                  <a:tcPr marL="0" marR="0" marT="0" marB="0" horzOverflow="overflow"/>
                </a:tc>
                <a:tc>
                  <a:txBody>
                    <a:bodyPr/>
                    <a:lstStyle>
                      <a:lvl1pPr marL="66675">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66675" marR="0" lvl="0" indent="0" algn="l" defTabSz="914400" rtl="0" eaLnBrk="1" fontAlgn="base" latinLnBrk="0" hangingPunct="1">
                        <a:lnSpc>
                          <a:spcPts val="1288"/>
                        </a:lnSpc>
                        <a:spcBef>
                          <a:spcPct val="0"/>
                        </a:spcBef>
                        <a:spcAft>
                          <a:spcPct val="0"/>
                        </a:spcAft>
                        <a:buClrTx/>
                        <a:buSzTx/>
                        <a:buFontTx/>
                        <a:buNone/>
                        <a:tabLst/>
                      </a:pPr>
                      <a:r>
                        <a:rPr kumimoji="0" lang="en-US" altLang="en-US" sz="1100" b="0" u="none" strike="noStrike" cap="none" normalizeH="0" baseline="0">
                          <a:ln>
                            <a:noFill/>
                          </a:ln>
                          <a:solidFill>
                            <a:schemeClr val="tx1"/>
                          </a:solidFill>
                          <a:effectLst/>
                        </a:rPr>
                        <a:t>No error</a:t>
                      </a:r>
                    </a:p>
                    <a:p>
                      <a:pPr marL="66675" marR="0" lvl="0" indent="0" algn="l" defTabSz="914400" rtl="0" eaLnBrk="1" fontAlgn="base" latinLnBrk="0" hangingPunct="1">
                        <a:lnSpc>
                          <a:spcPct val="100000"/>
                        </a:lnSpc>
                        <a:spcBef>
                          <a:spcPts val="25"/>
                        </a:spcBef>
                        <a:spcAft>
                          <a:spcPct val="0"/>
                        </a:spcAft>
                        <a:buClrTx/>
                        <a:buSzTx/>
                        <a:buFontTx/>
                        <a:buNone/>
                        <a:tabLst/>
                      </a:pPr>
                      <a:r>
                        <a:rPr kumimoji="0" lang="en-US" altLang="en-US" sz="1100" b="0" u="none" strike="noStrike" cap="none" normalizeH="0" baseline="0">
                          <a:ln>
                            <a:noFill/>
                          </a:ln>
                          <a:solidFill>
                            <a:schemeClr val="tx1"/>
                          </a:solidFill>
                          <a:effectLst/>
                        </a:rPr>
                        <a:t>normalization</a:t>
                      </a:r>
                      <a:endParaRPr kumimoji="0" lang="en-US" altLang="en-US" sz="1100" b="0" i="0" u="none" strike="noStrike" cap="none" normalizeH="0" baseline="0">
                        <a:ln>
                          <a:noFill/>
                        </a:ln>
                        <a:solidFill>
                          <a:schemeClr val="tx1"/>
                        </a:solidFill>
                        <a:effectLst/>
                        <a:latin typeface="Calibri" panose="020F0502020204030204" pitchFamily="34" charset="0"/>
                        <a:cs typeface="Calibri" panose="020F0502020204030204" pitchFamily="34" charset="0"/>
                      </a:endParaRPr>
                    </a:p>
                  </a:txBody>
                  <a:tcPr marL="0" marR="0" marT="0" marB="0" horzOverflow="overflow"/>
                </a:tc>
                <a:extLst>
                  <a:ext uri="{0D108BD9-81ED-4DB2-BD59-A6C34878D82A}">
                    <a16:rowId xmlns:a16="http://schemas.microsoft.com/office/drawing/2014/main" val="3292259983"/>
                  </a:ext>
                </a:extLst>
              </a:tr>
              <a:tr h="517525">
                <a:tc>
                  <a:txBody>
                    <a:bodyPr/>
                    <a:lstStyle>
                      <a:lvl1pPr marL="66675">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66675" marR="0" lvl="0" indent="0" algn="l" defTabSz="914400" rtl="0" eaLnBrk="1" fontAlgn="base" latinLnBrk="0" hangingPunct="1">
                        <a:lnSpc>
                          <a:spcPts val="1288"/>
                        </a:lnSpc>
                        <a:spcBef>
                          <a:spcPct val="0"/>
                        </a:spcBef>
                        <a:spcAft>
                          <a:spcPct val="0"/>
                        </a:spcAft>
                        <a:buClrTx/>
                        <a:buSzTx/>
                        <a:buFontTx/>
                        <a:buNone/>
                        <a:tabLst/>
                      </a:pPr>
                      <a:r>
                        <a:rPr kumimoji="0" lang="en-US" altLang="en-US" sz="1100" b="0" u="none" strike="noStrike" cap="none" normalizeH="0" baseline="0" dirty="0">
                          <a:ln>
                            <a:noFill/>
                          </a:ln>
                          <a:solidFill>
                            <a:schemeClr val="tx1"/>
                          </a:solidFill>
                          <a:effectLst/>
                        </a:rPr>
                        <a:t>Venkatesan et al.</a:t>
                      </a:r>
                    </a:p>
                    <a:p>
                      <a:pPr marL="66675" marR="0" lvl="0" indent="0" algn="l" defTabSz="914400" rtl="0" eaLnBrk="1" fontAlgn="base" latinLnBrk="0" hangingPunct="1">
                        <a:lnSpc>
                          <a:spcPct val="100000"/>
                        </a:lnSpc>
                        <a:spcBef>
                          <a:spcPts val="25"/>
                        </a:spcBef>
                        <a:spcAft>
                          <a:spcPct val="0"/>
                        </a:spcAft>
                        <a:buClrTx/>
                        <a:buSzTx/>
                        <a:buFontTx/>
                        <a:buNone/>
                        <a:tabLst/>
                      </a:pPr>
                      <a:r>
                        <a:rPr kumimoji="0" lang="en-US" altLang="en-US" sz="1100" b="0" u="none" strike="noStrike" cap="none" normalizeH="0" baseline="0" dirty="0">
                          <a:ln>
                            <a:noFill/>
                          </a:ln>
                          <a:solidFill>
                            <a:schemeClr val="tx1"/>
                          </a:solidFill>
                          <a:effectLst/>
                        </a:rPr>
                        <a:t>(2019)</a:t>
                      </a:r>
                    </a:p>
                    <a:p>
                      <a:pPr marL="66675" marR="0" lvl="0" indent="0" algn="l" defTabSz="914400" rtl="0" eaLnBrk="1" fontAlgn="base" latinLnBrk="0" hangingPunct="1">
                        <a:lnSpc>
                          <a:spcPct val="100000"/>
                        </a:lnSpc>
                        <a:spcBef>
                          <a:spcPts val="25"/>
                        </a:spcBef>
                        <a:spcAft>
                          <a:spcPct val="0"/>
                        </a:spcAft>
                        <a:buClrTx/>
                        <a:buSzTx/>
                        <a:buFontTx/>
                        <a:buNone/>
                        <a:tabLst/>
                      </a:pPr>
                      <a:r>
                        <a:rPr kumimoji="0" lang="en-US" altLang="en-US" sz="1100" b="0" u="none" strike="noStrike" cap="none" normalizeH="0" baseline="0" dirty="0">
                          <a:ln>
                            <a:noFill/>
                          </a:ln>
                          <a:solidFill>
                            <a:schemeClr val="tx1"/>
                          </a:solidFill>
                          <a:effectLst/>
                        </a:rPr>
                        <a:t>[Proposed]</a:t>
                      </a:r>
                      <a:endParaRPr kumimoji="0" lang="en-US" altLang="en-US" sz="1100" b="0" i="0" u="none" strike="noStrike" cap="none" normalizeH="0" baseline="0" dirty="0">
                        <a:ln>
                          <a:noFill/>
                        </a:ln>
                        <a:solidFill>
                          <a:schemeClr val="tx1"/>
                        </a:solidFill>
                        <a:effectLst/>
                        <a:latin typeface="Calibri" panose="020F0502020204030204" pitchFamily="34" charset="0"/>
                        <a:cs typeface="Calibri" panose="020F0502020204030204" pitchFamily="34" charset="0"/>
                      </a:endParaRPr>
                    </a:p>
                  </a:txBody>
                  <a:tcPr marL="0" marR="0" marT="0" marB="0" horzOverflow="overflow"/>
                </a:tc>
                <a:tc>
                  <a:txBody>
                    <a:bodyPr/>
                    <a:lstStyle>
                      <a:lvl1pPr marL="68263">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68263" marR="0" lvl="0" indent="0" algn="l" defTabSz="914400" rtl="0" eaLnBrk="1" fontAlgn="base" latinLnBrk="0" hangingPunct="1">
                        <a:lnSpc>
                          <a:spcPts val="1288"/>
                        </a:lnSpc>
                        <a:spcBef>
                          <a:spcPct val="0"/>
                        </a:spcBef>
                        <a:spcAft>
                          <a:spcPct val="0"/>
                        </a:spcAft>
                        <a:buClrTx/>
                        <a:buSzTx/>
                        <a:buFontTx/>
                        <a:buNone/>
                        <a:tabLst/>
                      </a:pPr>
                      <a:r>
                        <a:rPr kumimoji="0" lang="en-US" altLang="en-US" sz="1100" b="0" u="none" strike="noStrike" cap="none" normalizeH="0" baseline="0">
                          <a:ln>
                            <a:noFill/>
                          </a:ln>
                          <a:solidFill>
                            <a:schemeClr val="tx1"/>
                          </a:solidFill>
                          <a:effectLst/>
                        </a:rPr>
                        <a:t>DENLMS pipelined</a:t>
                      </a:r>
                    </a:p>
                    <a:p>
                      <a:pPr marL="68263" marR="0" lvl="0" indent="0" algn="l" defTabSz="914400" rtl="0" eaLnBrk="1" fontAlgn="base" latinLnBrk="0" hangingPunct="1">
                        <a:lnSpc>
                          <a:spcPct val="100000"/>
                        </a:lnSpc>
                        <a:spcBef>
                          <a:spcPts val="25"/>
                        </a:spcBef>
                        <a:spcAft>
                          <a:spcPct val="0"/>
                        </a:spcAft>
                        <a:buClrTx/>
                        <a:buSzTx/>
                        <a:buFontTx/>
                        <a:buNone/>
                        <a:tabLst/>
                      </a:pPr>
                      <a:r>
                        <a:rPr kumimoji="0" lang="en-US" altLang="en-US" sz="1100" b="0" u="none" strike="noStrike" cap="none" normalizeH="0" baseline="0">
                          <a:ln>
                            <a:noFill/>
                          </a:ln>
                          <a:solidFill>
                            <a:schemeClr val="tx1"/>
                          </a:solidFill>
                          <a:effectLst/>
                        </a:rPr>
                        <a:t>FPGA</a:t>
                      </a:r>
                      <a:endParaRPr kumimoji="0" lang="en-US" altLang="en-US" sz="1100" b="0" i="0" u="none" strike="noStrike" cap="none" normalizeH="0" baseline="0">
                        <a:ln>
                          <a:noFill/>
                        </a:ln>
                        <a:solidFill>
                          <a:schemeClr val="tx1"/>
                        </a:solidFill>
                        <a:effectLst/>
                        <a:latin typeface="Calibri" panose="020F0502020204030204" pitchFamily="34" charset="0"/>
                        <a:cs typeface="Calibri" panose="020F0502020204030204" pitchFamily="34" charset="0"/>
                      </a:endParaRPr>
                    </a:p>
                  </a:txBody>
                  <a:tcPr marL="0" marR="0" marT="0" marB="0" horzOverflow="overflow"/>
                </a:tc>
                <a:tc>
                  <a:txBody>
                    <a:bodyPr/>
                    <a:lstStyle>
                      <a:lvl1pPr marL="66675">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66675" marR="0" lvl="0" indent="0" algn="l" defTabSz="914400" rtl="0" eaLnBrk="1" fontAlgn="base" latinLnBrk="0" hangingPunct="1">
                        <a:lnSpc>
                          <a:spcPts val="1288"/>
                        </a:lnSpc>
                        <a:spcBef>
                          <a:spcPct val="0"/>
                        </a:spcBef>
                        <a:spcAft>
                          <a:spcPct val="0"/>
                        </a:spcAft>
                        <a:buClrTx/>
                        <a:buSzTx/>
                        <a:buFontTx/>
                        <a:buNone/>
                        <a:tabLst/>
                      </a:pPr>
                      <a:r>
                        <a:rPr kumimoji="0" lang="en-US" altLang="en-US" sz="1100" b="0" u="none" strike="noStrike" cap="none" normalizeH="0" baseline="0">
                          <a:ln>
                            <a:noFill/>
                          </a:ln>
                          <a:solidFill>
                            <a:schemeClr val="tx1"/>
                          </a:solidFill>
                          <a:effectLst/>
                        </a:rPr>
                        <a:t>White Gaussian</a:t>
                      </a:r>
                    </a:p>
                    <a:p>
                      <a:pPr marL="66675" marR="0" lvl="0" indent="0" algn="l" defTabSz="914400" rtl="0" eaLnBrk="1" fontAlgn="base" latinLnBrk="0" hangingPunct="1">
                        <a:lnSpc>
                          <a:spcPct val="100000"/>
                        </a:lnSpc>
                        <a:spcBef>
                          <a:spcPts val="25"/>
                        </a:spcBef>
                        <a:spcAft>
                          <a:spcPct val="0"/>
                        </a:spcAft>
                        <a:buClrTx/>
                        <a:buSzTx/>
                        <a:buFontTx/>
                        <a:buNone/>
                        <a:tabLst/>
                      </a:pPr>
                      <a:r>
                        <a:rPr kumimoji="0" lang="en-US" altLang="en-US" sz="1100" b="0" u="none" strike="noStrike" cap="none" normalizeH="0" baseline="0">
                          <a:ln>
                            <a:noFill/>
                          </a:ln>
                          <a:solidFill>
                            <a:schemeClr val="tx1"/>
                          </a:solidFill>
                          <a:effectLst/>
                        </a:rPr>
                        <a:t>ECG</a:t>
                      </a:r>
                      <a:endParaRPr kumimoji="0" lang="en-US" altLang="en-US" sz="1100" b="0" i="0" u="none" strike="noStrike" cap="none" normalizeH="0" baseline="0">
                        <a:ln>
                          <a:noFill/>
                        </a:ln>
                        <a:solidFill>
                          <a:schemeClr val="tx1"/>
                        </a:solidFill>
                        <a:effectLst/>
                        <a:latin typeface="Calibri" panose="020F0502020204030204" pitchFamily="34" charset="0"/>
                        <a:cs typeface="Calibri" panose="020F0502020204030204" pitchFamily="34" charset="0"/>
                      </a:endParaRPr>
                    </a:p>
                  </a:txBody>
                  <a:tcPr marL="0" marR="0" marT="0" marB="0" horzOverflow="overflow"/>
                </a:tc>
                <a:tc>
                  <a:txBody>
                    <a:bodyPr/>
                    <a:lstStyle>
                      <a:lvl1pPr marL="68263">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68263" marR="0" lvl="0" indent="0" algn="l" defTabSz="914400" rtl="0" eaLnBrk="1" fontAlgn="base" latinLnBrk="0" hangingPunct="1">
                        <a:lnSpc>
                          <a:spcPts val="1288"/>
                        </a:lnSpc>
                        <a:spcBef>
                          <a:spcPct val="0"/>
                        </a:spcBef>
                        <a:spcAft>
                          <a:spcPct val="0"/>
                        </a:spcAft>
                        <a:buClrTx/>
                        <a:buSzTx/>
                        <a:buFontTx/>
                        <a:buNone/>
                        <a:tabLst/>
                      </a:pPr>
                      <a:r>
                        <a:rPr kumimoji="0" lang="en-US" altLang="en-US" sz="1100" b="0" u="none" strike="noStrike" cap="none" normalizeH="0" baseline="0">
                          <a:ln>
                            <a:noFill/>
                          </a:ln>
                          <a:solidFill>
                            <a:schemeClr val="tx1"/>
                          </a:solidFill>
                          <a:effectLst/>
                        </a:rPr>
                        <a:t>42mW, slack</a:t>
                      </a:r>
                    </a:p>
                    <a:p>
                      <a:pPr marL="68263" marR="0" lvl="0" indent="0" algn="l" defTabSz="914400" rtl="0" eaLnBrk="1" fontAlgn="base" latinLnBrk="0" hangingPunct="1">
                        <a:lnSpc>
                          <a:spcPct val="100000"/>
                        </a:lnSpc>
                        <a:spcBef>
                          <a:spcPts val="25"/>
                        </a:spcBef>
                        <a:spcAft>
                          <a:spcPct val="0"/>
                        </a:spcAft>
                        <a:buClrTx/>
                        <a:buSzTx/>
                        <a:buFontTx/>
                        <a:buNone/>
                        <a:tabLst/>
                      </a:pPr>
                      <a:r>
                        <a:rPr kumimoji="0" lang="en-US" altLang="en-US" sz="1100" b="0" u="none" strike="noStrike" cap="none" normalizeH="0" baseline="0">
                          <a:ln>
                            <a:noFill/>
                          </a:ln>
                          <a:solidFill>
                            <a:schemeClr val="tx1"/>
                          </a:solidFill>
                          <a:effectLst/>
                        </a:rPr>
                        <a:t>0.19ns</a:t>
                      </a:r>
                      <a:endParaRPr kumimoji="0" lang="en-US" altLang="en-US" sz="1100" b="0" i="0" u="none" strike="noStrike" cap="none" normalizeH="0" baseline="0">
                        <a:ln>
                          <a:noFill/>
                        </a:ln>
                        <a:solidFill>
                          <a:schemeClr val="tx1"/>
                        </a:solidFill>
                        <a:effectLst/>
                        <a:latin typeface="Calibri" panose="020F0502020204030204" pitchFamily="34" charset="0"/>
                        <a:cs typeface="Calibri" panose="020F0502020204030204" pitchFamily="34" charset="0"/>
                      </a:endParaRPr>
                    </a:p>
                  </a:txBody>
                  <a:tcPr marL="0" marR="0" marT="0" marB="0" horzOverflow="overflow"/>
                </a:tc>
                <a:tc>
                  <a:txBody>
                    <a:bodyPr/>
                    <a:lstStyle>
                      <a:lvl1pPr marL="66675">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66675" marR="0" lvl="0" indent="0" algn="l" defTabSz="914400" rtl="0" eaLnBrk="1" fontAlgn="base" latinLnBrk="0" hangingPunct="1">
                        <a:lnSpc>
                          <a:spcPts val="1288"/>
                        </a:lnSpc>
                        <a:spcBef>
                          <a:spcPct val="0"/>
                        </a:spcBef>
                        <a:spcAft>
                          <a:spcPct val="0"/>
                        </a:spcAft>
                        <a:buClrTx/>
                        <a:buSzTx/>
                        <a:buFontTx/>
                        <a:buNone/>
                        <a:tabLst/>
                      </a:pPr>
                      <a:r>
                        <a:rPr kumimoji="0" lang="en-US" altLang="en-US" sz="1100" b="0" u="none" strike="noStrike" cap="none" normalizeH="0" baseline="0" dirty="0">
                          <a:ln>
                            <a:noFill/>
                          </a:ln>
                          <a:solidFill>
                            <a:schemeClr val="tx1"/>
                          </a:solidFill>
                          <a:effectLst/>
                        </a:rPr>
                        <a:t>Slight area</a:t>
                      </a:r>
                    </a:p>
                    <a:p>
                      <a:pPr marL="66675" marR="0" lvl="0" indent="0" algn="l" defTabSz="914400" rtl="0" eaLnBrk="1" fontAlgn="base" latinLnBrk="0" hangingPunct="1">
                        <a:lnSpc>
                          <a:spcPct val="102000"/>
                        </a:lnSpc>
                        <a:spcBef>
                          <a:spcPct val="0"/>
                        </a:spcBef>
                        <a:spcAft>
                          <a:spcPct val="0"/>
                        </a:spcAft>
                        <a:buClrTx/>
                        <a:buSzTx/>
                        <a:buFontTx/>
                        <a:buNone/>
                        <a:tabLst/>
                      </a:pPr>
                      <a:r>
                        <a:rPr kumimoji="0" lang="en-US" altLang="en-US" sz="1100" b="0" u="none" strike="noStrike" cap="none" normalizeH="0" baseline="0" dirty="0">
                          <a:ln>
                            <a:noFill/>
                          </a:ln>
                          <a:solidFill>
                            <a:schemeClr val="tx1"/>
                          </a:solidFill>
                          <a:effectLst/>
                        </a:rPr>
                        <a:t>increase (20.4%)</a:t>
                      </a:r>
                      <a:endParaRPr kumimoji="0" lang="en-US" altLang="en-US" sz="1100" b="0" i="0" u="none" strike="noStrike" cap="none" normalizeH="0" baseline="0" dirty="0">
                        <a:ln>
                          <a:noFill/>
                        </a:ln>
                        <a:solidFill>
                          <a:schemeClr val="tx1"/>
                        </a:solidFill>
                        <a:effectLst/>
                        <a:latin typeface="Calibri" panose="020F0502020204030204" pitchFamily="34" charset="0"/>
                        <a:cs typeface="Calibri" panose="020F0502020204030204" pitchFamily="34" charset="0"/>
                      </a:endParaRPr>
                    </a:p>
                  </a:txBody>
                  <a:tcPr marL="0" marR="0" marT="0" marB="0" horzOverflow="overflow"/>
                </a:tc>
                <a:extLst>
                  <a:ext uri="{0D108BD9-81ED-4DB2-BD59-A6C34878D82A}">
                    <a16:rowId xmlns:a16="http://schemas.microsoft.com/office/drawing/2014/main" val="2319162037"/>
                  </a:ext>
                </a:extLst>
              </a:tr>
            </a:tbl>
          </a:graphicData>
        </a:graphic>
      </p:graphicFrame>
      <p:sp>
        <p:nvSpPr>
          <p:cNvPr id="3" name="object 3">
            <a:extLst>
              <a:ext uri="{FF2B5EF4-FFF2-40B4-BE49-F238E27FC236}">
                <a16:creationId xmlns:a16="http://schemas.microsoft.com/office/drawing/2014/main" id="{EF565810-4B37-0712-640C-5E837F5C04F6}"/>
              </a:ext>
            </a:extLst>
          </p:cNvPr>
          <p:cNvSpPr txBox="1"/>
          <p:nvPr/>
        </p:nvSpPr>
        <p:spPr>
          <a:xfrm>
            <a:off x="1130300" y="5476875"/>
            <a:ext cx="5743575" cy="1089025"/>
          </a:xfrm>
          <a:prstGeom prst="rect">
            <a:avLst/>
          </a:prstGeom>
        </p:spPr>
        <p:txBody>
          <a:bodyPr lIns="0" tIns="13335" rIns="0" bIns="0">
            <a:spAutoFit/>
          </a:bodyPr>
          <a:lstStyle>
            <a:lvl1pPr marL="12700">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ts val="100"/>
              </a:spcBef>
            </a:pPr>
            <a:r>
              <a:rPr lang="en-US" altLang="en-US" sz="1400" b="1" dirty="0">
                <a:solidFill>
                  <a:srgbClr val="2D75B6"/>
                </a:solidFill>
                <a:latin typeface="Times New Roman" panose="02020603050405020304" pitchFamily="18" charset="0"/>
                <a:cs typeface="Times New Roman" panose="02020603050405020304" pitchFamily="18" charset="0"/>
              </a:rPr>
              <a:t>2.2</a:t>
            </a:r>
            <a:r>
              <a:rPr lang="en-US" altLang="en-US" sz="1400" dirty="0">
                <a:solidFill>
                  <a:srgbClr val="2D75B6"/>
                </a:solidFill>
                <a:latin typeface="Times New Roman" panose="02020603050405020304" pitchFamily="18" charset="0"/>
                <a:cs typeface="Times New Roman" panose="02020603050405020304" pitchFamily="18" charset="0"/>
              </a:rPr>
              <a:t> </a:t>
            </a:r>
            <a:r>
              <a:rPr lang="en-US" altLang="en-US" sz="1400" b="1" dirty="0">
                <a:solidFill>
                  <a:srgbClr val="2D75B6"/>
                </a:solidFill>
                <a:latin typeface="Times New Roman" panose="02020603050405020304" pitchFamily="18" charset="0"/>
                <a:cs typeface="Times New Roman" panose="02020603050405020304" pitchFamily="18" charset="0"/>
              </a:rPr>
              <a:t>Comparative</a:t>
            </a:r>
            <a:r>
              <a:rPr lang="en-US" altLang="en-US" sz="1400" dirty="0">
                <a:solidFill>
                  <a:srgbClr val="2D75B6"/>
                </a:solidFill>
                <a:latin typeface="Times New Roman" panose="02020603050405020304" pitchFamily="18" charset="0"/>
                <a:cs typeface="Times New Roman" panose="02020603050405020304" pitchFamily="18" charset="0"/>
              </a:rPr>
              <a:t> </a:t>
            </a:r>
            <a:r>
              <a:rPr lang="en-US" altLang="en-US" sz="1400" b="1" dirty="0">
                <a:solidFill>
                  <a:srgbClr val="2D75B6"/>
                </a:solidFill>
                <a:latin typeface="Times New Roman" panose="02020603050405020304" pitchFamily="18" charset="0"/>
                <a:cs typeface="Times New Roman" panose="02020603050405020304" pitchFamily="18" charset="0"/>
              </a:rPr>
              <a:t>Analysis</a:t>
            </a:r>
            <a:endParaRPr lang="en-US" altLang="en-US" sz="1400" dirty="0">
              <a:solidFill>
                <a:srgbClr val="000000"/>
              </a:solidFill>
              <a:latin typeface="Times New Roman" panose="02020603050405020304" pitchFamily="18" charset="0"/>
              <a:cs typeface="Times New Roman" panose="02020603050405020304" pitchFamily="18" charset="0"/>
            </a:endParaRPr>
          </a:p>
          <a:p>
            <a:pPr algn="just" eaLnBrk="1" hangingPunct="1">
              <a:lnSpc>
                <a:spcPct val="101000"/>
              </a:lnSpc>
              <a:spcBef>
                <a:spcPts val="1325"/>
              </a:spcBef>
            </a:pPr>
            <a:r>
              <a:rPr lang="en-US" altLang="en-US" sz="1100" dirty="0">
                <a:solidFill>
                  <a:srgbClr val="000000"/>
                </a:solidFill>
                <a:latin typeface="Calibri" panose="020F0502020204030204" pitchFamily="34" charset="0"/>
                <a:cs typeface="Calibri" panose="020F0502020204030204" pitchFamily="34" charset="0"/>
              </a:rPr>
              <a:t>Based</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on</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the</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reviewed</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literature,</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a</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systematic</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comparative</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analysis</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of</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the</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key</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adaptive</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filtering</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algorithms</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implemented</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on</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FPGA</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hardware</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is</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presented.</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The</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comparison</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focuses</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on</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computational</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complexity,</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power</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consumption,</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timing</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performance,</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and</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filtering</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accuracy,</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as</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these</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are</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the</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critical</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metrics</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for</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real-time</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FPGA-based</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ECG</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processing.</a:t>
            </a:r>
          </a:p>
        </p:txBody>
      </p:sp>
      <p:graphicFrame>
        <p:nvGraphicFramePr>
          <p:cNvPr id="4" name="object 4">
            <a:extLst>
              <a:ext uri="{FF2B5EF4-FFF2-40B4-BE49-F238E27FC236}">
                <a16:creationId xmlns:a16="http://schemas.microsoft.com/office/drawing/2014/main" id="{3C7DDC89-4CDC-8660-0824-D47DA69CB470}"/>
              </a:ext>
            </a:extLst>
          </p:cNvPr>
          <p:cNvGraphicFramePr>
            <a:graphicFrameLocks noGrp="1"/>
          </p:cNvGraphicFramePr>
          <p:nvPr>
            <p:extLst>
              <p:ext uri="{D42A27DB-BD31-4B8C-83A1-F6EECF244321}">
                <p14:modId xmlns:p14="http://schemas.microsoft.com/office/powerpoint/2010/main" val="2097104387"/>
              </p:ext>
            </p:extLst>
          </p:nvPr>
        </p:nvGraphicFramePr>
        <p:xfrm>
          <a:off x="1143000" y="7085013"/>
          <a:ext cx="6278563" cy="1990725"/>
        </p:xfrm>
        <a:graphic>
          <a:graphicData uri="http://schemas.openxmlformats.org/drawingml/2006/table">
            <a:tbl>
              <a:tblPr firstRow="1" bandRow="1">
                <a:tableStyleId>{5940675A-B579-460E-94D1-54222C63F5DA}</a:tableStyleId>
              </a:tblPr>
              <a:tblGrid>
                <a:gridCol w="1475965">
                  <a:extLst>
                    <a:ext uri="{9D8B030D-6E8A-4147-A177-3AD203B41FA5}">
                      <a16:colId xmlns:a16="http://schemas.microsoft.com/office/drawing/2014/main" val="20000"/>
                    </a:ext>
                  </a:extLst>
                </a:gridCol>
                <a:gridCol w="1099352">
                  <a:extLst>
                    <a:ext uri="{9D8B030D-6E8A-4147-A177-3AD203B41FA5}">
                      <a16:colId xmlns:a16="http://schemas.microsoft.com/office/drawing/2014/main" val="20001"/>
                    </a:ext>
                  </a:extLst>
                </a:gridCol>
                <a:gridCol w="1101257">
                  <a:extLst>
                    <a:ext uri="{9D8B030D-6E8A-4147-A177-3AD203B41FA5}">
                      <a16:colId xmlns:a16="http://schemas.microsoft.com/office/drawing/2014/main" val="20002"/>
                    </a:ext>
                  </a:extLst>
                </a:gridCol>
                <a:gridCol w="1099986">
                  <a:extLst>
                    <a:ext uri="{9D8B030D-6E8A-4147-A177-3AD203B41FA5}">
                      <a16:colId xmlns:a16="http://schemas.microsoft.com/office/drawing/2014/main" val="20003"/>
                    </a:ext>
                  </a:extLst>
                </a:gridCol>
                <a:gridCol w="1502003">
                  <a:extLst>
                    <a:ext uri="{9D8B030D-6E8A-4147-A177-3AD203B41FA5}">
                      <a16:colId xmlns:a16="http://schemas.microsoft.com/office/drawing/2014/main" val="20004"/>
                    </a:ext>
                  </a:extLst>
                </a:gridCol>
              </a:tblGrid>
              <a:tr h="240512">
                <a:tc>
                  <a:txBody>
                    <a:bodyPr/>
                    <a:lstStyle/>
                    <a:p>
                      <a:pPr marL="67945">
                        <a:lnSpc>
                          <a:spcPts val="1405"/>
                        </a:lnSpc>
                      </a:pPr>
                      <a:r>
                        <a:rPr sz="1200" b="1" spc="-10" dirty="0"/>
                        <a:t>Parameter</a:t>
                      </a:r>
                      <a:endParaRPr sz="1200">
                        <a:latin typeface="Calibri"/>
                        <a:cs typeface="Calibri"/>
                      </a:endParaRPr>
                    </a:p>
                  </a:txBody>
                  <a:tcPr marL="0" marR="0" marT="0" marB="0"/>
                </a:tc>
                <a:tc>
                  <a:txBody>
                    <a:bodyPr/>
                    <a:lstStyle/>
                    <a:p>
                      <a:pPr marL="68580">
                        <a:lnSpc>
                          <a:spcPts val="1405"/>
                        </a:lnSpc>
                      </a:pPr>
                      <a:r>
                        <a:rPr sz="1200" b="1" spc="-10" dirty="0"/>
                        <a:t>ENLMS</a:t>
                      </a:r>
                      <a:endParaRPr sz="1200">
                        <a:latin typeface="Calibri"/>
                        <a:cs typeface="Calibri"/>
                      </a:endParaRPr>
                    </a:p>
                  </a:txBody>
                  <a:tcPr marL="0" marR="0" marT="0" marB="0"/>
                </a:tc>
                <a:tc>
                  <a:txBody>
                    <a:bodyPr/>
                    <a:lstStyle/>
                    <a:p>
                      <a:pPr marL="67945">
                        <a:lnSpc>
                          <a:spcPts val="1405"/>
                        </a:lnSpc>
                      </a:pPr>
                      <a:r>
                        <a:rPr sz="1200" b="1" spc="-10" dirty="0"/>
                        <a:t>TDLMS</a:t>
                      </a:r>
                      <a:endParaRPr sz="1200">
                        <a:latin typeface="Calibri"/>
                        <a:cs typeface="Calibri"/>
                      </a:endParaRPr>
                    </a:p>
                  </a:txBody>
                  <a:tcPr marL="0" marR="0" marT="0" marB="0"/>
                </a:tc>
                <a:tc>
                  <a:txBody>
                    <a:bodyPr/>
                    <a:lstStyle/>
                    <a:p>
                      <a:pPr marL="66675">
                        <a:lnSpc>
                          <a:spcPts val="1405"/>
                        </a:lnSpc>
                      </a:pPr>
                      <a:r>
                        <a:rPr sz="1200" b="1" spc="-10" dirty="0"/>
                        <a:t>DNLMS</a:t>
                      </a:r>
                      <a:endParaRPr sz="1200">
                        <a:latin typeface="Calibri"/>
                        <a:cs typeface="Calibri"/>
                      </a:endParaRPr>
                    </a:p>
                  </a:txBody>
                  <a:tcPr marL="0" marR="0" marT="0" marB="0"/>
                </a:tc>
                <a:tc>
                  <a:txBody>
                    <a:bodyPr/>
                    <a:lstStyle/>
                    <a:p>
                      <a:pPr marL="67945">
                        <a:lnSpc>
                          <a:spcPts val="1405"/>
                        </a:lnSpc>
                      </a:pPr>
                      <a:r>
                        <a:rPr sz="1200" b="1" dirty="0"/>
                        <a:t>DENLMS</a:t>
                      </a:r>
                      <a:r>
                        <a:rPr sz="1200" spc="-50" dirty="0"/>
                        <a:t> </a:t>
                      </a:r>
                      <a:r>
                        <a:rPr sz="1200" b="1" spc="-10" dirty="0"/>
                        <a:t>(Proposed)</a:t>
                      </a:r>
                      <a:endParaRPr sz="1200">
                        <a:latin typeface="Calibri"/>
                        <a:cs typeface="Calibri"/>
                      </a:endParaRPr>
                    </a:p>
                  </a:txBody>
                  <a:tcPr marL="0" marR="0" marT="0" marB="0"/>
                </a:tc>
                <a:extLst>
                  <a:ext uri="{0D108BD9-81ED-4DB2-BD59-A6C34878D82A}">
                    <a16:rowId xmlns:a16="http://schemas.microsoft.com/office/drawing/2014/main" val="10000"/>
                  </a:ext>
                </a:extLst>
              </a:tr>
              <a:tr h="216397">
                <a:tc>
                  <a:txBody>
                    <a:bodyPr/>
                    <a:lstStyle/>
                    <a:p>
                      <a:pPr marL="67945">
                        <a:lnSpc>
                          <a:spcPts val="1290"/>
                        </a:lnSpc>
                      </a:pPr>
                      <a:r>
                        <a:rPr sz="1100" spc="-10" dirty="0"/>
                        <a:t>Multiplications</a:t>
                      </a:r>
                      <a:endParaRPr sz="1100">
                        <a:latin typeface="Calibri"/>
                        <a:cs typeface="Calibri"/>
                      </a:endParaRPr>
                    </a:p>
                  </a:txBody>
                  <a:tcPr marL="0" marR="0" marT="0" marB="0"/>
                </a:tc>
                <a:tc>
                  <a:txBody>
                    <a:bodyPr/>
                    <a:lstStyle/>
                    <a:p>
                      <a:pPr marL="68580">
                        <a:lnSpc>
                          <a:spcPts val="1290"/>
                        </a:lnSpc>
                      </a:pPr>
                      <a:r>
                        <a:rPr sz="1100" spc="-25" dirty="0"/>
                        <a:t>3N</a:t>
                      </a:r>
                      <a:endParaRPr sz="1100">
                        <a:latin typeface="Calibri"/>
                        <a:cs typeface="Calibri"/>
                      </a:endParaRPr>
                    </a:p>
                  </a:txBody>
                  <a:tcPr marL="0" marR="0" marT="0" marB="0"/>
                </a:tc>
                <a:tc>
                  <a:txBody>
                    <a:bodyPr/>
                    <a:lstStyle/>
                    <a:p>
                      <a:pPr marL="67945">
                        <a:lnSpc>
                          <a:spcPts val="1290"/>
                        </a:lnSpc>
                      </a:pPr>
                      <a:r>
                        <a:rPr sz="1100" spc="-20" dirty="0"/>
                        <a:t>6N+1</a:t>
                      </a:r>
                      <a:endParaRPr sz="1100">
                        <a:latin typeface="Calibri"/>
                        <a:cs typeface="Calibri"/>
                      </a:endParaRPr>
                    </a:p>
                  </a:txBody>
                  <a:tcPr marL="0" marR="0" marT="0" marB="0"/>
                </a:tc>
                <a:tc>
                  <a:txBody>
                    <a:bodyPr/>
                    <a:lstStyle/>
                    <a:p>
                      <a:pPr marL="66675">
                        <a:lnSpc>
                          <a:spcPts val="1290"/>
                        </a:lnSpc>
                      </a:pPr>
                      <a:r>
                        <a:rPr sz="1100" spc="-25" dirty="0"/>
                        <a:t>3N</a:t>
                      </a:r>
                      <a:endParaRPr sz="1100">
                        <a:latin typeface="Calibri"/>
                        <a:cs typeface="Calibri"/>
                      </a:endParaRPr>
                    </a:p>
                  </a:txBody>
                  <a:tcPr marL="0" marR="0" marT="0" marB="0"/>
                </a:tc>
                <a:tc>
                  <a:txBody>
                    <a:bodyPr/>
                    <a:lstStyle/>
                    <a:p>
                      <a:pPr marL="67945">
                        <a:lnSpc>
                          <a:spcPts val="1290"/>
                        </a:lnSpc>
                      </a:pPr>
                      <a:r>
                        <a:rPr sz="1100" spc="-25" dirty="0"/>
                        <a:t>3N</a:t>
                      </a:r>
                      <a:endParaRPr sz="1100">
                        <a:latin typeface="Calibri"/>
                        <a:cs typeface="Calibri"/>
                      </a:endParaRPr>
                    </a:p>
                  </a:txBody>
                  <a:tcPr marL="0" marR="0" marT="0" marB="0"/>
                </a:tc>
                <a:extLst>
                  <a:ext uri="{0D108BD9-81ED-4DB2-BD59-A6C34878D82A}">
                    <a16:rowId xmlns:a16="http://schemas.microsoft.com/office/drawing/2014/main" val="10001"/>
                  </a:ext>
                </a:extLst>
              </a:tr>
              <a:tr h="223378">
                <a:tc>
                  <a:txBody>
                    <a:bodyPr/>
                    <a:lstStyle/>
                    <a:p>
                      <a:pPr marL="67945">
                        <a:lnSpc>
                          <a:spcPts val="1290"/>
                        </a:lnSpc>
                      </a:pPr>
                      <a:r>
                        <a:rPr sz="1100" spc="-10" dirty="0"/>
                        <a:t>Additions</a:t>
                      </a:r>
                      <a:endParaRPr sz="1100">
                        <a:latin typeface="Calibri"/>
                        <a:cs typeface="Calibri"/>
                      </a:endParaRPr>
                    </a:p>
                  </a:txBody>
                  <a:tcPr marL="0" marR="0" marT="0" marB="0"/>
                </a:tc>
                <a:tc>
                  <a:txBody>
                    <a:bodyPr/>
                    <a:lstStyle/>
                    <a:p>
                      <a:pPr marL="68580">
                        <a:lnSpc>
                          <a:spcPts val="1290"/>
                        </a:lnSpc>
                      </a:pPr>
                      <a:r>
                        <a:rPr sz="1100" spc="-20" dirty="0"/>
                        <a:t>3N+1</a:t>
                      </a:r>
                      <a:endParaRPr sz="1100">
                        <a:latin typeface="Calibri"/>
                        <a:cs typeface="Calibri"/>
                      </a:endParaRPr>
                    </a:p>
                  </a:txBody>
                  <a:tcPr marL="0" marR="0" marT="0" marB="0"/>
                </a:tc>
                <a:tc>
                  <a:txBody>
                    <a:bodyPr/>
                    <a:lstStyle/>
                    <a:p>
                      <a:pPr marL="67945">
                        <a:lnSpc>
                          <a:spcPts val="1290"/>
                        </a:lnSpc>
                      </a:pPr>
                      <a:r>
                        <a:rPr sz="1100" spc="-25" dirty="0"/>
                        <a:t>3N</a:t>
                      </a:r>
                      <a:endParaRPr sz="1100">
                        <a:latin typeface="Calibri"/>
                        <a:cs typeface="Calibri"/>
                      </a:endParaRPr>
                    </a:p>
                  </a:txBody>
                  <a:tcPr marL="0" marR="0" marT="0" marB="0"/>
                </a:tc>
                <a:tc>
                  <a:txBody>
                    <a:bodyPr/>
                    <a:lstStyle/>
                    <a:p>
                      <a:pPr marL="66675">
                        <a:lnSpc>
                          <a:spcPts val="1290"/>
                        </a:lnSpc>
                      </a:pPr>
                      <a:r>
                        <a:rPr sz="1100" spc="-20" dirty="0"/>
                        <a:t>3N+1</a:t>
                      </a:r>
                      <a:endParaRPr sz="1100">
                        <a:latin typeface="Calibri"/>
                        <a:cs typeface="Calibri"/>
                      </a:endParaRPr>
                    </a:p>
                  </a:txBody>
                  <a:tcPr marL="0" marR="0" marT="0" marB="0"/>
                </a:tc>
                <a:tc>
                  <a:txBody>
                    <a:bodyPr/>
                    <a:lstStyle/>
                    <a:p>
                      <a:pPr marL="67945">
                        <a:lnSpc>
                          <a:spcPts val="1290"/>
                        </a:lnSpc>
                      </a:pPr>
                      <a:r>
                        <a:rPr sz="1100" spc="-20" dirty="0"/>
                        <a:t>3N+1</a:t>
                      </a:r>
                      <a:endParaRPr sz="1100">
                        <a:latin typeface="Calibri"/>
                        <a:cs typeface="Calibri"/>
                      </a:endParaRPr>
                    </a:p>
                  </a:txBody>
                  <a:tcPr marL="0" marR="0" marT="0" marB="0"/>
                </a:tc>
                <a:extLst>
                  <a:ext uri="{0D108BD9-81ED-4DB2-BD59-A6C34878D82A}">
                    <a16:rowId xmlns:a16="http://schemas.microsoft.com/office/drawing/2014/main" val="10002"/>
                  </a:ext>
                </a:extLst>
              </a:tr>
              <a:tr h="215762">
                <a:tc>
                  <a:txBody>
                    <a:bodyPr/>
                    <a:lstStyle/>
                    <a:p>
                      <a:pPr marL="67945">
                        <a:lnSpc>
                          <a:spcPts val="1290"/>
                        </a:lnSpc>
                      </a:pPr>
                      <a:r>
                        <a:rPr sz="1100" dirty="0"/>
                        <a:t>Delay</a:t>
                      </a:r>
                      <a:r>
                        <a:rPr sz="1100" spc="-50" dirty="0"/>
                        <a:t> </a:t>
                      </a:r>
                      <a:r>
                        <a:rPr sz="1100" spc="-10" dirty="0"/>
                        <a:t>Elements</a:t>
                      </a:r>
                      <a:endParaRPr sz="1100">
                        <a:latin typeface="Calibri"/>
                        <a:cs typeface="Calibri"/>
                      </a:endParaRPr>
                    </a:p>
                  </a:txBody>
                  <a:tcPr marL="0" marR="0" marT="0" marB="0"/>
                </a:tc>
                <a:tc>
                  <a:txBody>
                    <a:bodyPr/>
                    <a:lstStyle/>
                    <a:p>
                      <a:pPr marL="68580">
                        <a:lnSpc>
                          <a:spcPts val="1290"/>
                        </a:lnSpc>
                      </a:pPr>
                      <a:r>
                        <a:rPr sz="1100" dirty="0"/>
                        <a:t>0</a:t>
                      </a:r>
                      <a:endParaRPr sz="1100">
                        <a:latin typeface="Calibri"/>
                        <a:cs typeface="Calibri"/>
                      </a:endParaRPr>
                    </a:p>
                  </a:txBody>
                  <a:tcPr marL="0" marR="0" marT="0" marB="0"/>
                </a:tc>
                <a:tc>
                  <a:txBody>
                    <a:bodyPr/>
                    <a:lstStyle/>
                    <a:p>
                      <a:pPr marL="67945">
                        <a:lnSpc>
                          <a:spcPts val="1290"/>
                        </a:lnSpc>
                      </a:pPr>
                      <a:r>
                        <a:rPr sz="1100" dirty="0"/>
                        <a:t>0</a:t>
                      </a:r>
                      <a:endParaRPr sz="1100">
                        <a:latin typeface="Calibri"/>
                        <a:cs typeface="Calibri"/>
                      </a:endParaRPr>
                    </a:p>
                  </a:txBody>
                  <a:tcPr marL="0" marR="0" marT="0" marB="0"/>
                </a:tc>
                <a:tc>
                  <a:txBody>
                    <a:bodyPr/>
                    <a:lstStyle/>
                    <a:p>
                      <a:pPr marL="66675">
                        <a:lnSpc>
                          <a:spcPts val="1290"/>
                        </a:lnSpc>
                      </a:pPr>
                      <a:r>
                        <a:rPr sz="1100" dirty="0"/>
                        <a:t>1</a:t>
                      </a:r>
                      <a:endParaRPr sz="1100">
                        <a:latin typeface="Calibri"/>
                        <a:cs typeface="Calibri"/>
                      </a:endParaRPr>
                    </a:p>
                  </a:txBody>
                  <a:tcPr marL="0" marR="0" marT="0" marB="0"/>
                </a:tc>
                <a:tc>
                  <a:txBody>
                    <a:bodyPr/>
                    <a:lstStyle/>
                    <a:p>
                      <a:pPr marL="67945">
                        <a:lnSpc>
                          <a:spcPts val="1290"/>
                        </a:lnSpc>
                      </a:pPr>
                      <a:r>
                        <a:rPr sz="1100" dirty="0"/>
                        <a:t>1</a:t>
                      </a:r>
                      <a:endParaRPr sz="1100">
                        <a:latin typeface="Calibri"/>
                        <a:cs typeface="Calibri"/>
                      </a:endParaRPr>
                    </a:p>
                  </a:txBody>
                  <a:tcPr marL="0" marR="0" marT="0" marB="0"/>
                </a:tc>
                <a:extLst>
                  <a:ext uri="{0D108BD9-81ED-4DB2-BD59-A6C34878D82A}">
                    <a16:rowId xmlns:a16="http://schemas.microsoft.com/office/drawing/2014/main" val="10003"/>
                  </a:ext>
                </a:extLst>
              </a:tr>
              <a:tr h="441044">
                <a:tc>
                  <a:txBody>
                    <a:bodyPr/>
                    <a:lstStyle/>
                    <a:p>
                      <a:pPr marL="67945">
                        <a:lnSpc>
                          <a:spcPts val="1290"/>
                        </a:lnSpc>
                      </a:pPr>
                      <a:r>
                        <a:rPr sz="1100" dirty="0"/>
                        <a:t>Step</a:t>
                      </a:r>
                      <a:r>
                        <a:rPr sz="1100" spc="-45" dirty="0"/>
                        <a:t> </a:t>
                      </a:r>
                      <a:r>
                        <a:rPr sz="1100" dirty="0"/>
                        <a:t>Size</a:t>
                      </a:r>
                      <a:r>
                        <a:rPr sz="1100" spc="-40" dirty="0"/>
                        <a:t> </a:t>
                      </a:r>
                      <a:r>
                        <a:rPr sz="1100" spc="-20" dirty="0"/>
                        <a:t>Type</a:t>
                      </a:r>
                      <a:endParaRPr sz="1100">
                        <a:latin typeface="Calibri"/>
                        <a:cs typeface="Calibri"/>
                      </a:endParaRPr>
                    </a:p>
                  </a:txBody>
                  <a:tcPr marL="0" marR="0" marT="0" marB="0"/>
                </a:tc>
                <a:tc>
                  <a:txBody>
                    <a:bodyPr/>
                    <a:lstStyle/>
                    <a:p>
                      <a:pPr marL="68580">
                        <a:lnSpc>
                          <a:spcPts val="1290"/>
                        </a:lnSpc>
                      </a:pPr>
                      <a:r>
                        <a:rPr sz="1100" spc="-10" dirty="0"/>
                        <a:t>Fixed</a:t>
                      </a:r>
                      <a:endParaRPr sz="1100">
                        <a:latin typeface="Calibri"/>
                        <a:cs typeface="Calibri"/>
                      </a:endParaRPr>
                    </a:p>
                  </a:txBody>
                  <a:tcPr marL="0" marR="0" marT="0" marB="0"/>
                </a:tc>
                <a:tc>
                  <a:txBody>
                    <a:bodyPr/>
                    <a:lstStyle/>
                    <a:p>
                      <a:pPr marL="67945">
                        <a:lnSpc>
                          <a:spcPts val="1290"/>
                        </a:lnSpc>
                      </a:pPr>
                      <a:r>
                        <a:rPr sz="1100" spc="-10" dirty="0"/>
                        <a:t>Variable</a:t>
                      </a:r>
                      <a:endParaRPr sz="1100">
                        <a:latin typeface="Calibri"/>
                        <a:cs typeface="Calibri"/>
                      </a:endParaRPr>
                    </a:p>
                  </a:txBody>
                  <a:tcPr marL="0" marR="0" marT="0" marB="0"/>
                </a:tc>
                <a:tc>
                  <a:txBody>
                    <a:bodyPr/>
                    <a:lstStyle/>
                    <a:p>
                      <a:pPr marL="66675">
                        <a:lnSpc>
                          <a:spcPts val="1290"/>
                        </a:lnSpc>
                      </a:pPr>
                      <a:r>
                        <a:rPr sz="1100" spc="-10" dirty="0"/>
                        <a:t>Normalized</a:t>
                      </a:r>
                      <a:endParaRPr sz="1100"/>
                    </a:p>
                    <a:p>
                      <a:pPr marL="66675">
                        <a:lnSpc>
                          <a:spcPct val="100000"/>
                        </a:lnSpc>
                        <a:spcBef>
                          <a:spcPts val="25"/>
                        </a:spcBef>
                      </a:pPr>
                      <a:r>
                        <a:rPr sz="1100" spc="-10" dirty="0"/>
                        <a:t>input</a:t>
                      </a:r>
                      <a:endParaRPr sz="1100">
                        <a:latin typeface="Calibri"/>
                        <a:cs typeface="Calibri"/>
                      </a:endParaRPr>
                    </a:p>
                  </a:txBody>
                  <a:tcPr marL="0" marR="0" marT="0" marB="0"/>
                </a:tc>
                <a:tc>
                  <a:txBody>
                    <a:bodyPr/>
                    <a:lstStyle/>
                    <a:p>
                      <a:pPr marL="67945">
                        <a:lnSpc>
                          <a:spcPts val="1290"/>
                        </a:lnSpc>
                      </a:pPr>
                      <a:r>
                        <a:rPr sz="1100" dirty="0"/>
                        <a:t>Normalized</a:t>
                      </a:r>
                      <a:r>
                        <a:rPr sz="1100" spc="-50" dirty="0"/>
                        <a:t> </a:t>
                      </a:r>
                      <a:r>
                        <a:rPr sz="1100" spc="-20" dirty="0"/>
                        <a:t>error</a:t>
                      </a:r>
                      <a:endParaRPr sz="1100">
                        <a:latin typeface="Calibri"/>
                        <a:cs typeface="Calibri"/>
                      </a:endParaRPr>
                    </a:p>
                  </a:txBody>
                  <a:tcPr marL="0" marR="0" marT="0" marB="0"/>
                </a:tc>
                <a:extLst>
                  <a:ext uri="{0D108BD9-81ED-4DB2-BD59-A6C34878D82A}">
                    <a16:rowId xmlns:a16="http://schemas.microsoft.com/office/drawing/2014/main" val="10004"/>
                  </a:ext>
                </a:extLst>
              </a:tr>
              <a:tr h="215762">
                <a:tc>
                  <a:txBody>
                    <a:bodyPr/>
                    <a:lstStyle/>
                    <a:p>
                      <a:pPr marL="67945">
                        <a:lnSpc>
                          <a:spcPts val="1290"/>
                        </a:lnSpc>
                      </a:pPr>
                      <a:r>
                        <a:rPr sz="1100" dirty="0"/>
                        <a:t>Dynamic</a:t>
                      </a:r>
                      <a:r>
                        <a:rPr sz="1100" spc="-65" dirty="0"/>
                        <a:t> </a:t>
                      </a:r>
                      <a:r>
                        <a:rPr sz="1100" dirty="0"/>
                        <a:t>Power</a:t>
                      </a:r>
                      <a:r>
                        <a:rPr sz="1100" spc="-50" dirty="0"/>
                        <a:t> </a:t>
                      </a:r>
                      <a:r>
                        <a:rPr sz="1100" spc="-20" dirty="0"/>
                        <a:t>(mW)</a:t>
                      </a:r>
                      <a:endParaRPr sz="1100">
                        <a:latin typeface="Calibri"/>
                        <a:cs typeface="Calibri"/>
                      </a:endParaRPr>
                    </a:p>
                  </a:txBody>
                  <a:tcPr marL="0" marR="0" marT="0" marB="0"/>
                </a:tc>
                <a:tc>
                  <a:txBody>
                    <a:bodyPr/>
                    <a:lstStyle/>
                    <a:p>
                      <a:pPr marL="68580">
                        <a:lnSpc>
                          <a:spcPts val="1290"/>
                        </a:lnSpc>
                      </a:pPr>
                      <a:r>
                        <a:rPr sz="1100" spc="-25" dirty="0"/>
                        <a:t>74</a:t>
                      </a:r>
                      <a:endParaRPr sz="1100">
                        <a:latin typeface="Calibri"/>
                        <a:cs typeface="Calibri"/>
                      </a:endParaRPr>
                    </a:p>
                  </a:txBody>
                  <a:tcPr marL="0" marR="0" marT="0" marB="0"/>
                </a:tc>
                <a:tc>
                  <a:txBody>
                    <a:bodyPr/>
                    <a:lstStyle/>
                    <a:p>
                      <a:pPr marL="67945">
                        <a:lnSpc>
                          <a:spcPts val="1290"/>
                        </a:lnSpc>
                      </a:pPr>
                      <a:r>
                        <a:rPr sz="1100" dirty="0"/>
                        <a:t>—</a:t>
                      </a:r>
                      <a:endParaRPr sz="1100">
                        <a:latin typeface="Calibri"/>
                        <a:cs typeface="Calibri"/>
                      </a:endParaRPr>
                    </a:p>
                  </a:txBody>
                  <a:tcPr marL="0" marR="0" marT="0" marB="0"/>
                </a:tc>
                <a:tc>
                  <a:txBody>
                    <a:bodyPr/>
                    <a:lstStyle/>
                    <a:p>
                      <a:pPr marL="66675">
                        <a:lnSpc>
                          <a:spcPts val="1290"/>
                        </a:lnSpc>
                      </a:pPr>
                      <a:r>
                        <a:rPr sz="1100" spc="-25" dirty="0"/>
                        <a:t>64</a:t>
                      </a:r>
                      <a:endParaRPr sz="1100">
                        <a:latin typeface="Calibri"/>
                        <a:cs typeface="Calibri"/>
                      </a:endParaRPr>
                    </a:p>
                  </a:txBody>
                  <a:tcPr marL="0" marR="0" marT="0" marB="0"/>
                </a:tc>
                <a:tc>
                  <a:txBody>
                    <a:bodyPr/>
                    <a:lstStyle/>
                    <a:p>
                      <a:pPr marL="67945">
                        <a:lnSpc>
                          <a:spcPts val="1290"/>
                        </a:lnSpc>
                      </a:pPr>
                      <a:r>
                        <a:rPr sz="1100" spc="-25" dirty="0"/>
                        <a:t>42</a:t>
                      </a:r>
                      <a:endParaRPr sz="1100">
                        <a:latin typeface="Calibri"/>
                        <a:cs typeface="Calibri"/>
                      </a:endParaRPr>
                    </a:p>
                  </a:txBody>
                  <a:tcPr marL="0" marR="0" marT="0" marB="0"/>
                </a:tc>
                <a:extLst>
                  <a:ext uri="{0D108BD9-81ED-4DB2-BD59-A6C34878D82A}">
                    <a16:rowId xmlns:a16="http://schemas.microsoft.com/office/drawing/2014/main" val="10005"/>
                  </a:ext>
                </a:extLst>
              </a:tr>
              <a:tr h="223378">
                <a:tc>
                  <a:txBody>
                    <a:bodyPr/>
                    <a:lstStyle/>
                    <a:p>
                      <a:pPr marL="67945">
                        <a:lnSpc>
                          <a:spcPts val="1290"/>
                        </a:lnSpc>
                      </a:pPr>
                      <a:r>
                        <a:rPr sz="1100" dirty="0"/>
                        <a:t>Leakage</a:t>
                      </a:r>
                      <a:r>
                        <a:rPr sz="1100" spc="-15" dirty="0"/>
                        <a:t> </a:t>
                      </a:r>
                      <a:r>
                        <a:rPr sz="1100" dirty="0"/>
                        <a:t>Power</a:t>
                      </a:r>
                      <a:r>
                        <a:rPr sz="1100" spc="-25" dirty="0"/>
                        <a:t> </a:t>
                      </a:r>
                      <a:r>
                        <a:rPr sz="1100" spc="-20" dirty="0"/>
                        <a:t>(μW)</a:t>
                      </a:r>
                      <a:endParaRPr sz="1100">
                        <a:latin typeface="Calibri"/>
                        <a:cs typeface="Calibri"/>
                      </a:endParaRPr>
                    </a:p>
                  </a:txBody>
                  <a:tcPr marL="0" marR="0" marT="0" marB="0"/>
                </a:tc>
                <a:tc>
                  <a:txBody>
                    <a:bodyPr/>
                    <a:lstStyle/>
                    <a:p>
                      <a:pPr marL="68580">
                        <a:lnSpc>
                          <a:spcPts val="1290"/>
                        </a:lnSpc>
                      </a:pPr>
                      <a:r>
                        <a:rPr sz="1100" spc="-25" dirty="0"/>
                        <a:t>154</a:t>
                      </a:r>
                      <a:endParaRPr sz="1100">
                        <a:latin typeface="Calibri"/>
                        <a:cs typeface="Calibri"/>
                      </a:endParaRPr>
                    </a:p>
                  </a:txBody>
                  <a:tcPr marL="0" marR="0" marT="0" marB="0"/>
                </a:tc>
                <a:tc>
                  <a:txBody>
                    <a:bodyPr/>
                    <a:lstStyle/>
                    <a:p>
                      <a:pPr marL="67945">
                        <a:lnSpc>
                          <a:spcPts val="1290"/>
                        </a:lnSpc>
                      </a:pPr>
                      <a:r>
                        <a:rPr sz="1100" dirty="0"/>
                        <a:t>—</a:t>
                      </a:r>
                      <a:endParaRPr sz="1100">
                        <a:latin typeface="Calibri"/>
                        <a:cs typeface="Calibri"/>
                      </a:endParaRPr>
                    </a:p>
                  </a:txBody>
                  <a:tcPr marL="0" marR="0" marT="0" marB="0"/>
                </a:tc>
                <a:tc>
                  <a:txBody>
                    <a:bodyPr/>
                    <a:lstStyle/>
                    <a:p>
                      <a:pPr marL="66675">
                        <a:lnSpc>
                          <a:spcPts val="1290"/>
                        </a:lnSpc>
                      </a:pPr>
                      <a:r>
                        <a:rPr sz="1100" spc="-25" dirty="0"/>
                        <a:t>132</a:t>
                      </a:r>
                      <a:endParaRPr sz="1100">
                        <a:latin typeface="Calibri"/>
                        <a:cs typeface="Calibri"/>
                      </a:endParaRPr>
                    </a:p>
                  </a:txBody>
                  <a:tcPr marL="0" marR="0" marT="0" marB="0"/>
                </a:tc>
                <a:tc>
                  <a:txBody>
                    <a:bodyPr/>
                    <a:lstStyle/>
                    <a:p>
                      <a:pPr marL="67945">
                        <a:lnSpc>
                          <a:spcPts val="1290"/>
                        </a:lnSpc>
                      </a:pPr>
                      <a:r>
                        <a:rPr sz="1100" spc="-25" dirty="0"/>
                        <a:t>107</a:t>
                      </a:r>
                      <a:endParaRPr sz="1100">
                        <a:latin typeface="Calibri"/>
                        <a:cs typeface="Calibri"/>
                      </a:endParaRPr>
                    </a:p>
                  </a:txBody>
                  <a:tcPr marL="0" marR="0" marT="0" marB="0"/>
                </a:tc>
                <a:extLst>
                  <a:ext uri="{0D108BD9-81ED-4DB2-BD59-A6C34878D82A}">
                    <a16:rowId xmlns:a16="http://schemas.microsoft.com/office/drawing/2014/main" val="10006"/>
                  </a:ext>
                </a:extLst>
              </a:tr>
              <a:tr h="214492">
                <a:tc>
                  <a:txBody>
                    <a:bodyPr/>
                    <a:lstStyle/>
                    <a:p>
                      <a:pPr marL="67945">
                        <a:lnSpc>
                          <a:spcPts val="1290"/>
                        </a:lnSpc>
                      </a:pPr>
                      <a:r>
                        <a:rPr sz="1100" dirty="0"/>
                        <a:t>Timing</a:t>
                      </a:r>
                      <a:r>
                        <a:rPr sz="1100" spc="-40" dirty="0"/>
                        <a:t> </a:t>
                      </a:r>
                      <a:r>
                        <a:rPr sz="1100" dirty="0"/>
                        <a:t>Slack</a:t>
                      </a:r>
                      <a:r>
                        <a:rPr sz="1100" spc="-45" dirty="0"/>
                        <a:t> </a:t>
                      </a:r>
                      <a:r>
                        <a:rPr sz="1100" spc="-20" dirty="0"/>
                        <a:t>(ns)</a:t>
                      </a:r>
                      <a:endParaRPr sz="1100">
                        <a:latin typeface="Calibri"/>
                        <a:cs typeface="Calibri"/>
                      </a:endParaRPr>
                    </a:p>
                  </a:txBody>
                  <a:tcPr marL="0" marR="0" marT="0" marB="0"/>
                </a:tc>
                <a:tc>
                  <a:txBody>
                    <a:bodyPr/>
                    <a:lstStyle/>
                    <a:p>
                      <a:pPr marL="68580">
                        <a:lnSpc>
                          <a:spcPts val="1290"/>
                        </a:lnSpc>
                      </a:pPr>
                      <a:r>
                        <a:rPr sz="1100" spc="-20" dirty="0"/>
                        <a:t>0.27</a:t>
                      </a:r>
                      <a:endParaRPr sz="1100">
                        <a:latin typeface="Calibri"/>
                        <a:cs typeface="Calibri"/>
                      </a:endParaRPr>
                    </a:p>
                  </a:txBody>
                  <a:tcPr marL="0" marR="0" marT="0" marB="0"/>
                </a:tc>
                <a:tc>
                  <a:txBody>
                    <a:bodyPr/>
                    <a:lstStyle/>
                    <a:p>
                      <a:pPr marL="67945">
                        <a:lnSpc>
                          <a:spcPts val="1290"/>
                        </a:lnSpc>
                      </a:pPr>
                      <a:r>
                        <a:rPr sz="1100" dirty="0"/>
                        <a:t>—</a:t>
                      </a:r>
                      <a:endParaRPr sz="1100">
                        <a:latin typeface="Calibri"/>
                        <a:cs typeface="Calibri"/>
                      </a:endParaRPr>
                    </a:p>
                  </a:txBody>
                  <a:tcPr marL="0" marR="0" marT="0" marB="0"/>
                </a:tc>
                <a:tc>
                  <a:txBody>
                    <a:bodyPr/>
                    <a:lstStyle/>
                    <a:p>
                      <a:pPr marL="66675">
                        <a:lnSpc>
                          <a:spcPts val="1290"/>
                        </a:lnSpc>
                      </a:pPr>
                      <a:r>
                        <a:rPr sz="1100" spc="-20" dirty="0"/>
                        <a:t>0.31</a:t>
                      </a:r>
                      <a:endParaRPr sz="1100">
                        <a:latin typeface="Calibri"/>
                        <a:cs typeface="Calibri"/>
                      </a:endParaRPr>
                    </a:p>
                  </a:txBody>
                  <a:tcPr marL="0" marR="0" marT="0" marB="0"/>
                </a:tc>
                <a:tc>
                  <a:txBody>
                    <a:bodyPr/>
                    <a:lstStyle/>
                    <a:p>
                      <a:pPr marL="67945">
                        <a:lnSpc>
                          <a:spcPts val="1290"/>
                        </a:lnSpc>
                      </a:pPr>
                      <a:r>
                        <a:rPr sz="1100" spc="-20" dirty="0"/>
                        <a:t>0.19</a:t>
                      </a:r>
                      <a:endParaRPr sz="1100" dirty="0">
                        <a:latin typeface="Calibri"/>
                        <a:cs typeface="Calibri"/>
                      </a:endParaRPr>
                    </a:p>
                  </a:txBody>
                  <a:tcPr marL="0" marR="0" marT="0" marB="0"/>
                </a:tc>
                <a:extLst>
                  <a:ext uri="{0D108BD9-81ED-4DB2-BD59-A6C34878D82A}">
                    <a16:rowId xmlns:a16="http://schemas.microsoft.com/office/drawing/2014/main" val="10007"/>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2" name="object 2">
            <a:extLst>
              <a:ext uri="{FF2B5EF4-FFF2-40B4-BE49-F238E27FC236}">
                <a16:creationId xmlns:a16="http://schemas.microsoft.com/office/drawing/2014/main" id="{E0F0D990-7A89-9CFE-B14F-5ECB358942AB}"/>
              </a:ext>
            </a:extLst>
          </p:cNvPr>
          <p:cNvGraphicFramePr>
            <a:graphicFrameLocks noGrp="1"/>
          </p:cNvGraphicFramePr>
          <p:nvPr>
            <p:extLst>
              <p:ext uri="{D42A27DB-BD31-4B8C-83A1-F6EECF244321}">
                <p14:modId xmlns:p14="http://schemas.microsoft.com/office/powerpoint/2010/main" val="138053827"/>
              </p:ext>
            </p:extLst>
          </p:nvPr>
        </p:nvGraphicFramePr>
        <p:xfrm>
          <a:off x="1143000" y="914400"/>
          <a:ext cx="6278563" cy="663574"/>
        </p:xfrm>
        <a:graphic>
          <a:graphicData uri="http://schemas.openxmlformats.org/drawingml/2006/table">
            <a:tbl>
              <a:tblPr firstRow="1" bandRow="1">
                <a:tableStyleId>{5940675A-B579-460E-94D1-54222C63F5DA}</a:tableStyleId>
              </a:tblPr>
              <a:tblGrid>
                <a:gridCol w="1475965">
                  <a:extLst>
                    <a:ext uri="{9D8B030D-6E8A-4147-A177-3AD203B41FA5}">
                      <a16:colId xmlns:a16="http://schemas.microsoft.com/office/drawing/2014/main" val="20000"/>
                    </a:ext>
                  </a:extLst>
                </a:gridCol>
                <a:gridCol w="1099352">
                  <a:extLst>
                    <a:ext uri="{9D8B030D-6E8A-4147-A177-3AD203B41FA5}">
                      <a16:colId xmlns:a16="http://schemas.microsoft.com/office/drawing/2014/main" val="20001"/>
                    </a:ext>
                  </a:extLst>
                </a:gridCol>
                <a:gridCol w="1101257">
                  <a:extLst>
                    <a:ext uri="{9D8B030D-6E8A-4147-A177-3AD203B41FA5}">
                      <a16:colId xmlns:a16="http://schemas.microsoft.com/office/drawing/2014/main" val="20002"/>
                    </a:ext>
                  </a:extLst>
                </a:gridCol>
                <a:gridCol w="1099986">
                  <a:extLst>
                    <a:ext uri="{9D8B030D-6E8A-4147-A177-3AD203B41FA5}">
                      <a16:colId xmlns:a16="http://schemas.microsoft.com/office/drawing/2014/main" val="20003"/>
                    </a:ext>
                  </a:extLst>
                </a:gridCol>
                <a:gridCol w="1502003">
                  <a:extLst>
                    <a:ext uri="{9D8B030D-6E8A-4147-A177-3AD203B41FA5}">
                      <a16:colId xmlns:a16="http://schemas.microsoft.com/office/drawing/2014/main" val="20004"/>
                    </a:ext>
                  </a:extLst>
                </a:gridCol>
              </a:tblGrid>
              <a:tr h="224154">
                <a:tc>
                  <a:txBody>
                    <a:bodyPr/>
                    <a:lstStyle/>
                    <a:p>
                      <a:pPr marL="67945">
                        <a:lnSpc>
                          <a:spcPts val="1290"/>
                        </a:lnSpc>
                      </a:pPr>
                      <a:r>
                        <a:rPr sz="1100" dirty="0"/>
                        <a:t>Critical</a:t>
                      </a:r>
                      <a:r>
                        <a:rPr sz="1100" spc="-55" dirty="0"/>
                        <a:t> </a:t>
                      </a:r>
                      <a:r>
                        <a:rPr sz="1100" spc="-10" dirty="0"/>
                        <a:t>Paths</a:t>
                      </a:r>
                      <a:endParaRPr sz="1100">
                        <a:latin typeface="Calibri"/>
                        <a:cs typeface="Calibri"/>
                      </a:endParaRPr>
                    </a:p>
                  </a:txBody>
                  <a:tcPr marL="0" marR="0" marT="0" marB="0"/>
                </a:tc>
                <a:tc>
                  <a:txBody>
                    <a:bodyPr/>
                    <a:lstStyle/>
                    <a:p>
                      <a:pPr marL="68580">
                        <a:lnSpc>
                          <a:spcPts val="1290"/>
                        </a:lnSpc>
                      </a:pPr>
                      <a:r>
                        <a:rPr sz="1100" spc="-25" dirty="0"/>
                        <a:t>56</a:t>
                      </a:r>
                      <a:endParaRPr sz="1100">
                        <a:latin typeface="Calibri"/>
                        <a:cs typeface="Calibri"/>
                      </a:endParaRPr>
                    </a:p>
                  </a:txBody>
                  <a:tcPr marL="0" marR="0" marT="0" marB="0"/>
                </a:tc>
                <a:tc>
                  <a:txBody>
                    <a:bodyPr/>
                    <a:lstStyle/>
                    <a:p>
                      <a:pPr marL="67945">
                        <a:lnSpc>
                          <a:spcPts val="1290"/>
                        </a:lnSpc>
                      </a:pPr>
                      <a:r>
                        <a:rPr sz="1100" dirty="0"/>
                        <a:t>—</a:t>
                      </a:r>
                      <a:endParaRPr sz="1100">
                        <a:latin typeface="Calibri"/>
                        <a:cs typeface="Calibri"/>
                      </a:endParaRPr>
                    </a:p>
                  </a:txBody>
                  <a:tcPr marL="0" marR="0" marT="0" marB="0"/>
                </a:tc>
                <a:tc>
                  <a:txBody>
                    <a:bodyPr/>
                    <a:lstStyle/>
                    <a:p>
                      <a:pPr marL="66675">
                        <a:lnSpc>
                          <a:spcPts val="1290"/>
                        </a:lnSpc>
                      </a:pPr>
                      <a:r>
                        <a:rPr sz="1100" spc="-25" dirty="0"/>
                        <a:t>304</a:t>
                      </a:r>
                      <a:endParaRPr sz="1100">
                        <a:latin typeface="Calibri"/>
                        <a:cs typeface="Calibri"/>
                      </a:endParaRPr>
                    </a:p>
                  </a:txBody>
                  <a:tcPr marL="0" marR="0" marT="0" marB="0"/>
                </a:tc>
                <a:tc>
                  <a:txBody>
                    <a:bodyPr/>
                    <a:lstStyle/>
                    <a:p>
                      <a:pPr marL="67945">
                        <a:lnSpc>
                          <a:spcPts val="1290"/>
                        </a:lnSpc>
                      </a:pPr>
                      <a:r>
                        <a:rPr sz="1100" spc="-25" dirty="0"/>
                        <a:t>322</a:t>
                      </a:r>
                      <a:endParaRPr sz="1100">
                        <a:latin typeface="Calibri"/>
                        <a:cs typeface="Calibri"/>
                      </a:endParaRPr>
                    </a:p>
                  </a:txBody>
                  <a:tcPr marL="0" marR="0" marT="0" marB="0"/>
                </a:tc>
                <a:extLst>
                  <a:ext uri="{0D108BD9-81ED-4DB2-BD59-A6C34878D82A}">
                    <a16:rowId xmlns:a16="http://schemas.microsoft.com/office/drawing/2014/main" val="10000"/>
                  </a:ext>
                </a:extLst>
              </a:tr>
              <a:tr h="215900">
                <a:tc>
                  <a:txBody>
                    <a:bodyPr/>
                    <a:lstStyle/>
                    <a:p>
                      <a:pPr marL="67945">
                        <a:lnSpc>
                          <a:spcPts val="1290"/>
                        </a:lnSpc>
                      </a:pPr>
                      <a:r>
                        <a:rPr sz="1100" dirty="0"/>
                        <a:t>Total</a:t>
                      </a:r>
                      <a:r>
                        <a:rPr sz="1100" spc="-50" dirty="0"/>
                        <a:t> </a:t>
                      </a:r>
                      <a:r>
                        <a:rPr sz="1100" dirty="0"/>
                        <a:t>4-input</a:t>
                      </a:r>
                      <a:r>
                        <a:rPr sz="1100" spc="-45" dirty="0"/>
                        <a:t> </a:t>
                      </a:r>
                      <a:r>
                        <a:rPr sz="1100" spc="-20" dirty="0"/>
                        <a:t>LUTs</a:t>
                      </a:r>
                      <a:endParaRPr sz="1100">
                        <a:latin typeface="Calibri"/>
                        <a:cs typeface="Calibri"/>
                      </a:endParaRPr>
                    </a:p>
                  </a:txBody>
                  <a:tcPr marL="0" marR="0" marT="0" marB="0"/>
                </a:tc>
                <a:tc>
                  <a:txBody>
                    <a:bodyPr/>
                    <a:lstStyle/>
                    <a:p>
                      <a:pPr marL="68580">
                        <a:lnSpc>
                          <a:spcPts val="1290"/>
                        </a:lnSpc>
                      </a:pPr>
                      <a:r>
                        <a:rPr sz="1100" spc="-20" dirty="0"/>
                        <a:t>7213</a:t>
                      </a:r>
                      <a:endParaRPr sz="1100">
                        <a:latin typeface="Calibri"/>
                        <a:cs typeface="Calibri"/>
                      </a:endParaRPr>
                    </a:p>
                  </a:txBody>
                  <a:tcPr marL="0" marR="0" marT="0" marB="0"/>
                </a:tc>
                <a:tc>
                  <a:txBody>
                    <a:bodyPr/>
                    <a:lstStyle/>
                    <a:p>
                      <a:pPr marL="67945">
                        <a:lnSpc>
                          <a:spcPts val="1290"/>
                        </a:lnSpc>
                      </a:pPr>
                      <a:r>
                        <a:rPr sz="1100" dirty="0"/>
                        <a:t>—</a:t>
                      </a:r>
                      <a:endParaRPr sz="1100">
                        <a:latin typeface="Calibri"/>
                        <a:cs typeface="Calibri"/>
                      </a:endParaRPr>
                    </a:p>
                  </a:txBody>
                  <a:tcPr marL="0" marR="0" marT="0" marB="0"/>
                </a:tc>
                <a:tc>
                  <a:txBody>
                    <a:bodyPr/>
                    <a:lstStyle/>
                    <a:p>
                      <a:pPr marL="66675">
                        <a:lnSpc>
                          <a:spcPts val="1290"/>
                        </a:lnSpc>
                      </a:pPr>
                      <a:r>
                        <a:rPr sz="1100" spc="-20" dirty="0"/>
                        <a:t>8725</a:t>
                      </a:r>
                      <a:endParaRPr sz="1100">
                        <a:latin typeface="Calibri"/>
                        <a:cs typeface="Calibri"/>
                      </a:endParaRPr>
                    </a:p>
                  </a:txBody>
                  <a:tcPr marL="0" marR="0" marT="0" marB="0"/>
                </a:tc>
                <a:tc>
                  <a:txBody>
                    <a:bodyPr/>
                    <a:lstStyle/>
                    <a:p>
                      <a:pPr marL="67945">
                        <a:lnSpc>
                          <a:spcPts val="1290"/>
                        </a:lnSpc>
                      </a:pPr>
                      <a:r>
                        <a:rPr sz="1100" spc="-20" dirty="0"/>
                        <a:t>8790</a:t>
                      </a:r>
                      <a:endParaRPr sz="1100">
                        <a:latin typeface="Calibri"/>
                        <a:cs typeface="Calibri"/>
                      </a:endParaRPr>
                    </a:p>
                  </a:txBody>
                  <a:tcPr marL="0" marR="0" marT="0" marB="0"/>
                </a:tc>
                <a:extLst>
                  <a:ext uri="{0D108BD9-81ED-4DB2-BD59-A6C34878D82A}">
                    <a16:rowId xmlns:a16="http://schemas.microsoft.com/office/drawing/2014/main" val="10001"/>
                  </a:ext>
                </a:extLst>
              </a:tr>
              <a:tr h="223520">
                <a:tc>
                  <a:txBody>
                    <a:bodyPr/>
                    <a:lstStyle/>
                    <a:p>
                      <a:pPr marL="67945">
                        <a:lnSpc>
                          <a:spcPts val="1290"/>
                        </a:lnSpc>
                      </a:pPr>
                      <a:r>
                        <a:rPr sz="1100" dirty="0"/>
                        <a:t>MSE</a:t>
                      </a:r>
                      <a:r>
                        <a:rPr sz="1100" spc="-40" dirty="0"/>
                        <a:t> </a:t>
                      </a:r>
                      <a:r>
                        <a:rPr sz="1100" dirty="0"/>
                        <a:t>(8th</a:t>
                      </a:r>
                      <a:r>
                        <a:rPr sz="1100" spc="-40" dirty="0"/>
                        <a:t> </a:t>
                      </a:r>
                      <a:r>
                        <a:rPr sz="1100" spc="-10" dirty="0"/>
                        <a:t>iteration)</a:t>
                      </a:r>
                      <a:endParaRPr sz="1100" dirty="0">
                        <a:latin typeface="Calibri"/>
                        <a:cs typeface="Calibri"/>
                      </a:endParaRPr>
                    </a:p>
                  </a:txBody>
                  <a:tcPr marL="0" marR="0" marT="0" marB="0"/>
                </a:tc>
                <a:tc>
                  <a:txBody>
                    <a:bodyPr/>
                    <a:lstStyle/>
                    <a:p>
                      <a:pPr marL="68580">
                        <a:lnSpc>
                          <a:spcPts val="1290"/>
                        </a:lnSpc>
                      </a:pPr>
                      <a:r>
                        <a:rPr sz="1100" spc="-10" dirty="0"/>
                        <a:t>38,403</a:t>
                      </a:r>
                      <a:endParaRPr sz="1100">
                        <a:latin typeface="Calibri"/>
                        <a:cs typeface="Calibri"/>
                      </a:endParaRPr>
                    </a:p>
                  </a:txBody>
                  <a:tcPr marL="0" marR="0" marT="0" marB="0"/>
                </a:tc>
                <a:tc>
                  <a:txBody>
                    <a:bodyPr/>
                    <a:lstStyle/>
                    <a:p>
                      <a:pPr marL="67945">
                        <a:lnSpc>
                          <a:spcPts val="1290"/>
                        </a:lnSpc>
                      </a:pPr>
                      <a:r>
                        <a:rPr sz="1100" dirty="0"/>
                        <a:t>—</a:t>
                      </a:r>
                      <a:endParaRPr sz="1100">
                        <a:latin typeface="Calibri"/>
                        <a:cs typeface="Calibri"/>
                      </a:endParaRPr>
                    </a:p>
                  </a:txBody>
                  <a:tcPr marL="0" marR="0" marT="0" marB="0"/>
                </a:tc>
                <a:tc>
                  <a:txBody>
                    <a:bodyPr/>
                    <a:lstStyle/>
                    <a:p>
                      <a:pPr marL="66675">
                        <a:lnSpc>
                          <a:spcPts val="1290"/>
                        </a:lnSpc>
                      </a:pPr>
                      <a:r>
                        <a:rPr sz="1100" spc="-10" dirty="0"/>
                        <a:t>Higher</a:t>
                      </a:r>
                      <a:endParaRPr sz="1100">
                        <a:latin typeface="Calibri"/>
                        <a:cs typeface="Calibri"/>
                      </a:endParaRPr>
                    </a:p>
                  </a:txBody>
                  <a:tcPr marL="0" marR="0" marT="0" marB="0"/>
                </a:tc>
                <a:tc>
                  <a:txBody>
                    <a:bodyPr/>
                    <a:lstStyle/>
                    <a:p>
                      <a:pPr marL="67945">
                        <a:lnSpc>
                          <a:spcPts val="1290"/>
                        </a:lnSpc>
                      </a:pPr>
                      <a:r>
                        <a:rPr sz="1100" spc="-10" dirty="0"/>
                        <a:t>34,647</a:t>
                      </a:r>
                      <a:endParaRPr sz="1100" dirty="0">
                        <a:latin typeface="Calibri"/>
                        <a:cs typeface="Calibri"/>
                      </a:endParaRPr>
                    </a:p>
                  </a:txBody>
                  <a:tcPr marL="0" marR="0" marT="0" marB="0"/>
                </a:tc>
                <a:extLst>
                  <a:ext uri="{0D108BD9-81ED-4DB2-BD59-A6C34878D82A}">
                    <a16:rowId xmlns:a16="http://schemas.microsoft.com/office/drawing/2014/main" val="10002"/>
                  </a:ext>
                </a:extLst>
              </a:tr>
            </a:tbl>
          </a:graphicData>
        </a:graphic>
      </p:graphicFrame>
      <p:sp>
        <p:nvSpPr>
          <p:cNvPr id="3" name="object 3">
            <a:extLst>
              <a:ext uri="{FF2B5EF4-FFF2-40B4-BE49-F238E27FC236}">
                <a16:creationId xmlns:a16="http://schemas.microsoft.com/office/drawing/2014/main" id="{36301258-7992-698B-48D8-90DBE5CAA216}"/>
              </a:ext>
            </a:extLst>
          </p:cNvPr>
          <p:cNvSpPr txBox="1"/>
          <p:nvPr/>
        </p:nvSpPr>
        <p:spPr>
          <a:xfrm>
            <a:off x="1130300" y="2214563"/>
            <a:ext cx="5670550" cy="1643062"/>
          </a:xfrm>
          <a:prstGeom prst="rect">
            <a:avLst/>
          </a:prstGeom>
        </p:spPr>
        <p:txBody>
          <a:bodyPr lIns="0" tIns="10795" rIns="0" bIns="0">
            <a:spAutoFit/>
          </a:bodyPr>
          <a:lstStyle>
            <a:lvl1pPr marL="12700">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lnSpc>
                <a:spcPct val="101000"/>
              </a:lnSpc>
              <a:spcBef>
                <a:spcPts val="88"/>
              </a:spcBef>
            </a:pPr>
            <a:r>
              <a:rPr lang="en-US" altLang="en-US" sz="1100">
                <a:solidFill>
                  <a:srgbClr val="000000"/>
                </a:solidFill>
                <a:latin typeface="Calibri" panose="020F0502020204030204" pitchFamily="34" charset="0"/>
                <a:cs typeface="Calibri" panose="020F0502020204030204" pitchFamily="34" charset="0"/>
              </a:rPr>
              <a:t>From</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the</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comparative</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analysis,</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the</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TDLMS</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algorithm</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is</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computationally</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expensive</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due</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to</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its</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high</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multiplication</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requirement</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(6N+1)</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compared</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to</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others</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(3N).</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The</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ENLMS</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algorithm</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provides</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a</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good</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balance</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but</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is</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limited</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by</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a</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long</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critical</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path.</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The</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DNLMS</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algorithm</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introduces</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pipelining</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but</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lacks</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error</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normalization,</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affecting</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performance</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in</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high-noise</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conditions.</a:t>
            </a:r>
          </a:p>
          <a:p>
            <a:pPr eaLnBrk="1" hangingPunct="1">
              <a:spcBef>
                <a:spcPts val="13"/>
              </a:spcBef>
            </a:pPr>
            <a:endParaRPr lang="en-US" altLang="en-US" sz="1100">
              <a:solidFill>
                <a:srgbClr val="000000"/>
              </a:solidFill>
              <a:latin typeface="Calibri" panose="020F0502020204030204" pitchFamily="34" charset="0"/>
              <a:cs typeface="Calibri" panose="020F0502020204030204" pitchFamily="34" charset="0"/>
            </a:endParaRPr>
          </a:p>
          <a:p>
            <a:pPr eaLnBrk="1" hangingPunct="1">
              <a:lnSpc>
                <a:spcPct val="101000"/>
              </a:lnSpc>
            </a:pPr>
            <a:r>
              <a:rPr lang="en-US" altLang="en-US" sz="1100">
                <a:solidFill>
                  <a:srgbClr val="000000"/>
                </a:solidFill>
                <a:latin typeface="Calibri" panose="020F0502020204030204" pitchFamily="34" charset="0"/>
                <a:cs typeface="Calibri" panose="020F0502020204030204" pitchFamily="34" charset="0"/>
              </a:rPr>
              <a:t>The</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proposed</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DENLMS</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algorithm</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combines</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error</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normalization</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with</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a</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pipelined</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architecture</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using</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delayed</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feedback.</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It</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achieves</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lower</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power</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consumption</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(42</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mW),</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better</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timing</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slack</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(0.19</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ns),</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and</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improved</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mean</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square</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error,</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making</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it</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suitable</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for</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real-time</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FPGA-based</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ECG</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noise</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removal</a:t>
            </a:r>
            <a:r>
              <a:rPr lang="en-US" altLang="en-US" sz="1200">
                <a:solidFill>
                  <a:srgbClr val="000000"/>
                </a:solidFill>
                <a:latin typeface="Times New Roman" panose="02020603050405020304" pitchFamily="18" charset="0"/>
                <a:cs typeface="Times New Roman" panose="02020603050405020304" pitchFamily="18" charset="0"/>
              </a:rPr>
              <a:t>.</a:t>
            </a:r>
          </a:p>
          <a:p>
            <a:pPr eaLnBrk="1" hangingPunct="1">
              <a:spcBef>
                <a:spcPts val="475"/>
              </a:spcBef>
            </a:pPr>
            <a:r>
              <a:rPr lang="en-US" altLang="en-US" sz="1200">
                <a:solidFill>
                  <a:srgbClr val="000000"/>
                </a:solidFill>
                <a:latin typeface="Times New Roman" panose="02020603050405020304" pitchFamily="18" charset="0"/>
                <a:cs typeface="Times New Roman" panose="02020603050405020304" pitchFamily="18" charset="0"/>
              </a:rPr>
              <a:t>.</a:t>
            </a:r>
          </a:p>
        </p:txBody>
      </p:sp>
      <p:sp>
        <p:nvSpPr>
          <p:cNvPr id="4" name="object 4">
            <a:extLst>
              <a:ext uri="{FF2B5EF4-FFF2-40B4-BE49-F238E27FC236}">
                <a16:creationId xmlns:a16="http://schemas.microsoft.com/office/drawing/2014/main" id="{7E21154B-9E61-00FC-BC17-D3FFD09EDC34}"/>
              </a:ext>
            </a:extLst>
          </p:cNvPr>
          <p:cNvSpPr txBox="1"/>
          <p:nvPr/>
        </p:nvSpPr>
        <p:spPr>
          <a:xfrm>
            <a:off x="1130300" y="4371975"/>
            <a:ext cx="5741988" cy="817563"/>
          </a:xfrm>
          <a:prstGeom prst="rect">
            <a:avLst/>
          </a:prstGeom>
        </p:spPr>
        <p:txBody>
          <a:bodyPr lIns="0" tIns="13335" rIns="0" bIns="0">
            <a:spAutoFit/>
          </a:bodyPr>
          <a:lstStyle>
            <a:lvl1pPr marL="12700">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ts val="100"/>
              </a:spcBef>
            </a:pPr>
            <a:r>
              <a:rPr lang="en-US" altLang="en-US" sz="1400" b="1">
                <a:solidFill>
                  <a:srgbClr val="2D75B6"/>
                </a:solidFill>
                <a:latin typeface="Times New Roman" panose="02020603050405020304" pitchFamily="18" charset="0"/>
                <a:cs typeface="Times New Roman" panose="02020603050405020304" pitchFamily="18" charset="0"/>
              </a:rPr>
              <a:t>2.3</a:t>
            </a:r>
            <a:r>
              <a:rPr lang="en-US" altLang="en-US" sz="1400">
                <a:solidFill>
                  <a:srgbClr val="2D75B6"/>
                </a:solidFill>
                <a:latin typeface="Times New Roman" panose="02020603050405020304" pitchFamily="18" charset="0"/>
                <a:cs typeface="Times New Roman" panose="02020603050405020304" pitchFamily="18" charset="0"/>
              </a:rPr>
              <a:t> </a:t>
            </a:r>
            <a:r>
              <a:rPr lang="en-US" altLang="en-US" sz="1400" b="1">
                <a:solidFill>
                  <a:srgbClr val="2D75B6"/>
                </a:solidFill>
                <a:latin typeface="Times New Roman" panose="02020603050405020304" pitchFamily="18" charset="0"/>
                <a:cs typeface="Times New Roman" panose="02020603050405020304" pitchFamily="18" charset="0"/>
              </a:rPr>
              <a:t>Research</a:t>
            </a:r>
            <a:r>
              <a:rPr lang="en-US" altLang="en-US" sz="1400">
                <a:solidFill>
                  <a:srgbClr val="2D75B6"/>
                </a:solidFill>
                <a:latin typeface="Times New Roman" panose="02020603050405020304" pitchFamily="18" charset="0"/>
                <a:cs typeface="Times New Roman" panose="02020603050405020304" pitchFamily="18" charset="0"/>
              </a:rPr>
              <a:t> </a:t>
            </a:r>
            <a:r>
              <a:rPr lang="en-US" altLang="en-US" sz="1400" b="1">
                <a:solidFill>
                  <a:srgbClr val="2D75B6"/>
                </a:solidFill>
                <a:latin typeface="Times New Roman" panose="02020603050405020304" pitchFamily="18" charset="0"/>
                <a:cs typeface="Times New Roman" panose="02020603050405020304" pitchFamily="18" charset="0"/>
              </a:rPr>
              <a:t>Gap</a:t>
            </a:r>
            <a:r>
              <a:rPr lang="en-US" altLang="en-US" sz="1400">
                <a:solidFill>
                  <a:srgbClr val="2D75B6"/>
                </a:solidFill>
                <a:latin typeface="Times New Roman" panose="02020603050405020304" pitchFamily="18" charset="0"/>
                <a:cs typeface="Times New Roman" panose="02020603050405020304" pitchFamily="18" charset="0"/>
              </a:rPr>
              <a:t> </a:t>
            </a:r>
            <a:r>
              <a:rPr lang="en-US" altLang="en-US" sz="1400" b="1">
                <a:solidFill>
                  <a:srgbClr val="2D75B6"/>
                </a:solidFill>
                <a:latin typeface="Times New Roman" panose="02020603050405020304" pitchFamily="18" charset="0"/>
                <a:cs typeface="Times New Roman" panose="02020603050405020304" pitchFamily="18" charset="0"/>
              </a:rPr>
              <a:t>Identification</a:t>
            </a:r>
            <a:endParaRPr lang="en-US" altLang="en-US" sz="1400">
              <a:solidFill>
                <a:srgbClr val="000000"/>
              </a:solidFill>
              <a:latin typeface="Times New Roman" panose="02020603050405020304" pitchFamily="18" charset="0"/>
              <a:cs typeface="Times New Roman" panose="02020603050405020304" pitchFamily="18" charset="0"/>
            </a:endParaRPr>
          </a:p>
          <a:p>
            <a:pPr eaLnBrk="1" hangingPunct="1">
              <a:lnSpc>
                <a:spcPct val="144000"/>
              </a:lnSpc>
              <a:spcBef>
                <a:spcPts val="750"/>
              </a:spcBef>
            </a:pPr>
            <a:r>
              <a:rPr lang="en-US" altLang="en-US" sz="1100">
                <a:solidFill>
                  <a:srgbClr val="000000"/>
                </a:solidFill>
                <a:latin typeface="Calibri" panose="020F0502020204030204" pitchFamily="34" charset="0"/>
                <a:cs typeface="Calibri" panose="020F0502020204030204" pitchFamily="34" charset="0"/>
              </a:rPr>
              <a:t>Based</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on</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the</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comprehensive</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review</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and</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comparative</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analysis,</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the</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following</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critical</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research</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gaps</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have</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been</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identified</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in</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the</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existing</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literature:</a:t>
            </a:r>
          </a:p>
        </p:txBody>
      </p:sp>
      <p:sp>
        <p:nvSpPr>
          <p:cNvPr id="5" name="object 5">
            <a:extLst>
              <a:ext uri="{FF2B5EF4-FFF2-40B4-BE49-F238E27FC236}">
                <a16:creationId xmlns:a16="http://schemas.microsoft.com/office/drawing/2014/main" id="{DD6AFB84-4530-DEEE-3224-19AE631B9807}"/>
              </a:ext>
            </a:extLst>
          </p:cNvPr>
          <p:cNvSpPr txBox="1"/>
          <p:nvPr/>
        </p:nvSpPr>
        <p:spPr>
          <a:xfrm>
            <a:off x="1130300" y="5600700"/>
            <a:ext cx="5591175" cy="3263900"/>
          </a:xfrm>
          <a:prstGeom prst="rect">
            <a:avLst/>
          </a:prstGeom>
        </p:spPr>
        <p:txBody>
          <a:bodyPr lIns="0" tIns="13335" rIns="0" bIns="0">
            <a:spAutoFit/>
          </a:bodyPr>
          <a:lstStyle>
            <a:lvl1pPr marL="114300" indent="-101600">
              <a:tabLst>
                <a:tab pos="114300" algn="l"/>
              </a:tabLst>
              <a:defRPr>
                <a:solidFill>
                  <a:schemeClr val="tx1"/>
                </a:solidFill>
                <a:latin typeface="Arial" panose="020B0604020202020204" pitchFamily="34" charset="0"/>
              </a:defRPr>
            </a:lvl1pPr>
            <a:lvl2pPr marL="742950" indent="-285750">
              <a:tabLst>
                <a:tab pos="114300" algn="l"/>
              </a:tabLst>
              <a:defRPr>
                <a:solidFill>
                  <a:schemeClr val="tx1"/>
                </a:solidFill>
                <a:latin typeface="Arial" panose="020B0604020202020204" pitchFamily="34" charset="0"/>
              </a:defRPr>
            </a:lvl2pPr>
            <a:lvl3pPr marL="1143000" indent="-228600">
              <a:tabLst>
                <a:tab pos="114300" algn="l"/>
              </a:tabLst>
              <a:defRPr>
                <a:solidFill>
                  <a:schemeClr val="tx1"/>
                </a:solidFill>
                <a:latin typeface="Arial" panose="020B0604020202020204" pitchFamily="34" charset="0"/>
              </a:defRPr>
            </a:lvl3pPr>
            <a:lvl4pPr marL="1600200" indent="-228600">
              <a:tabLst>
                <a:tab pos="114300" algn="l"/>
              </a:tabLst>
              <a:defRPr>
                <a:solidFill>
                  <a:schemeClr val="tx1"/>
                </a:solidFill>
                <a:latin typeface="Arial" panose="020B0604020202020204" pitchFamily="34" charset="0"/>
              </a:defRPr>
            </a:lvl4pPr>
            <a:lvl5pPr marL="2057400" indent="-228600">
              <a:tabLst>
                <a:tab pos="114300" algn="l"/>
              </a:tabLst>
              <a:defRPr>
                <a:solidFill>
                  <a:schemeClr val="tx1"/>
                </a:solidFill>
                <a:latin typeface="Arial" panose="020B0604020202020204" pitchFamily="34" charset="0"/>
              </a:defRPr>
            </a:lvl5pPr>
            <a:lvl6pPr marL="2514600" indent="-228600" eaLnBrk="0" fontAlgn="base" hangingPunct="0">
              <a:spcBef>
                <a:spcPct val="0"/>
              </a:spcBef>
              <a:spcAft>
                <a:spcPct val="0"/>
              </a:spcAft>
              <a:tabLst>
                <a:tab pos="114300" algn="l"/>
              </a:tabLst>
              <a:defRPr>
                <a:solidFill>
                  <a:schemeClr val="tx1"/>
                </a:solidFill>
                <a:latin typeface="Arial" panose="020B0604020202020204" pitchFamily="34" charset="0"/>
              </a:defRPr>
            </a:lvl6pPr>
            <a:lvl7pPr marL="2971800" indent="-228600" eaLnBrk="0" fontAlgn="base" hangingPunct="0">
              <a:spcBef>
                <a:spcPct val="0"/>
              </a:spcBef>
              <a:spcAft>
                <a:spcPct val="0"/>
              </a:spcAft>
              <a:tabLst>
                <a:tab pos="114300" algn="l"/>
              </a:tabLst>
              <a:defRPr>
                <a:solidFill>
                  <a:schemeClr val="tx1"/>
                </a:solidFill>
                <a:latin typeface="Arial" panose="020B0604020202020204" pitchFamily="34" charset="0"/>
              </a:defRPr>
            </a:lvl7pPr>
            <a:lvl8pPr marL="3429000" indent="-228600" eaLnBrk="0" fontAlgn="base" hangingPunct="0">
              <a:spcBef>
                <a:spcPct val="0"/>
              </a:spcBef>
              <a:spcAft>
                <a:spcPct val="0"/>
              </a:spcAft>
              <a:tabLst>
                <a:tab pos="114300" algn="l"/>
              </a:tabLst>
              <a:defRPr>
                <a:solidFill>
                  <a:schemeClr val="tx1"/>
                </a:solidFill>
                <a:latin typeface="Arial" panose="020B0604020202020204" pitchFamily="34" charset="0"/>
              </a:defRPr>
            </a:lvl8pPr>
            <a:lvl9pPr marL="3886200" indent="-228600" eaLnBrk="0" fontAlgn="base" hangingPunct="0">
              <a:spcBef>
                <a:spcPct val="0"/>
              </a:spcBef>
              <a:spcAft>
                <a:spcPct val="0"/>
              </a:spcAft>
              <a:tabLst>
                <a:tab pos="114300" algn="l"/>
              </a:tabLst>
              <a:defRPr>
                <a:solidFill>
                  <a:schemeClr val="tx1"/>
                </a:solidFill>
                <a:latin typeface="Arial" panose="020B0604020202020204" pitchFamily="34" charset="0"/>
              </a:defRPr>
            </a:lvl9pPr>
          </a:lstStyle>
          <a:p>
            <a:pPr eaLnBrk="1" hangingPunct="1">
              <a:spcBef>
                <a:spcPts val="100"/>
              </a:spcBef>
              <a:buFontTx/>
              <a:buChar char="•"/>
            </a:pPr>
            <a:r>
              <a:rPr lang="en-US" altLang="en-US" sz="1100">
                <a:solidFill>
                  <a:srgbClr val="000000"/>
                </a:solidFill>
                <a:latin typeface="Calibri" panose="020F0502020204030204" pitchFamily="34" charset="0"/>
                <a:cs typeface="Calibri" panose="020F0502020204030204" pitchFamily="34" charset="0"/>
              </a:rPr>
              <a:t>Gap 1 — Software-Based</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Processing</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Limitation:</a:t>
            </a:r>
          </a:p>
          <a:p>
            <a:pPr eaLnBrk="1" hangingPunct="1">
              <a:lnSpc>
                <a:spcPct val="102000"/>
              </a:lnSpc>
            </a:pPr>
            <a:r>
              <a:rPr lang="en-US" altLang="en-US" sz="1100">
                <a:solidFill>
                  <a:srgbClr val="000000"/>
                </a:solidFill>
                <a:latin typeface="Calibri" panose="020F0502020204030204" pitchFamily="34" charset="0"/>
                <a:cs typeface="Calibri" panose="020F0502020204030204" pitchFamily="34" charset="0"/>
              </a:rPr>
              <a:t>Most</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ECG</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noise</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removal</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methods</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are</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implemented</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in</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software</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using</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DSP</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or</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MATLAB.</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These</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designs</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lack</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real-time</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processing</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capability</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due</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to</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high</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latency.</a:t>
            </a:r>
          </a:p>
          <a:p>
            <a:pPr eaLnBrk="1" hangingPunct="1">
              <a:spcBef>
                <a:spcPts val="13"/>
              </a:spcBef>
            </a:pPr>
            <a:r>
              <a:rPr lang="en-US" altLang="en-US" sz="1100">
                <a:solidFill>
                  <a:srgbClr val="000000"/>
                </a:solidFill>
                <a:latin typeface="Calibri" panose="020F0502020204030204" pitchFamily="34" charset="0"/>
                <a:cs typeface="Calibri" panose="020F0502020204030204" pitchFamily="34" charset="0"/>
              </a:rPr>
              <a:t>Improvement</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needed:</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Faster</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processing</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is</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required</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to</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handle</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continuous</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real-time</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ECG</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signals.</a:t>
            </a:r>
          </a:p>
          <a:p>
            <a:pPr eaLnBrk="1" hangingPunct="1">
              <a:spcBef>
                <a:spcPts val="25"/>
              </a:spcBef>
            </a:pPr>
            <a:endParaRPr lang="en-US" altLang="en-US" sz="1100">
              <a:solidFill>
                <a:srgbClr val="000000"/>
              </a:solidFill>
              <a:latin typeface="Calibri" panose="020F0502020204030204" pitchFamily="34" charset="0"/>
              <a:cs typeface="Calibri" panose="020F0502020204030204" pitchFamily="34" charset="0"/>
            </a:endParaRPr>
          </a:p>
          <a:p>
            <a:pPr eaLnBrk="1" hangingPunct="1">
              <a:buFontTx/>
              <a:buChar char="•"/>
            </a:pPr>
            <a:r>
              <a:rPr lang="en-US" altLang="en-US" sz="1100">
                <a:solidFill>
                  <a:srgbClr val="000000"/>
                </a:solidFill>
                <a:latin typeface="Calibri" panose="020F0502020204030204" pitchFamily="34" charset="0"/>
                <a:cs typeface="Calibri" panose="020F0502020204030204" pitchFamily="34" charset="0"/>
              </a:rPr>
              <a:t>Gap 2 — High</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Power</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Consumption:</a:t>
            </a:r>
          </a:p>
          <a:p>
            <a:pPr eaLnBrk="1" hangingPunct="1">
              <a:lnSpc>
                <a:spcPct val="102000"/>
              </a:lnSpc>
            </a:pPr>
            <a:r>
              <a:rPr lang="en-US" altLang="en-US" sz="1100">
                <a:solidFill>
                  <a:srgbClr val="000000"/>
                </a:solidFill>
                <a:latin typeface="Calibri" panose="020F0502020204030204" pitchFamily="34" charset="0"/>
                <a:cs typeface="Calibri" panose="020F0502020204030204" pitchFamily="34" charset="0"/>
              </a:rPr>
              <a:t>Software-based</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filtering</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techniques</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consume</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high</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power</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on</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general-purpose</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processors.</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This</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makes</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them</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unsuitable</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for</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wearable</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and</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battery-powered</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devices.</a:t>
            </a:r>
          </a:p>
          <a:p>
            <a:pPr eaLnBrk="1" hangingPunct="1">
              <a:spcBef>
                <a:spcPts val="25"/>
              </a:spcBef>
            </a:pPr>
            <a:r>
              <a:rPr lang="en-US" altLang="en-US" sz="1100">
                <a:solidFill>
                  <a:srgbClr val="000000"/>
                </a:solidFill>
                <a:latin typeface="Calibri" panose="020F0502020204030204" pitchFamily="34" charset="0"/>
                <a:cs typeface="Calibri" panose="020F0502020204030204" pitchFamily="34" charset="0"/>
              </a:rPr>
              <a:t>Improvement</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needed:</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Low-power</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hardware</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solutions</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are</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required</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for</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long-term</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monitoring.</a:t>
            </a:r>
          </a:p>
          <a:p>
            <a:pPr eaLnBrk="1" hangingPunct="1">
              <a:spcBef>
                <a:spcPts val="25"/>
              </a:spcBef>
            </a:pPr>
            <a:endParaRPr lang="en-US" altLang="en-US" sz="1100">
              <a:solidFill>
                <a:srgbClr val="000000"/>
              </a:solidFill>
              <a:latin typeface="Calibri" panose="020F0502020204030204" pitchFamily="34" charset="0"/>
              <a:cs typeface="Calibri" panose="020F0502020204030204" pitchFamily="34" charset="0"/>
            </a:endParaRPr>
          </a:p>
          <a:p>
            <a:pPr eaLnBrk="1" hangingPunct="1">
              <a:buFontTx/>
              <a:buChar char="•"/>
            </a:pPr>
            <a:r>
              <a:rPr lang="en-US" altLang="en-US" sz="1100">
                <a:solidFill>
                  <a:srgbClr val="000000"/>
                </a:solidFill>
                <a:latin typeface="Calibri" panose="020F0502020204030204" pitchFamily="34" charset="0"/>
                <a:cs typeface="Calibri" panose="020F0502020204030204" pitchFamily="34" charset="0"/>
              </a:rPr>
              <a:t>Gap 3 — Inefficient</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FPGA</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Architectures:</a:t>
            </a:r>
          </a:p>
          <a:p>
            <a:pPr eaLnBrk="1" hangingPunct="1">
              <a:lnSpc>
                <a:spcPct val="102000"/>
              </a:lnSpc>
            </a:pPr>
            <a:r>
              <a:rPr lang="en-US" altLang="en-US" sz="1100">
                <a:solidFill>
                  <a:srgbClr val="000000"/>
                </a:solidFill>
                <a:latin typeface="Calibri" panose="020F0502020204030204" pitchFamily="34" charset="0"/>
                <a:cs typeface="Calibri" panose="020F0502020204030204" pitchFamily="34" charset="0"/>
              </a:rPr>
              <a:t>Existing</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FPGA-based</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LMS</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filters</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mostly</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use</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non-pipelined</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designs</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with</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long</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critical</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paths.</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These</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designs</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limit</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operating</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speed</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and</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throughput.</a:t>
            </a:r>
          </a:p>
          <a:p>
            <a:pPr eaLnBrk="1" hangingPunct="1">
              <a:spcBef>
                <a:spcPts val="13"/>
              </a:spcBef>
            </a:pPr>
            <a:r>
              <a:rPr lang="en-US" altLang="en-US" sz="1100">
                <a:solidFill>
                  <a:srgbClr val="000000"/>
                </a:solidFill>
                <a:latin typeface="Calibri" panose="020F0502020204030204" pitchFamily="34" charset="0"/>
                <a:cs typeface="Calibri" panose="020F0502020204030204" pitchFamily="34" charset="0"/>
              </a:rPr>
              <a:t>Improvement</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needed:</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Efficient</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pipelined</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architectures</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are</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required</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to</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improve</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speed.</a:t>
            </a:r>
          </a:p>
          <a:p>
            <a:pPr eaLnBrk="1" hangingPunct="1">
              <a:spcBef>
                <a:spcPts val="25"/>
              </a:spcBef>
            </a:pPr>
            <a:endParaRPr lang="en-US" altLang="en-US" sz="1100">
              <a:solidFill>
                <a:srgbClr val="000000"/>
              </a:solidFill>
              <a:latin typeface="Calibri" panose="020F0502020204030204" pitchFamily="34" charset="0"/>
              <a:cs typeface="Calibri" panose="020F0502020204030204" pitchFamily="34" charset="0"/>
            </a:endParaRPr>
          </a:p>
          <a:p>
            <a:pPr eaLnBrk="1" hangingPunct="1">
              <a:buFontTx/>
              <a:buChar char="•"/>
            </a:pPr>
            <a:r>
              <a:rPr lang="en-US" altLang="en-US" sz="1100">
                <a:solidFill>
                  <a:srgbClr val="000000"/>
                </a:solidFill>
                <a:latin typeface="Calibri" panose="020F0502020204030204" pitchFamily="34" charset="0"/>
                <a:cs typeface="Calibri" panose="020F0502020204030204" pitchFamily="34" charset="0"/>
              </a:rPr>
              <a:t>Gap 4 — Missing</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Error</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Normalization:</a:t>
            </a:r>
          </a:p>
          <a:p>
            <a:pPr eaLnBrk="1" hangingPunct="1">
              <a:lnSpc>
                <a:spcPct val="102000"/>
              </a:lnSpc>
            </a:pPr>
            <a:r>
              <a:rPr lang="en-US" altLang="en-US" sz="1100">
                <a:solidFill>
                  <a:srgbClr val="000000"/>
                </a:solidFill>
                <a:latin typeface="Calibri" panose="020F0502020204030204" pitchFamily="34" charset="0"/>
                <a:cs typeface="Calibri" panose="020F0502020204030204" pitchFamily="34" charset="0"/>
              </a:rPr>
              <a:t>Many</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pipelined</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FPGA</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designs</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do</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not</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include</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error</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normalization.</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This</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results</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in</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poor</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convergence</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under</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varying</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noise</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conditions.</a:t>
            </a:r>
          </a:p>
          <a:p>
            <a:pPr eaLnBrk="1" hangingPunct="1">
              <a:spcBef>
                <a:spcPts val="25"/>
              </a:spcBef>
            </a:pPr>
            <a:r>
              <a:rPr lang="en-US" altLang="en-US" sz="1100">
                <a:solidFill>
                  <a:srgbClr val="000000"/>
                </a:solidFill>
                <a:latin typeface="Calibri" panose="020F0502020204030204" pitchFamily="34" charset="0"/>
                <a:cs typeface="Calibri" panose="020F0502020204030204" pitchFamily="34" charset="0"/>
              </a:rPr>
              <a:t>Improvement</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needed:</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Stable</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and</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adaptive</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filtering</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requires</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proper</a:t>
            </a:r>
            <a:r>
              <a:rPr lang="en-US" altLang="en-US" sz="1100">
                <a:solidFill>
                  <a:srgbClr val="000000"/>
                </a:solidFill>
                <a:latin typeface="Times New Roman" panose="02020603050405020304" pitchFamily="18" charset="0"/>
                <a:cs typeface="Times New Roman" panose="02020603050405020304" pitchFamily="18" charset="0"/>
              </a:rPr>
              <a:t> </a:t>
            </a:r>
            <a:r>
              <a:rPr lang="en-US" altLang="en-US" sz="1100">
                <a:solidFill>
                  <a:srgbClr val="000000"/>
                </a:solidFill>
                <a:latin typeface="Calibri" panose="020F0502020204030204" pitchFamily="34" charset="0"/>
                <a:cs typeface="Calibri" panose="020F0502020204030204" pitchFamily="34" charset="0"/>
              </a:rPr>
              <a:t>normalization.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a:extLst>
              <a:ext uri="{FF2B5EF4-FFF2-40B4-BE49-F238E27FC236}">
                <a16:creationId xmlns:a16="http://schemas.microsoft.com/office/drawing/2014/main" id="{8FFDA141-87D7-984D-78BD-27E21605944E}"/>
              </a:ext>
            </a:extLst>
          </p:cNvPr>
          <p:cNvSpPr txBox="1"/>
          <p:nvPr/>
        </p:nvSpPr>
        <p:spPr>
          <a:xfrm>
            <a:off x="1130300" y="893763"/>
            <a:ext cx="5621338" cy="876300"/>
          </a:xfrm>
          <a:prstGeom prst="rect">
            <a:avLst/>
          </a:prstGeom>
        </p:spPr>
        <p:txBody>
          <a:bodyPr lIns="0" tIns="13335" rIns="0" bIns="0">
            <a:spAutoFit/>
          </a:bodyPr>
          <a:lstStyle>
            <a:lvl1pPr marL="114300" indent="-101600">
              <a:tabLst>
                <a:tab pos="114300" algn="l"/>
              </a:tabLst>
              <a:defRPr>
                <a:solidFill>
                  <a:schemeClr val="tx1"/>
                </a:solidFill>
                <a:latin typeface="Arial" panose="020B0604020202020204" pitchFamily="34" charset="0"/>
              </a:defRPr>
            </a:lvl1pPr>
            <a:lvl2pPr marL="742950" indent="-285750">
              <a:tabLst>
                <a:tab pos="114300" algn="l"/>
              </a:tabLst>
              <a:defRPr>
                <a:solidFill>
                  <a:schemeClr val="tx1"/>
                </a:solidFill>
                <a:latin typeface="Arial" panose="020B0604020202020204" pitchFamily="34" charset="0"/>
              </a:defRPr>
            </a:lvl2pPr>
            <a:lvl3pPr marL="1143000" indent="-228600">
              <a:tabLst>
                <a:tab pos="114300" algn="l"/>
              </a:tabLst>
              <a:defRPr>
                <a:solidFill>
                  <a:schemeClr val="tx1"/>
                </a:solidFill>
                <a:latin typeface="Arial" panose="020B0604020202020204" pitchFamily="34" charset="0"/>
              </a:defRPr>
            </a:lvl3pPr>
            <a:lvl4pPr marL="1600200" indent="-228600">
              <a:tabLst>
                <a:tab pos="114300" algn="l"/>
              </a:tabLst>
              <a:defRPr>
                <a:solidFill>
                  <a:schemeClr val="tx1"/>
                </a:solidFill>
                <a:latin typeface="Arial" panose="020B0604020202020204" pitchFamily="34" charset="0"/>
              </a:defRPr>
            </a:lvl4pPr>
            <a:lvl5pPr marL="2057400" indent="-228600">
              <a:tabLst>
                <a:tab pos="114300" algn="l"/>
              </a:tabLst>
              <a:defRPr>
                <a:solidFill>
                  <a:schemeClr val="tx1"/>
                </a:solidFill>
                <a:latin typeface="Arial" panose="020B0604020202020204" pitchFamily="34" charset="0"/>
              </a:defRPr>
            </a:lvl5pPr>
            <a:lvl6pPr marL="2514600" indent="-228600" eaLnBrk="0" fontAlgn="base" hangingPunct="0">
              <a:spcBef>
                <a:spcPct val="0"/>
              </a:spcBef>
              <a:spcAft>
                <a:spcPct val="0"/>
              </a:spcAft>
              <a:tabLst>
                <a:tab pos="114300" algn="l"/>
              </a:tabLst>
              <a:defRPr>
                <a:solidFill>
                  <a:schemeClr val="tx1"/>
                </a:solidFill>
                <a:latin typeface="Arial" panose="020B0604020202020204" pitchFamily="34" charset="0"/>
              </a:defRPr>
            </a:lvl6pPr>
            <a:lvl7pPr marL="2971800" indent="-228600" eaLnBrk="0" fontAlgn="base" hangingPunct="0">
              <a:spcBef>
                <a:spcPct val="0"/>
              </a:spcBef>
              <a:spcAft>
                <a:spcPct val="0"/>
              </a:spcAft>
              <a:tabLst>
                <a:tab pos="114300" algn="l"/>
              </a:tabLst>
              <a:defRPr>
                <a:solidFill>
                  <a:schemeClr val="tx1"/>
                </a:solidFill>
                <a:latin typeface="Arial" panose="020B0604020202020204" pitchFamily="34" charset="0"/>
              </a:defRPr>
            </a:lvl7pPr>
            <a:lvl8pPr marL="3429000" indent="-228600" eaLnBrk="0" fontAlgn="base" hangingPunct="0">
              <a:spcBef>
                <a:spcPct val="0"/>
              </a:spcBef>
              <a:spcAft>
                <a:spcPct val="0"/>
              </a:spcAft>
              <a:tabLst>
                <a:tab pos="114300" algn="l"/>
              </a:tabLst>
              <a:defRPr>
                <a:solidFill>
                  <a:schemeClr val="tx1"/>
                </a:solidFill>
                <a:latin typeface="Arial" panose="020B0604020202020204" pitchFamily="34" charset="0"/>
              </a:defRPr>
            </a:lvl8pPr>
            <a:lvl9pPr marL="3886200" indent="-228600" eaLnBrk="0" fontAlgn="base" hangingPunct="0">
              <a:spcBef>
                <a:spcPct val="0"/>
              </a:spcBef>
              <a:spcAft>
                <a:spcPct val="0"/>
              </a:spcAft>
              <a:tabLst>
                <a:tab pos="114300" algn="l"/>
              </a:tabLst>
              <a:defRPr>
                <a:solidFill>
                  <a:schemeClr val="tx1"/>
                </a:solidFill>
                <a:latin typeface="Arial" panose="020B0604020202020204" pitchFamily="34" charset="0"/>
              </a:defRPr>
            </a:lvl9pPr>
          </a:lstStyle>
          <a:p>
            <a:pPr eaLnBrk="1" hangingPunct="1">
              <a:spcBef>
                <a:spcPts val="100"/>
              </a:spcBef>
              <a:buFontTx/>
              <a:buChar char="•"/>
            </a:pPr>
            <a:r>
              <a:rPr lang="en-US" altLang="en-US" sz="1100" dirty="0">
                <a:solidFill>
                  <a:srgbClr val="000000"/>
                </a:solidFill>
                <a:latin typeface="Calibri" panose="020F0502020204030204" pitchFamily="34" charset="0"/>
                <a:cs typeface="Calibri" panose="020F0502020204030204" pitchFamily="34" charset="0"/>
              </a:rPr>
              <a:t>Gap 5 — Lack</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of</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Combined</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Optimization:</a:t>
            </a:r>
          </a:p>
          <a:p>
            <a:pPr eaLnBrk="1" hangingPunct="1">
              <a:lnSpc>
                <a:spcPct val="102000"/>
              </a:lnSpc>
            </a:pPr>
            <a:r>
              <a:rPr lang="en-US" altLang="en-US" sz="1100" dirty="0">
                <a:solidFill>
                  <a:srgbClr val="000000"/>
                </a:solidFill>
                <a:latin typeface="Calibri" panose="020F0502020204030204" pitchFamily="34" charset="0"/>
                <a:cs typeface="Calibri" panose="020F0502020204030204" pitchFamily="34" charset="0"/>
              </a:rPr>
              <a:t>Existing</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designs</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focus</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either</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on</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pipelining</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(speed)</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or</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filtering</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accuracy,</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but</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do</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not</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optimize</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both</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together.</a:t>
            </a:r>
          </a:p>
          <a:p>
            <a:pPr eaLnBrk="1" hangingPunct="1">
              <a:lnSpc>
                <a:spcPct val="101000"/>
              </a:lnSpc>
              <a:spcBef>
                <a:spcPts val="13"/>
              </a:spcBef>
            </a:pPr>
            <a:r>
              <a:rPr lang="en-US" altLang="en-US" sz="1100" dirty="0">
                <a:solidFill>
                  <a:srgbClr val="000000"/>
                </a:solidFill>
                <a:latin typeface="Calibri" panose="020F0502020204030204" pitchFamily="34" charset="0"/>
                <a:cs typeface="Calibri" panose="020F0502020204030204" pitchFamily="34" charset="0"/>
              </a:rPr>
              <a:t>Improvement</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needed:</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A</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balanced</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architecture</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is</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required</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that</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achieves</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both</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high</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speed</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and</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good</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convergence.</a:t>
            </a:r>
          </a:p>
        </p:txBody>
      </p:sp>
      <p:sp>
        <p:nvSpPr>
          <p:cNvPr id="3" name="object 3">
            <a:extLst>
              <a:ext uri="{FF2B5EF4-FFF2-40B4-BE49-F238E27FC236}">
                <a16:creationId xmlns:a16="http://schemas.microsoft.com/office/drawing/2014/main" id="{587FF218-8FDD-2318-C768-965F6C6CD94D}"/>
              </a:ext>
            </a:extLst>
          </p:cNvPr>
          <p:cNvSpPr txBox="1"/>
          <p:nvPr/>
        </p:nvSpPr>
        <p:spPr>
          <a:xfrm>
            <a:off x="1130300" y="2670175"/>
            <a:ext cx="4108450" cy="268288"/>
          </a:xfrm>
          <a:prstGeom prst="rect">
            <a:avLst/>
          </a:prstGeom>
        </p:spPr>
        <p:txBody>
          <a:bodyPr lIns="0" tIns="12065" rIns="0" bIns="0">
            <a:spAutoFit/>
          </a:bodyPr>
          <a:lstStyle/>
          <a:p>
            <a:pPr marL="12700" eaLnBrk="1" fontAlgn="auto" hangingPunct="1">
              <a:spcBef>
                <a:spcPts val="95"/>
              </a:spcBef>
              <a:spcAft>
                <a:spcPts val="0"/>
              </a:spcAft>
              <a:defRPr/>
            </a:pPr>
            <a:r>
              <a:rPr sz="1600" b="1" kern="0" dirty="0">
                <a:solidFill>
                  <a:srgbClr val="1F4E79"/>
                </a:solidFill>
                <a:latin typeface="Times New Roman"/>
                <a:cs typeface="Times New Roman"/>
              </a:rPr>
              <a:t>CHAPTER</a:t>
            </a:r>
            <a:r>
              <a:rPr sz="1600" kern="0" spc="-60" dirty="0">
                <a:solidFill>
                  <a:srgbClr val="1F4E79"/>
                </a:solidFill>
                <a:latin typeface="Times New Roman"/>
                <a:cs typeface="Times New Roman"/>
              </a:rPr>
              <a:t> </a:t>
            </a:r>
            <a:r>
              <a:rPr sz="1600" b="1" kern="0" dirty="0">
                <a:solidFill>
                  <a:srgbClr val="1F4E79"/>
                </a:solidFill>
                <a:latin typeface="Times New Roman"/>
                <a:cs typeface="Times New Roman"/>
              </a:rPr>
              <a:t>3:</a:t>
            </a:r>
            <a:r>
              <a:rPr sz="1600" kern="0" spc="-45" dirty="0">
                <a:solidFill>
                  <a:srgbClr val="1F4E79"/>
                </a:solidFill>
                <a:latin typeface="Times New Roman"/>
                <a:cs typeface="Times New Roman"/>
              </a:rPr>
              <a:t> </a:t>
            </a:r>
            <a:r>
              <a:rPr sz="1600" b="1" kern="0" spc="-10" dirty="0">
                <a:solidFill>
                  <a:srgbClr val="1F4E79"/>
                </a:solidFill>
                <a:latin typeface="Times New Roman"/>
                <a:cs typeface="Times New Roman"/>
              </a:rPr>
              <a:t>PROPOSED</a:t>
            </a:r>
            <a:r>
              <a:rPr sz="1600" kern="0" spc="-45" dirty="0">
                <a:solidFill>
                  <a:srgbClr val="1F4E79"/>
                </a:solidFill>
                <a:latin typeface="Times New Roman"/>
                <a:cs typeface="Times New Roman"/>
              </a:rPr>
              <a:t> </a:t>
            </a:r>
            <a:r>
              <a:rPr sz="1600" b="1" kern="0" dirty="0">
                <a:solidFill>
                  <a:srgbClr val="1F4E79"/>
                </a:solidFill>
                <a:latin typeface="Times New Roman"/>
                <a:cs typeface="Times New Roman"/>
              </a:rPr>
              <a:t>SYSTEM</a:t>
            </a:r>
            <a:r>
              <a:rPr sz="1600" kern="0" spc="-50" dirty="0">
                <a:solidFill>
                  <a:srgbClr val="1F4E79"/>
                </a:solidFill>
                <a:latin typeface="Times New Roman"/>
                <a:cs typeface="Times New Roman"/>
              </a:rPr>
              <a:t> </a:t>
            </a:r>
            <a:r>
              <a:rPr sz="1600" b="1" kern="0" spc="-10" dirty="0">
                <a:solidFill>
                  <a:srgbClr val="1F4E79"/>
                </a:solidFill>
                <a:latin typeface="Times New Roman"/>
                <a:cs typeface="Times New Roman"/>
              </a:rPr>
              <a:t>DESIGN</a:t>
            </a:r>
            <a:endParaRPr sz="1600" kern="0">
              <a:solidFill>
                <a:sysClr val="windowText" lastClr="000000"/>
              </a:solidFill>
              <a:latin typeface="Times New Roman"/>
              <a:cs typeface="Times New Roman"/>
            </a:endParaRPr>
          </a:p>
        </p:txBody>
      </p:sp>
      <p:sp>
        <p:nvSpPr>
          <p:cNvPr id="7172" name="object 4">
            <a:extLst>
              <a:ext uri="{FF2B5EF4-FFF2-40B4-BE49-F238E27FC236}">
                <a16:creationId xmlns:a16="http://schemas.microsoft.com/office/drawing/2014/main" id="{E408DA6B-62BB-3ADD-32F4-C2562702384B}"/>
              </a:ext>
            </a:extLst>
          </p:cNvPr>
          <p:cNvSpPr>
            <a:spLocks/>
          </p:cNvSpPr>
          <p:nvPr/>
        </p:nvSpPr>
        <p:spPr bwMode="auto">
          <a:xfrm>
            <a:off x="1125538" y="3402013"/>
            <a:ext cx="5751512" cy="6350"/>
          </a:xfrm>
          <a:custGeom>
            <a:avLst/>
            <a:gdLst>
              <a:gd name="T0" fmla="*/ 5752459 w 5752465"/>
              <a:gd name="T1" fmla="*/ 0 h 6350"/>
              <a:gd name="T2" fmla="*/ 0 w 5752465"/>
              <a:gd name="T3" fmla="*/ 0 h 6350"/>
              <a:gd name="T4" fmla="*/ 0 w 5752465"/>
              <a:gd name="T5" fmla="*/ 6095 h 6350"/>
              <a:gd name="T6" fmla="*/ 5752459 w 5752465"/>
              <a:gd name="T7" fmla="*/ 6095 h 6350"/>
              <a:gd name="T8" fmla="*/ 5752459 w 5752465"/>
              <a:gd name="T9" fmla="*/ 0 h 6350"/>
            </a:gdLst>
            <a:ahLst/>
            <a:cxnLst>
              <a:cxn ang="0">
                <a:pos x="T0" y="T1"/>
              </a:cxn>
              <a:cxn ang="0">
                <a:pos x="T2" y="T3"/>
              </a:cxn>
              <a:cxn ang="0">
                <a:pos x="T4" y="T5"/>
              </a:cxn>
              <a:cxn ang="0">
                <a:pos x="T6" y="T7"/>
              </a:cxn>
              <a:cxn ang="0">
                <a:pos x="T8" y="T9"/>
              </a:cxn>
            </a:cxnLst>
            <a:rect l="0" t="0" r="r" b="b"/>
            <a:pathLst>
              <a:path w="5752465" h="6350">
                <a:moveTo>
                  <a:pt x="5752459" y="0"/>
                </a:moveTo>
                <a:lnTo>
                  <a:pt x="0" y="0"/>
                </a:lnTo>
                <a:lnTo>
                  <a:pt x="0" y="6095"/>
                </a:lnTo>
                <a:lnTo>
                  <a:pt x="5752459" y="6095"/>
                </a:lnTo>
                <a:lnTo>
                  <a:pt x="5752459" y="0"/>
                </a:lnTo>
                <a:close/>
              </a:path>
            </a:pathLst>
          </a:custGeom>
          <a:solidFill>
            <a:srgbClr val="2D75B6"/>
          </a:solidFill>
          <a:ln>
            <a:noFill/>
          </a:ln>
          <a:extLst>
            <a:ext uri="{91240B29-F687-4F45-9708-019B960494DF}">
              <a14:hiddenLine xmlns:a14="http://schemas.microsoft.com/office/drawing/2010/main" w="9525">
                <a:solidFill>
                  <a:srgbClr val="000000"/>
                </a:solidFill>
                <a:round/>
                <a:headEnd/>
                <a:tailEnd/>
              </a14:hiddenLine>
            </a:ext>
          </a:extLst>
        </p:spPr>
        <p:txBody>
          <a:bodyPr lIns="0" tIns="0" rIns="0" bIns="0"/>
          <a:lstStyle/>
          <a:p>
            <a:endParaRPr lang="en-IN"/>
          </a:p>
        </p:txBody>
      </p:sp>
      <p:sp>
        <p:nvSpPr>
          <p:cNvPr id="5" name="object 5">
            <a:extLst>
              <a:ext uri="{FF2B5EF4-FFF2-40B4-BE49-F238E27FC236}">
                <a16:creationId xmlns:a16="http://schemas.microsoft.com/office/drawing/2014/main" id="{ADDF6C8C-6755-0D95-5E2C-398742BF1476}"/>
              </a:ext>
            </a:extLst>
          </p:cNvPr>
          <p:cNvSpPr txBox="1"/>
          <p:nvPr/>
        </p:nvSpPr>
        <p:spPr>
          <a:xfrm>
            <a:off x="1130300" y="3549650"/>
            <a:ext cx="5654675" cy="2622550"/>
          </a:xfrm>
          <a:prstGeom prst="rect">
            <a:avLst/>
          </a:prstGeom>
        </p:spPr>
        <p:txBody>
          <a:bodyPr lIns="0" tIns="13335" rIns="0" bIns="0">
            <a:spAutoFit/>
          </a:bodyPr>
          <a:lstStyle>
            <a:lvl1pPr marL="12700">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ts val="100"/>
              </a:spcBef>
            </a:pPr>
            <a:r>
              <a:rPr lang="en-US" altLang="en-US" sz="1400" b="1" dirty="0">
                <a:solidFill>
                  <a:srgbClr val="2D75B6"/>
                </a:solidFill>
                <a:latin typeface="Times New Roman" panose="02020603050405020304" pitchFamily="18" charset="0"/>
                <a:cs typeface="Times New Roman" panose="02020603050405020304" pitchFamily="18" charset="0"/>
              </a:rPr>
              <a:t>3.1</a:t>
            </a:r>
            <a:r>
              <a:rPr lang="en-US" altLang="en-US" sz="1400" dirty="0">
                <a:solidFill>
                  <a:srgbClr val="2D75B6"/>
                </a:solidFill>
                <a:latin typeface="Times New Roman" panose="02020603050405020304" pitchFamily="18" charset="0"/>
                <a:cs typeface="Times New Roman" panose="02020603050405020304" pitchFamily="18" charset="0"/>
              </a:rPr>
              <a:t> </a:t>
            </a:r>
            <a:r>
              <a:rPr lang="en-US" altLang="en-US" sz="1400" b="1" dirty="0">
                <a:solidFill>
                  <a:srgbClr val="2D75B6"/>
                </a:solidFill>
                <a:latin typeface="Times New Roman" panose="02020603050405020304" pitchFamily="18" charset="0"/>
                <a:cs typeface="Times New Roman" panose="02020603050405020304" pitchFamily="18" charset="0"/>
              </a:rPr>
              <a:t>Design</a:t>
            </a:r>
            <a:r>
              <a:rPr lang="en-US" altLang="en-US" sz="1400" dirty="0">
                <a:solidFill>
                  <a:srgbClr val="2D75B6"/>
                </a:solidFill>
                <a:latin typeface="Times New Roman" panose="02020603050405020304" pitchFamily="18" charset="0"/>
                <a:cs typeface="Times New Roman" panose="02020603050405020304" pitchFamily="18" charset="0"/>
              </a:rPr>
              <a:t> </a:t>
            </a:r>
            <a:r>
              <a:rPr lang="en-US" altLang="en-US" sz="1400" b="1" dirty="0">
                <a:solidFill>
                  <a:srgbClr val="2D75B6"/>
                </a:solidFill>
                <a:latin typeface="Times New Roman" panose="02020603050405020304" pitchFamily="18" charset="0"/>
                <a:cs typeface="Times New Roman" panose="02020603050405020304" pitchFamily="18" charset="0"/>
              </a:rPr>
              <a:t>Justification</a:t>
            </a:r>
            <a:endParaRPr lang="en-US" altLang="en-US" sz="1400" dirty="0">
              <a:solidFill>
                <a:srgbClr val="000000"/>
              </a:solidFill>
              <a:latin typeface="Times New Roman" panose="02020603050405020304" pitchFamily="18" charset="0"/>
              <a:cs typeface="Times New Roman" panose="02020603050405020304" pitchFamily="18" charset="0"/>
            </a:endParaRPr>
          </a:p>
          <a:p>
            <a:pPr eaLnBrk="1" hangingPunct="1">
              <a:lnSpc>
                <a:spcPct val="102000"/>
              </a:lnSpc>
              <a:spcBef>
                <a:spcPts val="1300"/>
              </a:spcBef>
            </a:pPr>
            <a:r>
              <a:rPr lang="en-US" altLang="en-US" sz="1100" dirty="0">
                <a:solidFill>
                  <a:srgbClr val="000000"/>
                </a:solidFill>
                <a:latin typeface="Calibri" panose="020F0502020204030204" pitchFamily="34" charset="0"/>
                <a:cs typeface="Calibri" panose="020F0502020204030204" pitchFamily="34" charset="0"/>
              </a:rPr>
              <a:t>A</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pipelined</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DENLMS</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adaptive</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filter</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architecture</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is</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selected</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for</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FPGA</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implementation</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to</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achieve</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efficient</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real-time</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ECG</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noise</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removal</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with</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improved</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speed</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and</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reduced</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power</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consumption.</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The</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pipelined</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structure</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introduces</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delay</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in</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the</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error</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feedback</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path,</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which</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reduces</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the</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critical</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path</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length</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and</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allows</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higher</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operating</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frequency.</a:t>
            </a:r>
          </a:p>
          <a:p>
            <a:pPr eaLnBrk="1" hangingPunct="1"/>
            <a:endParaRPr lang="en-US" altLang="en-US" sz="1100" dirty="0">
              <a:solidFill>
                <a:srgbClr val="000000"/>
              </a:solidFill>
              <a:latin typeface="Calibri" panose="020F0502020204030204" pitchFamily="34" charset="0"/>
              <a:cs typeface="Calibri" panose="020F0502020204030204" pitchFamily="34" charset="0"/>
            </a:endParaRPr>
          </a:p>
          <a:p>
            <a:pPr eaLnBrk="1" hangingPunct="1">
              <a:lnSpc>
                <a:spcPct val="102000"/>
              </a:lnSpc>
            </a:pPr>
            <a:r>
              <a:rPr lang="en-US" altLang="en-US" sz="1100" dirty="0">
                <a:solidFill>
                  <a:srgbClr val="000000"/>
                </a:solidFill>
                <a:latin typeface="Calibri" panose="020F0502020204030204" pitchFamily="34" charset="0"/>
                <a:cs typeface="Calibri" panose="020F0502020204030204" pitchFamily="34" charset="0"/>
              </a:rPr>
              <a:t>Compared</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to</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existing</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ENLMS</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and</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LMS-based</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designs,</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the</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proposed</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DENLMS</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architecture</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improves</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performance</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by</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enabling</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faster</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processing</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through</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pipelining</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while</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maintaining</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filtering</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accuracy</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using</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error</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normalization.</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Unlike</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previous</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designs</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that</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focus</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only</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on</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speed</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or</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simplicity,</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this</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approach</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provides</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a</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balanced</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solution.</a:t>
            </a:r>
          </a:p>
          <a:p>
            <a:pPr eaLnBrk="1" hangingPunct="1"/>
            <a:endParaRPr lang="en-US" altLang="en-US" sz="1100" dirty="0">
              <a:solidFill>
                <a:srgbClr val="000000"/>
              </a:solidFill>
              <a:latin typeface="Calibri" panose="020F0502020204030204" pitchFamily="34" charset="0"/>
              <a:cs typeface="Calibri" panose="020F0502020204030204" pitchFamily="34" charset="0"/>
            </a:endParaRPr>
          </a:p>
          <a:p>
            <a:pPr eaLnBrk="1" hangingPunct="1">
              <a:lnSpc>
                <a:spcPct val="102000"/>
              </a:lnSpc>
            </a:pPr>
            <a:r>
              <a:rPr lang="en-US" altLang="en-US" sz="1100" dirty="0">
                <a:solidFill>
                  <a:srgbClr val="000000"/>
                </a:solidFill>
                <a:latin typeface="Calibri" panose="020F0502020204030204" pitchFamily="34" charset="0"/>
                <a:cs typeface="Calibri" panose="020F0502020204030204" pitchFamily="34" charset="0"/>
              </a:rPr>
              <a:t>The</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design</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achieves</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lower</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dynamic</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power</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consumption,</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improved</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timing</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performance,</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and</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better</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mean</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square</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error</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compared</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to</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conventional</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methods.</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Therefore,</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it</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is</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well-suited</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for</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real-time</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FPGA-based</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biomedical</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signal</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processing</a:t>
            </a:r>
            <a:r>
              <a:rPr lang="en-US" altLang="en-US" sz="1100" dirty="0">
                <a:solidFill>
                  <a:srgbClr val="000000"/>
                </a:solidFill>
                <a:latin typeface="Times New Roman" panose="02020603050405020304" pitchFamily="18" charset="0"/>
                <a:cs typeface="Times New Roman" panose="02020603050405020304" pitchFamily="18" charset="0"/>
              </a:rPr>
              <a:t> </a:t>
            </a:r>
            <a:r>
              <a:rPr lang="en-US" altLang="en-US" sz="1100" dirty="0">
                <a:solidFill>
                  <a:srgbClr val="000000"/>
                </a:solidFill>
                <a:latin typeface="Calibri" panose="020F0502020204030204" pitchFamily="34" charset="0"/>
                <a:cs typeface="Calibri" panose="020F0502020204030204" pitchFamily="34" charset="0"/>
              </a:rPr>
              <a:t>applications.</a:t>
            </a:r>
          </a:p>
        </p:txBody>
      </p:sp>
      <p:sp>
        <p:nvSpPr>
          <p:cNvPr id="6" name="object 6">
            <a:extLst>
              <a:ext uri="{FF2B5EF4-FFF2-40B4-BE49-F238E27FC236}">
                <a16:creationId xmlns:a16="http://schemas.microsoft.com/office/drawing/2014/main" id="{56B5879E-1ED9-4334-9DE1-7DC79B489EEB}"/>
              </a:ext>
            </a:extLst>
          </p:cNvPr>
          <p:cNvSpPr txBox="1"/>
          <p:nvPr/>
        </p:nvSpPr>
        <p:spPr>
          <a:xfrm>
            <a:off x="1130300" y="6602413"/>
            <a:ext cx="5743575" cy="1595950"/>
          </a:xfrm>
          <a:prstGeom prst="rect">
            <a:avLst/>
          </a:prstGeom>
        </p:spPr>
        <p:txBody>
          <a:bodyPr lIns="0" tIns="13335" rIns="0" bIns="0">
            <a:spAutoFit/>
          </a:bodyPr>
          <a:lstStyle>
            <a:lvl1pPr marL="12700">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just" eaLnBrk="1" hangingPunct="1">
              <a:spcBef>
                <a:spcPts val="100"/>
              </a:spcBef>
            </a:pPr>
            <a:r>
              <a:rPr lang="en-US" altLang="en-US" sz="1400" b="1" dirty="0">
                <a:solidFill>
                  <a:srgbClr val="2D75B6"/>
                </a:solidFill>
                <a:latin typeface="Times New Roman" panose="02020603050405020304" pitchFamily="18" charset="0"/>
                <a:cs typeface="Times New Roman" panose="02020603050405020304" pitchFamily="18" charset="0"/>
              </a:rPr>
              <a:t>3.2</a:t>
            </a:r>
            <a:r>
              <a:rPr lang="en-US" altLang="en-US" sz="1400" dirty="0">
                <a:solidFill>
                  <a:srgbClr val="2D75B6"/>
                </a:solidFill>
                <a:latin typeface="Times New Roman" panose="02020603050405020304" pitchFamily="18" charset="0"/>
                <a:cs typeface="Times New Roman" panose="02020603050405020304" pitchFamily="18" charset="0"/>
              </a:rPr>
              <a:t> </a:t>
            </a:r>
            <a:r>
              <a:rPr lang="en-US" altLang="en-US" sz="1400" b="1" dirty="0">
                <a:solidFill>
                  <a:srgbClr val="2D75B6"/>
                </a:solidFill>
                <a:latin typeface="Times New Roman" panose="02020603050405020304" pitchFamily="18" charset="0"/>
                <a:cs typeface="Times New Roman" panose="02020603050405020304" pitchFamily="18" charset="0"/>
              </a:rPr>
              <a:t>Block</a:t>
            </a:r>
            <a:r>
              <a:rPr lang="en-US" altLang="en-US" sz="1400" dirty="0">
                <a:solidFill>
                  <a:srgbClr val="2D75B6"/>
                </a:solidFill>
                <a:latin typeface="Times New Roman" panose="02020603050405020304" pitchFamily="18" charset="0"/>
                <a:cs typeface="Times New Roman" panose="02020603050405020304" pitchFamily="18" charset="0"/>
              </a:rPr>
              <a:t> </a:t>
            </a:r>
            <a:r>
              <a:rPr lang="en-US" altLang="en-US" sz="1400" b="1" dirty="0">
                <a:solidFill>
                  <a:srgbClr val="2D75B6"/>
                </a:solidFill>
                <a:latin typeface="Times New Roman" panose="02020603050405020304" pitchFamily="18" charset="0"/>
                <a:cs typeface="Times New Roman" panose="02020603050405020304" pitchFamily="18" charset="0"/>
              </a:rPr>
              <a:t>Diagram</a:t>
            </a:r>
          </a:p>
          <a:p>
            <a:pPr algn="just" eaLnBrk="1" hangingPunct="1">
              <a:spcBef>
                <a:spcPts val="100"/>
              </a:spcBef>
            </a:pPr>
            <a:endParaRPr lang="en-US" altLang="en-US" sz="11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sz="1100" dirty="0">
                <a:latin typeface="Calibri" panose="020F0502020204030204" pitchFamily="34" charset="0"/>
                <a:ea typeface="Calibri" panose="020F0502020204030204" pitchFamily="34" charset="0"/>
                <a:cs typeface="Calibri" panose="020F0502020204030204" pitchFamily="34" charset="0"/>
              </a:rPr>
              <a:t>The system-level block diagram of the proposed DENLMS adaptive filter shows the signal flow from noisy ECG input to filtered output, including the delayed error feedback path.</a:t>
            </a:r>
          </a:p>
          <a:p>
            <a:r>
              <a:rPr lang="en-US" sz="1100" dirty="0">
                <a:latin typeface="Calibri" panose="020F0502020204030204" pitchFamily="34" charset="0"/>
                <a:ea typeface="Calibri" panose="020F0502020204030204" pitchFamily="34" charset="0"/>
                <a:cs typeface="Calibri" panose="020F0502020204030204" pitchFamily="34" charset="0"/>
              </a:rPr>
              <a:t>The system takes the noisy ECG signal x(n) as input to the N-tap FIR filter and the desired signal d(n) to the subtractor. The filter generates output y(n), and the error signal e(n) = d(n) − y(n) is computed. This error is delayed by </a:t>
            </a:r>
            <a:r>
              <a:rPr lang="en-US" sz="1100" dirty="0" err="1">
                <a:latin typeface="Calibri" panose="020F0502020204030204" pitchFamily="34" charset="0"/>
                <a:ea typeface="Calibri" panose="020F0502020204030204" pitchFamily="34" charset="0"/>
                <a:cs typeface="Calibri" panose="020F0502020204030204" pitchFamily="34" charset="0"/>
              </a:rPr>
              <a:t>kD</a:t>
            </a:r>
            <a:r>
              <a:rPr lang="en-US" sz="1100" dirty="0">
                <a:latin typeface="Calibri" panose="020F0502020204030204" pitchFamily="34" charset="0"/>
                <a:ea typeface="Calibri" panose="020F0502020204030204" pitchFamily="34" charset="0"/>
                <a:cs typeface="Calibri" panose="020F0502020204030204" pitchFamily="34" charset="0"/>
              </a:rPr>
              <a:t> clock cycles to produce e(n−</a:t>
            </a:r>
            <a:r>
              <a:rPr lang="en-US" sz="1100" dirty="0" err="1">
                <a:latin typeface="Calibri" panose="020F0502020204030204" pitchFamily="34" charset="0"/>
                <a:ea typeface="Calibri" panose="020F0502020204030204" pitchFamily="34" charset="0"/>
                <a:cs typeface="Calibri" panose="020F0502020204030204" pitchFamily="34" charset="0"/>
              </a:rPr>
              <a:t>kD</a:t>
            </a:r>
            <a:r>
              <a:rPr lang="en-US" sz="1100" dirty="0">
                <a:latin typeface="Calibri" panose="020F0502020204030204" pitchFamily="34" charset="0"/>
                <a:ea typeface="Calibri" panose="020F0502020204030204" pitchFamily="34" charset="0"/>
                <a:cs typeface="Calibri" panose="020F0502020204030204" pitchFamily="34" charset="0"/>
              </a:rPr>
              <a:t>), which is used to update the filter coefficients. The updated coefficients are fed back to the FIR filter, completing the adaptive filtering process.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a:extLst>
              <a:ext uri="{FF2B5EF4-FFF2-40B4-BE49-F238E27FC236}">
                <a16:creationId xmlns:a16="http://schemas.microsoft.com/office/drawing/2014/main" id="{41C6FCD3-0BAD-D5D9-28B2-D543A1044465}"/>
              </a:ext>
            </a:extLst>
          </p:cNvPr>
          <p:cNvSpPr txBox="1"/>
          <p:nvPr/>
        </p:nvSpPr>
        <p:spPr>
          <a:xfrm>
            <a:off x="1130300" y="825500"/>
            <a:ext cx="5740400" cy="237244"/>
          </a:xfrm>
          <a:prstGeom prst="rect">
            <a:avLst/>
          </a:prstGeom>
        </p:spPr>
        <p:txBody>
          <a:bodyPr lIns="0" tIns="12700" rIns="0" bIns="0">
            <a:spAutoFit/>
          </a:bodyPr>
          <a:lstStyle>
            <a:lvl1pPr marL="12700">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lnSpc>
                <a:spcPct val="136000"/>
              </a:lnSpc>
              <a:spcBef>
                <a:spcPts val="100"/>
              </a:spcBef>
            </a:pPr>
            <a:r>
              <a:rPr lang="en-US" altLang="en-US" sz="1200" dirty="0">
                <a:solidFill>
                  <a:srgbClr val="000000"/>
                </a:solidFill>
                <a:latin typeface="Times New Roman" panose="02020603050405020304" pitchFamily="18" charset="0"/>
                <a:cs typeface="Times New Roman" panose="02020603050405020304" pitchFamily="18" charset="0"/>
              </a:rPr>
              <a:t>.</a:t>
            </a:r>
          </a:p>
        </p:txBody>
      </p:sp>
      <p:sp>
        <p:nvSpPr>
          <p:cNvPr id="6" name="object 6">
            <a:extLst>
              <a:ext uri="{FF2B5EF4-FFF2-40B4-BE49-F238E27FC236}">
                <a16:creationId xmlns:a16="http://schemas.microsoft.com/office/drawing/2014/main" id="{25B00107-3A94-F0E1-7F5D-E2B75E76B138}"/>
              </a:ext>
            </a:extLst>
          </p:cNvPr>
          <p:cNvSpPr txBox="1"/>
          <p:nvPr/>
        </p:nvSpPr>
        <p:spPr>
          <a:xfrm>
            <a:off x="1014412" y="5943600"/>
            <a:ext cx="5743575" cy="2319225"/>
          </a:xfrm>
          <a:prstGeom prst="rect">
            <a:avLst/>
          </a:prstGeom>
        </p:spPr>
        <p:txBody>
          <a:bodyPr lIns="0" tIns="13335" rIns="0" bIns="0">
            <a:spAutoFit/>
          </a:bodyPr>
          <a:lstStyle>
            <a:lvl1pPr marL="12700">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just" eaLnBrk="1" hangingPunct="1">
              <a:spcBef>
                <a:spcPts val="100"/>
              </a:spcBef>
            </a:pPr>
            <a:r>
              <a:rPr lang="en-US" altLang="en-US" sz="1400" b="1" dirty="0">
                <a:solidFill>
                  <a:srgbClr val="2D75B6"/>
                </a:solidFill>
                <a:latin typeface="Times New Roman" panose="02020603050405020304" pitchFamily="18" charset="0"/>
                <a:cs typeface="Times New Roman" panose="02020603050405020304" pitchFamily="18" charset="0"/>
              </a:rPr>
              <a:t>3.3</a:t>
            </a:r>
            <a:r>
              <a:rPr lang="en-US" altLang="en-US" sz="1400" dirty="0">
                <a:solidFill>
                  <a:srgbClr val="2D75B6"/>
                </a:solidFill>
                <a:latin typeface="Times New Roman" panose="02020603050405020304" pitchFamily="18" charset="0"/>
                <a:cs typeface="Times New Roman" panose="02020603050405020304" pitchFamily="18" charset="0"/>
              </a:rPr>
              <a:t> </a:t>
            </a:r>
            <a:r>
              <a:rPr lang="en-US" altLang="en-US" sz="1400" b="1" dirty="0">
                <a:solidFill>
                  <a:srgbClr val="2D75B6"/>
                </a:solidFill>
                <a:latin typeface="Times New Roman" panose="02020603050405020304" pitchFamily="18" charset="0"/>
                <a:cs typeface="Times New Roman" panose="02020603050405020304" pitchFamily="18" charset="0"/>
              </a:rPr>
              <a:t>Architecture</a:t>
            </a:r>
            <a:r>
              <a:rPr lang="en-US" altLang="en-US" sz="1400" dirty="0">
                <a:solidFill>
                  <a:srgbClr val="2D75B6"/>
                </a:solidFill>
                <a:latin typeface="Times New Roman" panose="02020603050405020304" pitchFamily="18" charset="0"/>
                <a:cs typeface="Times New Roman" panose="02020603050405020304" pitchFamily="18" charset="0"/>
              </a:rPr>
              <a:t> </a:t>
            </a:r>
            <a:r>
              <a:rPr lang="en-US" altLang="en-US" sz="1400" b="1" dirty="0">
                <a:solidFill>
                  <a:srgbClr val="2D75B6"/>
                </a:solidFill>
                <a:latin typeface="Times New Roman" panose="02020603050405020304" pitchFamily="18" charset="0"/>
                <a:cs typeface="Times New Roman" panose="02020603050405020304" pitchFamily="18" charset="0"/>
              </a:rPr>
              <a:t>Diagram </a:t>
            </a:r>
          </a:p>
          <a:p>
            <a:pPr algn="just" eaLnBrk="1" hangingPunct="1">
              <a:spcBef>
                <a:spcPts val="100"/>
              </a:spcBef>
            </a:pPr>
            <a:endParaRPr lang="en-US" altLang="en-US" sz="1400" dirty="0">
              <a:solidFill>
                <a:srgbClr val="000000"/>
              </a:solidFill>
              <a:latin typeface="Times New Roman" panose="02020603050405020304" pitchFamily="18" charset="0"/>
              <a:cs typeface="Times New Roman" panose="02020603050405020304" pitchFamily="18" charset="0"/>
            </a:endParaRPr>
          </a:p>
          <a:p>
            <a:r>
              <a:rPr lang="en-IN" sz="1100" dirty="0">
                <a:latin typeface="Calibri" panose="020F0502020204030204" pitchFamily="34" charset="0"/>
                <a:ea typeface="Calibri" panose="020F0502020204030204" pitchFamily="34" charset="0"/>
                <a:cs typeface="Calibri" panose="020F0502020204030204" pitchFamily="34" charset="0"/>
              </a:rPr>
              <a:t>The VLSI architecture of the proposed DENLMS filter is designed using a 16-bit data path and implemented in Verilog HDL. The RTL schematic is generated using Xilinx synthesis tools, ensuring efficient hardware realization and verification. </a:t>
            </a:r>
          </a:p>
          <a:p>
            <a:endParaRPr lang="en-IN" sz="1100" dirty="0">
              <a:latin typeface="Calibri" panose="020F0502020204030204" pitchFamily="34" charset="0"/>
              <a:ea typeface="Calibri" panose="020F0502020204030204" pitchFamily="34" charset="0"/>
              <a:cs typeface="Calibri" panose="020F0502020204030204" pitchFamily="34" charset="0"/>
            </a:endParaRPr>
          </a:p>
          <a:p>
            <a:r>
              <a:rPr lang="en-IN" sz="1100" dirty="0">
                <a:latin typeface="Calibri" panose="020F0502020204030204" pitchFamily="34" charset="0"/>
                <a:ea typeface="Calibri" panose="020F0502020204030204" pitchFamily="34" charset="0"/>
                <a:cs typeface="Calibri" panose="020F0502020204030204" pitchFamily="34" charset="0"/>
              </a:rPr>
              <a:t>The adaptive filter updates its coefficients based on the following equations:</a:t>
            </a:r>
            <a:br>
              <a:rPr lang="en-IN" sz="1100" dirty="0">
                <a:latin typeface="Calibri" panose="020F0502020204030204" pitchFamily="34" charset="0"/>
                <a:ea typeface="Calibri" panose="020F0502020204030204" pitchFamily="34" charset="0"/>
                <a:cs typeface="Calibri" panose="020F0502020204030204" pitchFamily="34" charset="0"/>
              </a:rPr>
            </a:br>
            <a:r>
              <a:rPr lang="en-IN" sz="1100" b="1" dirty="0">
                <a:latin typeface="Calibri" panose="020F0502020204030204" pitchFamily="34" charset="0"/>
                <a:ea typeface="Calibri" panose="020F0502020204030204" pitchFamily="34" charset="0"/>
                <a:cs typeface="Calibri" panose="020F0502020204030204" pitchFamily="34" charset="0"/>
              </a:rPr>
              <a:t>w(n+1) = w(n) + </a:t>
            </a:r>
            <a:r>
              <a:rPr lang="el-GR" sz="1100" b="1" dirty="0">
                <a:latin typeface="Calibri" panose="020F0502020204030204" pitchFamily="34" charset="0"/>
                <a:ea typeface="Calibri" panose="020F0502020204030204" pitchFamily="34" charset="0"/>
                <a:cs typeface="Calibri" panose="020F0502020204030204" pitchFamily="34" charset="0"/>
              </a:rPr>
              <a:t>μ</a:t>
            </a:r>
            <a:r>
              <a:rPr lang="en-IN" sz="1100" b="1" dirty="0">
                <a:latin typeface="Calibri" panose="020F0502020204030204" pitchFamily="34" charset="0"/>
                <a:ea typeface="Calibri" panose="020F0502020204030204" pitchFamily="34" charset="0"/>
                <a:cs typeface="Calibri" panose="020F0502020204030204" pitchFamily="34" charset="0"/>
              </a:rPr>
              <a:t>ₑₙ · e(n−</a:t>
            </a:r>
            <a:r>
              <a:rPr lang="en-IN" sz="1100" b="1" dirty="0" err="1">
                <a:latin typeface="Calibri" panose="020F0502020204030204" pitchFamily="34" charset="0"/>
                <a:ea typeface="Calibri" panose="020F0502020204030204" pitchFamily="34" charset="0"/>
                <a:cs typeface="Calibri" panose="020F0502020204030204" pitchFamily="34" charset="0"/>
              </a:rPr>
              <a:t>kD</a:t>
            </a:r>
            <a:r>
              <a:rPr lang="en-IN" sz="1100" b="1" dirty="0">
                <a:latin typeface="Calibri" panose="020F0502020204030204" pitchFamily="34" charset="0"/>
                <a:ea typeface="Calibri" panose="020F0502020204030204" pitchFamily="34" charset="0"/>
                <a:cs typeface="Calibri" panose="020F0502020204030204" pitchFamily="34" charset="0"/>
              </a:rPr>
              <a:t>) · x(n−</a:t>
            </a:r>
            <a:r>
              <a:rPr lang="en-IN" sz="1100" b="1" dirty="0" err="1">
                <a:latin typeface="Calibri" panose="020F0502020204030204" pitchFamily="34" charset="0"/>
                <a:ea typeface="Calibri" panose="020F0502020204030204" pitchFamily="34" charset="0"/>
                <a:cs typeface="Calibri" panose="020F0502020204030204" pitchFamily="34" charset="0"/>
              </a:rPr>
              <a:t>kD</a:t>
            </a:r>
            <a:r>
              <a:rPr lang="en-IN" sz="1100" b="1" dirty="0">
                <a:latin typeface="Calibri" panose="020F0502020204030204" pitchFamily="34" charset="0"/>
                <a:ea typeface="Calibri" panose="020F0502020204030204" pitchFamily="34" charset="0"/>
                <a:cs typeface="Calibri" panose="020F0502020204030204" pitchFamily="34" charset="0"/>
              </a:rPr>
              <a:t>)</a:t>
            </a:r>
            <a:br>
              <a:rPr lang="en-IN" sz="1100" dirty="0">
                <a:latin typeface="Calibri" panose="020F0502020204030204" pitchFamily="34" charset="0"/>
                <a:ea typeface="Calibri" panose="020F0502020204030204" pitchFamily="34" charset="0"/>
                <a:cs typeface="Calibri" panose="020F0502020204030204" pitchFamily="34" charset="0"/>
              </a:rPr>
            </a:br>
            <a:r>
              <a:rPr lang="el-GR" sz="1100" b="1" dirty="0">
                <a:latin typeface="Calibri" panose="020F0502020204030204" pitchFamily="34" charset="0"/>
                <a:ea typeface="Calibri" panose="020F0502020204030204" pitchFamily="34" charset="0"/>
                <a:cs typeface="Calibri" panose="020F0502020204030204" pitchFamily="34" charset="0"/>
              </a:rPr>
              <a:t>μ</a:t>
            </a:r>
            <a:r>
              <a:rPr lang="en-IN" sz="1100" b="1" dirty="0">
                <a:latin typeface="Calibri" panose="020F0502020204030204" pitchFamily="34" charset="0"/>
                <a:ea typeface="Calibri" panose="020F0502020204030204" pitchFamily="34" charset="0"/>
                <a:cs typeface="Calibri" panose="020F0502020204030204" pitchFamily="34" charset="0"/>
              </a:rPr>
              <a:t>ₑₙ = </a:t>
            </a:r>
            <a:r>
              <a:rPr lang="el-GR" sz="1100" b="1" dirty="0">
                <a:latin typeface="Calibri" panose="020F0502020204030204" pitchFamily="34" charset="0"/>
                <a:ea typeface="Calibri" panose="020F0502020204030204" pitchFamily="34" charset="0"/>
                <a:cs typeface="Calibri" panose="020F0502020204030204" pitchFamily="34" charset="0"/>
              </a:rPr>
              <a:t>μ / (</a:t>
            </a:r>
            <a:r>
              <a:rPr lang="en-IN" sz="1100" b="1" dirty="0">
                <a:latin typeface="Calibri" panose="020F0502020204030204" pitchFamily="34" charset="0"/>
                <a:ea typeface="Calibri" panose="020F0502020204030204" pitchFamily="34" charset="0"/>
                <a:cs typeface="Calibri" panose="020F0502020204030204" pitchFamily="34" charset="0"/>
              </a:rPr>
              <a:t>p + eᵀ(n)e(n))</a:t>
            </a:r>
          </a:p>
          <a:p>
            <a:br>
              <a:rPr lang="en-IN" sz="1100" dirty="0">
                <a:latin typeface="Calibri" panose="020F0502020204030204" pitchFamily="34" charset="0"/>
                <a:ea typeface="Calibri" panose="020F0502020204030204" pitchFamily="34" charset="0"/>
                <a:cs typeface="Calibri" panose="020F0502020204030204" pitchFamily="34" charset="0"/>
              </a:rPr>
            </a:br>
            <a:r>
              <a:rPr lang="en-IN" sz="1100" dirty="0">
                <a:latin typeface="Calibri" panose="020F0502020204030204" pitchFamily="34" charset="0"/>
                <a:ea typeface="Calibri" panose="020F0502020204030204" pitchFamily="34" charset="0"/>
                <a:cs typeface="Calibri" panose="020F0502020204030204" pitchFamily="34" charset="0"/>
              </a:rPr>
              <a:t>where </a:t>
            </a:r>
            <a:r>
              <a:rPr lang="el-GR" sz="1100" dirty="0">
                <a:latin typeface="Calibri" panose="020F0502020204030204" pitchFamily="34" charset="0"/>
                <a:ea typeface="Calibri" panose="020F0502020204030204" pitchFamily="34" charset="0"/>
                <a:cs typeface="Calibri" panose="020F0502020204030204" pitchFamily="34" charset="0"/>
              </a:rPr>
              <a:t>μ</a:t>
            </a:r>
            <a:r>
              <a:rPr lang="en-IN" sz="1100" dirty="0">
                <a:latin typeface="Calibri" panose="020F0502020204030204" pitchFamily="34" charset="0"/>
                <a:ea typeface="Calibri" panose="020F0502020204030204" pitchFamily="34" charset="0"/>
                <a:cs typeface="Calibri" panose="020F0502020204030204" pitchFamily="34" charset="0"/>
              </a:rPr>
              <a:t>ₑₙ represents the normalized step size, which improves convergence stability under varying noise conditions.</a:t>
            </a:r>
          </a:p>
          <a:p>
            <a:endParaRPr lang="en-IN" sz="1100" dirty="0">
              <a:latin typeface="Calibri" panose="020F0502020204030204" pitchFamily="34" charset="0"/>
              <a:ea typeface="Calibri" panose="020F0502020204030204" pitchFamily="34" charset="0"/>
              <a:cs typeface="Calibri" panose="020F0502020204030204" pitchFamily="34" charset="0"/>
            </a:endParaRPr>
          </a:p>
        </p:txBody>
      </p:sp>
      <p:pic>
        <p:nvPicPr>
          <p:cNvPr id="3" name="Picture 2" descr="A diagram of a computer program&#10;&#10;AI-generated content may be incorrect.">
            <a:extLst>
              <a:ext uri="{FF2B5EF4-FFF2-40B4-BE49-F238E27FC236}">
                <a16:creationId xmlns:a16="http://schemas.microsoft.com/office/drawing/2014/main" id="{347CEA78-019D-07B8-0243-45965E0245F2}"/>
              </a:ext>
            </a:extLst>
          </p:cNvPr>
          <p:cNvPicPr>
            <a:picLocks noChangeAspect="1"/>
          </p:cNvPicPr>
          <p:nvPr/>
        </p:nvPicPr>
        <p:blipFill>
          <a:blip r:embed="rId2"/>
          <a:stretch>
            <a:fillRect/>
          </a:stretch>
        </p:blipFill>
        <p:spPr>
          <a:xfrm>
            <a:off x="106680" y="619884"/>
            <a:ext cx="7543800" cy="2615952"/>
          </a:xfrm>
          <a:prstGeom prst="rect">
            <a:avLst/>
          </a:prstGeom>
        </p:spPr>
      </p:pic>
      <p:sp>
        <p:nvSpPr>
          <p:cNvPr id="12" name="TextBox 11">
            <a:extLst>
              <a:ext uri="{FF2B5EF4-FFF2-40B4-BE49-F238E27FC236}">
                <a16:creationId xmlns:a16="http://schemas.microsoft.com/office/drawing/2014/main" id="{B7A422ED-9C90-1B29-F3FB-E6A6D4E0121E}"/>
              </a:ext>
            </a:extLst>
          </p:cNvPr>
          <p:cNvSpPr txBox="1"/>
          <p:nvPr/>
        </p:nvSpPr>
        <p:spPr>
          <a:xfrm>
            <a:off x="1014412" y="3962400"/>
            <a:ext cx="5743575" cy="569387"/>
          </a:xfrm>
          <a:prstGeom prst="rect">
            <a:avLst/>
          </a:prstGeom>
          <a:noFill/>
        </p:spPr>
        <p:txBody>
          <a:bodyPr wrap="square" rtlCol="0">
            <a:spAutoFit/>
          </a:bodyPr>
          <a:lstStyle/>
          <a:p>
            <a:r>
              <a:rPr lang="en-US" sz="1000" dirty="0">
                <a:latin typeface="Calibri" panose="020F0502020204030204" pitchFamily="34" charset="0"/>
                <a:ea typeface="Calibri" panose="020F0502020204030204" pitchFamily="34" charset="0"/>
                <a:cs typeface="Calibri" panose="020F0502020204030204" pitchFamily="34" charset="0"/>
              </a:rPr>
              <a:t>The main difference from the standard ENLMS is the delay element (</a:t>
            </a:r>
            <a:r>
              <a:rPr lang="en-US" sz="1000" dirty="0" err="1">
                <a:latin typeface="Calibri" panose="020F0502020204030204" pitchFamily="34" charset="0"/>
                <a:ea typeface="Calibri" panose="020F0502020204030204" pitchFamily="34" charset="0"/>
                <a:cs typeface="Calibri" panose="020F0502020204030204" pitchFamily="34" charset="0"/>
              </a:rPr>
              <a:t>mD</a:t>
            </a:r>
            <a:r>
              <a:rPr lang="en-US" sz="1000" dirty="0">
                <a:latin typeface="Calibri" panose="020F0502020204030204" pitchFamily="34" charset="0"/>
                <a:ea typeface="Calibri" panose="020F0502020204030204" pitchFamily="34" charset="0"/>
                <a:cs typeface="Calibri" panose="020F0502020204030204" pitchFamily="34" charset="0"/>
              </a:rPr>
              <a:t>) in the error feedback path. This enables pipelining, reduces the </a:t>
            </a:r>
            <a:r>
              <a:rPr lang="en-US" sz="1100" dirty="0">
                <a:latin typeface="Calibri" panose="020F0502020204030204" pitchFamily="34" charset="0"/>
                <a:ea typeface="Calibri" panose="020F0502020204030204" pitchFamily="34" charset="0"/>
                <a:cs typeface="Calibri" panose="020F0502020204030204" pitchFamily="34" charset="0"/>
              </a:rPr>
              <a:t>critical</a:t>
            </a:r>
            <a:r>
              <a:rPr lang="en-US" sz="1000" dirty="0">
                <a:latin typeface="Calibri" panose="020F0502020204030204" pitchFamily="34" charset="0"/>
                <a:ea typeface="Calibri" panose="020F0502020204030204" pitchFamily="34" charset="0"/>
                <a:cs typeface="Calibri" panose="020F0502020204030204" pitchFamily="34" charset="0"/>
              </a:rPr>
              <a:t> path, and increases the operating frequency.</a:t>
            </a:r>
            <a:endParaRPr lang="en-US" altLang="en-US" sz="1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endParaRPr lang="en-IN"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0692BAB7-8E0C-8863-0EEF-C135F41C02D3}"/>
              </a:ext>
            </a:extLst>
          </p:cNvPr>
          <p:cNvSpPr txBox="1"/>
          <p:nvPr/>
        </p:nvSpPr>
        <p:spPr>
          <a:xfrm>
            <a:off x="990600" y="1295400"/>
            <a:ext cx="5791200" cy="2292935"/>
          </a:xfrm>
          <a:prstGeom prst="rect">
            <a:avLst/>
          </a:prstGeom>
          <a:noFill/>
        </p:spPr>
        <p:txBody>
          <a:bodyPr wrap="square" rtlCol="0">
            <a:spAutoFit/>
          </a:bodyPr>
          <a:lstStyle/>
          <a:p>
            <a:r>
              <a:rPr lang="en-US" sz="1100" dirty="0">
                <a:latin typeface="Calibri" panose="020F0502020204030204" pitchFamily="34" charset="0"/>
                <a:ea typeface="Calibri" panose="020F0502020204030204" pitchFamily="34" charset="0"/>
                <a:cs typeface="Calibri" panose="020F0502020204030204" pitchFamily="34" charset="0"/>
              </a:rPr>
              <a:t>The optimal number of pipeline stages is determined using:</a:t>
            </a:r>
            <a:br>
              <a:rPr lang="en-US" sz="1100" dirty="0">
                <a:latin typeface="Calibri" panose="020F0502020204030204" pitchFamily="34" charset="0"/>
                <a:ea typeface="Calibri" panose="020F0502020204030204" pitchFamily="34" charset="0"/>
                <a:cs typeface="Calibri" panose="020F0502020204030204" pitchFamily="34" charset="0"/>
              </a:rPr>
            </a:br>
            <a:r>
              <a:rPr lang="en-US" sz="1100" b="1" dirty="0" err="1">
                <a:latin typeface="Calibri" panose="020F0502020204030204" pitchFamily="34" charset="0"/>
                <a:ea typeface="Calibri" panose="020F0502020204030204" pitchFamily="34" charset="0"/>
                <a:cs typeface="Calibri" panose="020F0502020204030204" pitchFamily="34" charset="0"/>
              </a:rPr>
              <a:t>Dₒpt</a:t>
            </a:r>
            <a:r>
              <a:rPr lang="en-US" sz="1100" b="1" dirty="0">
                <a:latin typeface="Calibri" panose="020F0502020204030204" pitchFamily="34" charset="0"/>
                <a:ea typeface="Calibri" panose="020F0502020204030204" pitchFamily="34" charset="0"/>
                <a:cs typeface="Calibri" panose="020F0502020204030204" pitchFamily="34" charset="0"/>
              </a:rPr>
              <a:t> = 2·log₂(b) + log₂(l) + 1</a:t>
            </a:r>
          </a:p>
          <a:p>
            <a:br>
              <a:rPr lang="en-US" sz="1100" dirty="0">
                <a:latin typeface="Calibri" panose="020F0502020204030204" pitchFamily="34" charset="0"/>
                <a:ea typeface="Calibri" panose="020F0502020204030204" pitchFamily="34" charset="0"/>
                <a:cs typeface="Calibri" panose="020F0502020204030204" pitchFamily="34" charset="0"/>
              </a:rPr>
            </a:br>
            <a:r>
              <a:rPr lang="en-US" sz="1100" dirty="0">
                <a:latin typeface="Calibri" panose="020F0502020204030204" pitchFamily="34" charset="0"/>
                <a:ea typeface="Calibri" panose="020F0502020204030204" pitchFamily="34" charset="0"/>
                <a:cs typeface="Calibri" panose="020F0502020204030204" pitchFamily="34" charset="0"/>
              </a:rPr>
              <a:t>where </a:t>
            </a:r>
            <a:r>
              <a:rPr lang="en-US" sz="1100" i="1" dirty="0">
                <a:latin typeface="Calibri" panose="020F0502020204030204" pitchFamily="34" charset="0"/>
                <a:ea typeface="Calibri" panose="020F0502020204030204" pitchFamily="34" charset="0"/>
                <a:cs typeface="Calibri" panose="020F0502020204030204" pitchFamily="34" charset="0"/>
              </a:rPr>
              <a:t>b</a:t>
            </a:r>
            <a:r>
              <a:rPr lang="en-US" sz="1100" dirty="0">
                <a:latin typeface="Calibri" panose="020F0502020204030204" pitchFamily="34" charset="0"/>
                <a:ea typeface="Calibri" panose="020F0502020204030204" pitchFamily="34" charset="0"/>
                <a:cs typeface="Calibri" panose="020F0502020204030204" pitchFamily="34" charset="0"/>
              </a:rPr>
              <a:t> is the multiplier bit-width and </a:t>
            </a:r>
            <a:r>
              <a:rPr lang="en-US" sz="1100" i="1" dirty="0">
                <a:latin typeface="Calibri" panose="020F0502020204030204" pitchFamily="34" charset="0"/>
                <a:ea typeface="Calibri" panose="020F0502020204030204" pitchFamily="34" charset="0"/>
                <a:cs typeface="Calibri" panose="020F0502020204030204" pitchFamily="34" charset="0"/>
              </a:rPr>
              <a:t>l</a:t>
            </a:r>
            <a:r>
              <a:rPr lang="en-US" sz="1100" dirty="0">
                <a:latin typeface="Calibri" panose="020F0502020204030204" pitchFamily="34" charset="0"/>
                <a:ea typeface="Calibri" panose="020F0502020204030204" pitchFamily="34" charset="0"/>
                <a:cs typeface="Calibri" panose="020F0502020204030204" pitchFamily="34" charset="0"/>
              </a:rPr>
              <a:t> is the adder tree depth.</a:t>
            </a:r>
          </a:p>
          <a:p>
            <a:endParaRPr lang="en-US" sz="1100" dirty="0">
              <a:latin typeface="Calibri" panose="020F0502020204030204" pitchFamily="34" charset="0"/>
              <a:ea typeface="Calibri" panose="020F0502020204030204" pitchFamily="34" charset="0"/>
              <a:cs typeface="Calibri" panose="020F0502020204030204" pitchFamily="34" charset="0"/>
            </a:endParaRPr>
          </a:p>
          <a:p>
            <a:r>
              <a:rPr lang="en-US" sz="1100" dirty="0">
                <a:latin typeface="Calibri" panose="020F0502020204030204" pitchFamily="34" charset="0"/>
                <a:ea typeface="Calibri" panose="020F0502020204030204" pitchFamily="34" charset="0"/>
                <a:cs typeface="Calibri" panose="020F0502020204030204" pitchFamily="34" charset="0"/>
              </a:rPr>
              <a:t>For a 16-bit system with 4 filter taps:</a:t>
            </a:r>
            <a:br>
              <a:rPr lang="en-US" sz="1100" dirty="0">
                <a:latin typeface="Calibri" panose="020F0502020204030204" pitchFamily="34" charset="0"/>
                <a:ea typeface="Calibri" panose="020F0502020204030204" pitchFamily="34" charset="0"/>
                <a:cs typeface="Calibri" panose="020F0502020204030204" pitchFamily="34" charset="0"/>
              </a:rPr>
            </a:br>
            <a:r>
              <a:rPr lang="en-US" sz="1100" b="1" dirty="0" err="1">
                <a:latin typeface="Calibri" panose="020F0502020204030204" pitchFamily="34" charset="0"/>
                <a:ea typeface="Calibri" panose="020F0502020204030204" pitchFamily="34" charset="0"/>
                <a:cs typeface="Calibri" panose="020F0502020204030204" pitchFamily="34" charset="0"/>
              </a:rPr>
              <a:t>Dₒpt</a:t>
            </a:r>
            <a:r>
              <a:rPr lang="en-US" sz="1100" b="1" dirty="0">
                <a:latin typeface="Calibri" panose="020F0502020204030204" pitchFamily="34" charset="0"/>
                <a:ea typeface="Calibri" panose="020F0502020204030204" pitchFamily="34" charset="0"/>
                <a:cs typeface="Calibri" panose="020F0502020204030204" pitchFamily="34" charset="0"/>
              </a:rPr>
              <a:t> = 2·log₂(16) + log₂(4) + 1 = 11 stages</a:t>
            </a:r>
          </a:p>
          <a:p>
            <a:br>
              <a:rPr lang="en-US" sz="1100" dirty="0">
                <a:latin typeface="Calibri" panose="020F0502020204030204" pitchFamily="34" charset="0"/>
                <a:ea typeface="Calibri" panose="020F0502020204030204" pitchFamily="34" charset="0"/>
                <a:cs typeface="Calibri" panose="020F0502020204030204" pitchFamily="34" charset="0"/>
              </a:rPr>
            </a:br>
            <a:r>
              <a:rPr lang="en-US" sz="1100" dirty="0">
                <a:latin typeface="Calibri" panose="020F0502020204030204" pitchFamily="34" charset="0"/>
                <a:ea typeface="Calibri" panose="020F0502020204030204" pitchFamily="34" charset="0"/>
                <a:cs typeface="Calibri" panose="020F0502020204030204" pitchFamily="34" charset="0"/>
              </a:rPr>
              <a:t>This pipelined structure reduces the critical path and enables higher operating frequency.</a:t>
            </a:r>
          </a:p>
          <a:p>
            <a:r>
              <a:rPr lang="en-US" sz="1100" dirty="0">
                <a:latin typeface="Calibri" panose="020F0502020204030204" pitchFamily="34" charset="0"/>
                <a:ea typeface="Calibri" panose="020F0502020204030204" pitchFamily="34" charset="0"/>
                <a:cs typeface="Calibri" panose="020F0502020204030204" pitchFamily="34" charset="0"/>
              </a:rPr>
              <a:t>The synthesized design utilizes FPGA resources efficiently and achieves positive timing slack, indicating that all timing constraints are satisfied and the design is suitable for real-time implementation.</a:t>
            </a:r>
          </a:p>
          <a:p>
            <a:endParaRPr lang="en-IN" sz="1100" dirty="0">
              <a:latin typeface="Calibri" panose="020F0502020204030204" pitchFamily="34" charset="0"/>
              <a:ea typeface="Calibri" panose="020F0502020204030204" pitchFamily="34" charset="0"/>
              <a:cs typeface="Calibri" panose="020F0502020204030204" pitchFamily="34" charset="0"/>
            </a:endParaRPr>
          </a:p>
        </p:txBody>
      </p:sp>
      <p:pic>
        <p:nvPicPr>
          <p:cNvPr id="11" name="Picture 10">
            <a:extLst>
              <a:ext uri="{FF2B5EF4-FFF2-40B4-BE49-F238E27FC236}">
                <a16:creationId xmlns:a16="http://schemas.microsoft.com/office/drawing/2014/main" id="{A73E7969-4059-5BCD-A9A4-B8BB13EF53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191000"/>
            <a:ext cx="7772400" cy="51816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a:extLst>
              <a:ext uri="{FF2B5EF4-FFF2-40B4-BE49-F238E27FC236}">
                <a16:creationId xmlns:a16="http://schemas.microsoft.com/office/drawing/2014/main" id="{0AA5E279-8231-5857-876D-9E75804E9888}"/>
              </a:ext>
            </a:extLst>
          </p:cNvPr>
          <p:cNvSpPr txBox="1"/>
          <p:nvPr/>
        </p:nvSpPr>
        <p:spPr>
          <a:xfrm>
            <a:off x="1130300" y="584200"/>
            <a:ext cx="3265488" cy="268288"/>
          </a:xfrm>
          <a:prstGeom prst="rect">
            <a:avLst/>
          </a:prstGeom>
        </p:spPr>
        <p:txBody>
          <a:bodyPr lIns="0" tIns="12065" rIns="0" bIns="0">
            <a:spAutoFit/>
          </a:bodyPr>
          <a:lstStyle/>
          <a:p>
            <a:pPr marL="12700" eaLnBrk="1" fontAlgn="auto" hangingPunct="1">
              <a:spcBef>
                <a:spcPts val="95"/>
              </a:spcBef>
              <a:spcAft>
                <a:spcPts val="0"/>
              </a:spcAft>
              <a:defRPr/>
            </a:pPr>
            <a:r>
              <a:rPr sz="1600" b="1" kern="0">
                <a:solidFill>
                  <a:srgbClr val="1F4E79"/>
                </a:solidFill>
                <a:latin typeface="Times New Roman"/>
                <a:cs typeface="Times New Roman"/>
              </a:rPr>
              <a:t>CHAPTER</a:t>
            </a:r>
            <a:r>
              <a:rPr sz="1600" kern="0" spc="-55">
                <a:solidFill>
                  <a:srgbClr val="1F4E79"/>
                </a:solidFill>
                <a:latin typeface="Times New Roman"/>
                <a:cs typeface="Times New Roman"/>
              </a:rPr>
              <a:t> </a:t>
            </a:r>
            <a:r>
              <a:rPr sz="1600" b="1" kern="0">
                <a:solidFill>
                  <a:srgbClr val="1F4E79"/>
                </a:solidFill>
                <a:latin typeface="Times New Roman"/>
                <a:cs typeface="Times New Roman"/>
              </a:rPr>
              <a:t>4:</a:t>
            </a:r>
            <a:r>
              <a:rPr sz="1600" kern="0" spc="-45">
                <a:solidFill>
                  <a:srgbClr val="1F4E79"/>
                </a:solidFill>
                <a:latin typeface="Times New Roman"/>
                <a:cs typeface="Times New Roman"/>
              </a:rPr>
              <a:t> </a:t>
            </a:r>
            <a:r>
              <a:rPr sz="1600" b="1" kern="0">
                <a:solidFill>
                  <a:srgbClr val="1F4E79"/>
                </a:solidFill>
                <a:latin typeface="Times New Roman"/>
                <a:cs typeface="Times New Roman"/>
              </a:rPr>
              <a:t>LEAF</a:t>
            </a:r>
            <a:r>
              <a:rPr sz="1600" kern="0" spc="-55">
                <a:solidFill>
                  <a:srgbClr val="1F4E79"/>
                </a:solidFill>
                <a:latin typeface="Times New Roman"/>
                <a:cs typeface="Times New Roman"/>
              </a:rPr>
              <a:t> </a:t>
            </a:r>
            <a:r>
              <a:rPr sz="1600" b="1" kern="0">
                <a:solidFill>
                  <a:srgbClr val="1F4E79"/>
                </a:solidFill>
                <a:latin typeface="Times New Roman"/>
                <a:cs typeface="Times New Roman"/>
              </a:rPr>
              <a:t>CELL</a:t>
            </a:r>
            <a:r>
              <a:rPr sz="1600" kern="0" spc="-40">
                <a:solidFill>
                  <a:srgbClr val="1F4E79"/>
                </a:solidFill>
                <a:latin typeface="Times New Roman"/>
                <a:cs typeface="Times New Roman"/>
              </a:rPr>
              <a:t> </a:t>
            </a:r>
            <a:r>
              <a:rPr sz="1600" b="1" kern="0" spc="-10">
                <a:solidFill>
                  <a:srgbClr val="1F4E79"/>
                </a:solidFill>
                <a:latin typeface="Times New Roman"/>
                <a:cs typeface="Times New Roman"/>
              </a:rPr>
              <a:t>DESIGN</a:t>
            </a:r>
            <a:endParaRPr sz="1600" kern="0">
              <a:solidFill>
                <a:sysClr val="windowText" lastClr="000000"/>
              </a:solidFill>
              <a:latin typeface="Times New Roman"/>
              <a:cs typeface="Times New Roman"/>
            </a:endParaRPr>
          </a:p>
        </p:txBody>
      </p:sp>
      <p:sp>
        <p:nvSpPr>
          <p:cNvPr id="10243" name="object 3">
            <a:extLst>
              <a:ext uri="{FF2B5EF4-FFF2-40B4-BE49-F238E27FC236}">
                <a16:creationId xmlns:a16="http://schemas.microsoft.com/office/drawing/2014/main" id="{4765B011-B571-DF3A-5C97-DFE2F4B2AC41}"/>
              </a:ext>
            </a:extLst>
          </p:cNvPr>
          <p:cNvSpPr>
            <a:spLocks/>
          </p:cNvSpPr>
          <p:nvPr/>
        </p:nvSpPr>
        <p:spPr bwMode="auto">
          <a:xfrm>
            <a:off x="1125538" y="1620838"/>
            <a:ext cx="5751512" cy="6350"/>
          </a:xfrm>
          <a:custGeom>
            <a:avLst/>
            <a:gdLst>
              <a:gd name="T0" fmla="*/ 5752459 w 5752465"/>
              <a:gd name="T1" fmla="*/ 0 h 6350"/>
              <a:gd name="T2" fmla="*/ 0 w 5752465"/>
              <a:gd name="T3" fmla="*/ 0 h 6350"/>
              <a:gd name="T4" fmla="*/ 0 w 5752465"/>
              <a:gd name="T5" fmla="*/ 6095 h 6350"/>
              <a:gd name="T6" fmla="*/ 5752459 w 5752465"/>
              <a:gd name="T7" fmla="*/ 6095 h 6350"/>
              <a:gd name="T8" fmla="*/ 5752459 w 5752465"/>
              <a:gd name="T9" fmla="*/ 0 h 6350"/>
            </a:gdLst>
            <a:ahLst/>
            <a:cxnLst>
              <a:cxn ang="0">
                <a:pos x="T0" y="T1"/>
              </a:cxn>
              <a:cxn ang="0">
                <a:pos x="T2" y="T3"/>
              </a:cxn>
              <a:cxn ang="0">
                <a:pos x="T4" y="T5"/>
              </a:cxn>
              <a:cxn ang="0">
                <a:pos x="T6" y="T7"/>
              </a:cxn>
              <a:cxn ang="0">
                <a:pos x="T8" y="T9"/>
              </a:cxn>
            </a:cxnLst>
            <a:rect l="0" t="0" r="r" b="b"/>
            <a:pathLst>
              <a:path w="5752465" h="6350">
                <a:moveTo>
                  <a:pt x="5752459" y="0"/>
                </a:moveTo>
                <a:lnTo>
                  <a:pt x="0" y="0"/>
                </a:lnTo>
                <a:lnTo>
                  <a:pt x="0" y="6095"/>
                </a:lnTo>
                <a:lnTo>
                  <a:pt x="5752459" y="6095"/>
                </a:lnTo>
                <a:lnTo>
                  <a:pt x="5752459" y="0"/>
                </a:lnTo>
                <a:close/>
              </a:path>
            </a:pathLst>
          </a:custGeom>
          <a:solidFill>
            <a:srgbClr val="2D75B6"/>
          </a:solidFill>
          <a:ln>
            <a:noFill/>
          </a:ln>
          <a:extLst>
            <a:ext uri="{91240B29-F687-4F45-9708-019B960494DF}">
              <a14:hiddenLine xmlns:a14="http://schemas.microsoft.com/office/drawing/2010/main" w="9525">
                <a:solidFill>
                  <a:srgbClr val="000000"/>
                </a:solidFill>
                <a:round/>
                <a:headEnd/>
                <a:tailEnd/>
              </a14:hiddenLine>
            </a:ext>
          </a:extLst>
        </p:spPr>
        <p:txBody>
          <a:bodyPr lIns="0" tIns="0" rIns="0" bIns="0"/>
          <a:lstStyle/>
          <a:p>
            <a:endParaRPr lang="en-IN"/>
          </a:p>
        </p:txBody>
      </p:sp>
      <p:sp>
        <p:nvSpPr>
          <p:cNvPr id="4" name="object 4">
            <a:extLst>
              <a:ext uri="{FF2B5EF4-FFF2-40B4-BE49-F238E27FC236}">
                <a16:creationId xmlns:a16="http://schemas.microsoft.com/office/drawing/2014/main" id="{2CB566C1-E49A-C124-70B7-B14B321ED4A4}"/>
              </a:ext>
            </a:extLst>
          </p:cNvPr>
          <p:cNvSpPr txBox="1"/>
          <p:nvPr/>
        </p:nvSpPr>
        <p:spPr>
          <a:xfrm>
            <a:off x="1135062" y="2388786"/>
            <a:ext cx="5741988" cy="4053033"/>
          </a:xfrm>
          <a:prstGeom prst="rect">
            <a:avLst/>
          </a:prstGeom>
        </p:spPr>
        <p:txBody>
          <a:bodyPr lIns="0" tIns="13335" rIns="0" bIns="0">
            <a:spAutoFit/>
          </a:bodyPr>
          <a:lstStyle>
            <a:lvl1pPr marL="12700" indent="455613">
              <a:tabLst>
                <a:tab pos="325438" algn="l"/>
              </a:tabLst>
              <a:defRPr>
                <a:solidFill>
                  <a:schemeClr val="tx1"/>
                </a:solidFill>
                <a:latin typeface="Arial" panose="020B0604020202020204" pitchFamily="34" charset="0"/>
              </a:defRPr>
            </a:lvl1pPr>
            <a:lvl2pPr marL="323850" indent="-312738">
              <a:tabLst>
                <a:tab pos="325438" algn="l"/>
              </a:tabLst>
              <a:defRPr>
                <a:solidFill>
                  <a:schemeClr val="tx1"/>
                </a:solidFill>
                <a:latin typeface="Arial" panose="020B0604020202020204" pitchFamily="34" charset="0"/>
              </a:defRPr>
            </a:lvl2pPr>
            <a:lvl3pPr marL="468313" indent="-228600">
              <a:tabLst>
                <a:tab pos="325438" algn="l"/>
              </a:tabLst>
              <a:defRPr>
                <a:solidFill>
                  <a:schemeClr val="tx1"/>
                </a:solidFill>
                <a:latin typeface="Arial" panose="020B0604020202020204" pitchFamily="34" charset="0"/>
              </a:defRPr>
            </a:lvl3pPr>
            <a:lvl4pPr marL="1600200" indent="-228600">
              <a:tabLst>
                <a:tab pos="325438" algn="l"/>
              </a:tabLst>
              <a:defRPr>
                <a:solidFill>
                  <a:schemeClr val="tx1"/>
                </a:solidFill>
                <a:latin typeface="Arial" panose="020B0604020202020204" pitchFamily="34" charset="0"/>
              </a:defRPr>
            </a:lvl4pPr>
            <a:lvl5pPr marL="2057400" indent="-228600">
              <a:tabLst>
                <a:tab pos="325438" algn="l"/>
              </a:tabLst>
              <a:defRPr>
                <a:solidFill>
                  <a:schemeClr val="tx1"/>
                </a:solidFill>
                <a:latin typeface="Arial" panose="020B0604020202020204" pitchFamily="34" charset="0"/>
              </a:defRPr>
            </a:lvl5pPr>
            <a:lvl6pPr marL="2514600" indent="-228600" eaLnBrk="0" fontAlgn="base" hangingPunct="0">
              <a:spcBef>
                <a:spcPct val="0"/>
              </a:spcBef>
              <a:spcAft>
                <a:spcPct val="0"/>
              </a:spcAft>
              <a:tabLst>
                <a:tab pos="325438" algn="l"/>
              </a:tabLst>
              <a:defRPr>
                <a:solidFill>
                  <a:schemeClr val="tx1"/>
                </a:solidFill>
                <a:latin typeface="Arial" panose="020B0604020202020204" pitchFamily="34" charset="0"/>
              </a:defRPr>
            </a:lvl6pPr>
            <a:lvl7pPr marL="2971800" indent="-228600" eaLnBrk="0" fontAlgn="base" hangingPunct="0">
              <a:spcBef>
                <a:spcPct val="0"/>
              </a:spcBef>
              <a:spcAft>
                <a:spcPct val="0"/>
              </a:spcAft>
              <a:tabLst>
                <a:tab pos="325438" algn="l"/>
              </a:tabLst>
              <a:defRPr>
                <a:solidFill>
                  <a:schemeClr val="tx1"/>
                </a:solidFill>
                <a:latin typeface="Arial" panose="020B0604020202020204" pitchFamily="34" charset="0"/>
              </a:defRPr>
            </a:lvl7pPr>
            <a:lvl8pPr marL="3429000" indent="-228600" eaLnBrk="0" fontAlgn="base" hangingPunct="0">
              <a:spcBef>
                <a:spcPct val="0"/>
              </a:spcBef>
              <a:spcAft>
                <a:spcPct val="0"/>
              </a:spcAft>
              <a:tabLst>
                <a:tab pos="325438" algn="l"/>
              </a:tabLst>
              <a:defRPr>
                <a:solidFill>
                  <a:schemeClr val="tx1"/>
                </a:solidFill>
                <a:latin typeface="Arial" panose="020B0604020202020204" pitchFamily="34" charset="0"/>
              </a:defRPr>
            </a:lvl8pPr>
            <a:lvl9pPr marL="3886200" indent="-228600" eaLnBrk="0" fontAlgn="base" hangingPunct="0">
              <a:spcBef>
                <a:spcPct val="0"/>
              </a:spcBef>
              <a:spcAft>
                <a:spcPct val="0"/>
              </a:spcAft>
              <a:tabLst>
                <a:tab pos="325438" algn="l"/>
              </a:tabLst>
              <a:defRPr>
                <a:solidFill>
                  <a:schemeClr val="tx1"/>
                </a:solidFill>
                <a:latin typeface="Arial" panose="020B0604020202020204" pitchFamily="34" charset="0"/>
              </a:defRPr>
            </a:lvl9pPr>
          </a:lstStyle>
          <a:p>
            <a:pPr lvl="1" algn="just" eaLnBrk="1" hangingPunct="1">
              <a:spcBef>
                <a:spcPts val="100"/>
              </a:spcBef>
              <a:buFontTx/>
              <a:buAutoNum type="arabicPeriod"/>
            </a:pPr>
            <a:r>
              <a:rPr lang="en-US" altLang="en-US" sz="1400" b="1" dirty="0">
                <a:solidFill>
                  <a:srgbClr val="2D75B6"/>
                </a:solidFill>
                <a:latin typeface="Times New Roman" panose="02020603050405020304" pitchFamily="18" charset="0"/>
                <a:cs typeface="Times New Roman" panose="02020603050405020304" pitchFamily="18" charset="0"/>
              </a:rPr>
              <a:t>Identification</a:t>
            </a:r>
            <a:r>
              <a:rPr lang="en-US" altLang="en-US" sz="1400" dirty="0">
                <a:solidFill>
                  <a:srgbClr val="2D75B6"/>
                </a:solidFill>
                <a:latin typeface="Times New Roman" panose="02020603050405020304" pitchFamily="18" charset="0"/>
                <a:cs typeface="Times New Roman" panose="02020603050405020304" pitchFamily="18" charset="0"/>
              </a:rPr>
              <a:t> </a:t>
            </a:r>
            <a:r>
              <a:rPr lang="en-US" altLang="en-US" sz="1400" b="1" dirty="0">
                <a:solidFill>
                  <a:srgbClr val="2D75B6"/>
                </a:solidFill>
                <a:latin typeface="Times New Roman" panose="02020603050405020304" pitchFamily="18" charset="0"/>
                <a:cs typeface="Times New Roman" panose="02020603050405020304" pitchFamily="18" charset="0"/>
              </a:rPr>
              <a:t>of</a:t>
            </a:r>
            <a:r>
              <a:rPr lang="en-US" altLang="en-US" sz="1400" dirty="0">
                <a:solidFill>
                  <a:srgbClr val="2D75B6"/>
                </a:solidFill>
                <a:latin typeface="Times New Roman" panose="02020603050405020304" pitchFamily="18" charset="0"/>
                <a:cs typeface="Times New Roman" panose="02020603050405020304" pitchFamily="18" charset="0"/>
              </a:rPr>
              <a:t> </a:t>
            </a:r>
            <a:r>
              <a:rPr lang="en-US" altLang="en-US" sz="1400" b="1" dirty="0">
                <a:solidFill>
                  <a:srgbClr val="2D75B6"/>
                </a:solidFill>
                <a:latin typeface="Times New Roman" panose="02020603050405020304" pitchFamily="18" charset="0"/>
                <a:cs typeface="Times New Roman" panose="02020603050405020304" pitchFamily="18" charset="0"/>
              </a:rPr>
              <a:t>Leaf</a:t>
            </a:r>
            <a:r>
              <a:rPr lang="en-US" altLang="en-US" sz="1400" dirty="0">
                <a:solidFill>
                  <a:srgbClr val="2D75B6"/>
                </a:solidFill>
                <a:latin typeface="Times New Roman" panose="02020603050405020304" pitchFamily="18" charset="0"/>
                <a:cs typeface="Times New Roman" panose="02020603050405020304" pitchFamily="18" charset="0"/>
              </a:rPr>
              <a:t> </a:t>
            </a:r>
            <a:r>
              <a:rPr lang="en-US" altLang="en-US" sz="1400" b="1" dirty="0">
                <a:solidFill>
                  <a:srgbClr val="2D75B6"/>
                </a:solidFill>
                <a:latin typeface="Times New Roman" panose="02020603050405020304" pitchFamily="18" charset="0"/>
                <a:cs typeface="Times New Roman" panose="02020603050405020304" pitchFamily="18" charset="0"/>
              </a:rPr>
              <a:t>Cells</a:t>
            </a:r>
          </a:p>
          <a:p>
            <a:pPr lvl="1" algn="just" eaLnBrk="1" hangingPunct="1">
              <a:spcBef>
                <a:spcPts val="100"/>
              </a:spcBef>
              <a:buFontTx/>
              <a:buAutoNum type="arabicPeriod"/>
            </a:pPr>
            <a:endParaRPr lang="en-US" altLang="en-US" sz="1400" dirty="0">
              <a:solidFill>
                <a:srgbClr val="000000"/>
              </a:solidFill>
              <a:latin typeface="Times New Roman" panose="02020603050405020304" pitchFamily="18" charset="0"/>
              <a:cs typeface="Times New Roman" panose="02020603050405020304" pitchFamily="18" charset="0"/>
            </a:endParaRPr>
          </a:p>
          <a:p>
            <a:r>
              <a:rPr lang="en-US" sz="1100" dirty="0">
                <a:latin typeface="Calibri" panose="020F0502020204030204" pitchFamily="34" charset="0"/>
                <a:ea typeface="Calibri" panose="020F0502020204030204" pitchFamily="34" charset="0"/>
                <a:cs typeface="Calibri" panose="020F0502020204030204" pitchFamily="34" charset="0"/>
              </a:rPr>
              <a:t>In VLSI design, a leaf cell is the lowest-level module in the design hierarchy that cannot be further divided. The DENLMS adaptive filter is built using multiple such leaf cells, each performing a specific arithmetic or memory function. Identifying these leaf cells is important for FPGA synthesis, as they directly map to hardware resources like configurable logic blocks (CLBs), DSP slices, and block RAMs in the Virtex-5 device.</a:t>
            </a:r>
          </a:p>
          <a:p>
            <a:r>
              <a:rPr lang="en-US" sz="1100" dirty="0">
                <a:latin typeface="Calibri" panose="020F0502020204030204" pitchFamily="34" charset="0"/>
                <a:ea typeface="Calibri" panose="020F0502020204030204" pitchFamily="34" charset="0"/>
                <a:cs typeface="Calibri" panose="020F0502020204030204" pitchFamily="34" charset="0"/>
              </a:rPr>
              <a:t>Based on the RTL schematic generated using Xilinx Synthesis Tool (XST), the DENLMS architecture consists of eight key leaf cells.</a:t>
            </a:r>
          </a:p>
          <a:p>
            <a:pPr eaLnBrk="1" hangingPunct="1"/>
            <a:endParaRPr lang="en-US" altLang="en-US" sz="1100" dirty="0">
              <a:latin typeface="Calibri" panose="020F0502020204030204" pitchFamily="34" charset="0"/>
              <a:ea typeface="Calibri" panose="020F0502020204030204" pitchFamily="34" charset="0"/>
              <a:cs typeface="Calibri" panose="020F0502020204030204" pitchFamily="34" charset="0"/>
            </a:endParaRPr>
          </a:p>
          <a:p>
            <a:pPr eaLnBrk="1" hangingPunct="1">
              <a:spcBef>
                <a:spcPts val="38"/>
              </a:spcBef>
            </a:pPr>
            <a:endParaRPr lang="en-US" altLang="en-US" sz="1100" dirty="0">
              <a:latin typeface="Calibri" panose="020F0502020204030204" pitchFamily="34" charset="0"/>
              <a:ea typeface="Calibri" panose="020F0502020204030204" pitchFamily="34" charset="0"/>
              <a:cs typeface="Calibri" panose="020F0502020204030204" pitchFamily="34" charset="0"/>
            </a:endParaRPr>
          </a:p>
          <a:p>
            <a:pPr lvl="2" eaLnBrk="1" hangingPunct="1">
              <a:buFontTx/>
              <a:buChar char="•"/>
            </a:pPr>
            <a:r>
              <a:rPr lang="en-US" altLang="en-US" sz="1100" dirty="0">
                <a:latin typeface="Calibri" panose="020F0502020204030204" pitchFamily="34" charset="0"/>
                <a:ea typeface="Calibri" panose="020F0502020204030204" pitchFamily="34" charset="0"/>
                <a:cs typeface="Calibri" panose="020F0502020204030204" pitchFamily="34" charset="0"/>
              </a:rPr>
              <a:t>FIR Filter Leaf Cell (N-tap Multiply-Accumulate Unit)</a:t>
            </a:r>
          </a:p>
          <a:p>
            <a:pPr lvl="2" eaLnBrk="1" hangingPunct="1">
              <a:spcBef>
                <a:spcPts val="800"/>
              </a:spcBef>
              <a:buFontTx/>
              <a:buChar char="•"/>
            </a:pPr>
            <a:r>
              <a:rPr lang="en-US" altLang="en-US" sz="1100" dirty="0">
                <a:latin typeface="Calibri" panose="020F0502020204030204" pitchFamily="34" charset="0"/>
                <a:ea typeface="Calibri" panose="020F0502020204030204" pitchFamily="34" charset="0"/>
                <a:cs typeface="Calibri" panose="020F0502020204030204" pitchFamily="34" charset="0"/>
              </a:rPr>
              <a:t>Subtractor Leaf Cell (16-bit Combinational Subtractor)</a:t>
            </a:r>
          </a:p>
          <a:p>
            <a:pPr lvl="2" eaLnBrk="1" hangingPunct="1">
              <a:spcBef>
                <a:spcPts val="788"/>
              </a:spcBef>
              <a:buFontTx/>
              <a:buChar char="•"/>
            </a:pPr>
            <a:r>
              <a:rPr lang="en-US" altLang="en-US" sz="1100" dirty="0">
                <a:latin typeface="Calibri" panose="020F0502020204030204" pitchFamily="34" charset="0"/>
                <a:ea typeface="Calibri" panose="020F0502020204030204" pitchFamily="34" charset="0"/>
                <a:cs typeface="Calibri" panose="020F0502020204030204" pitchFamily="34" charset="0"/>
              </a:rPr>
              <a:t>Delay Register Leaf Cell (D Flip-Flop Pipeline Register)</a:t>
            </a:r>
          </a:p>
          <a:p>
            <a:pPr lvl="2" eaLnBrk="1" hangingPunct="1">
              <a:spcBef>
                <a:spcPts val="800"/>
              </a:spcBef>
              <a:buFontTx/>
              <a:buChar char="•"/>
            </a:pPr>
            <a:r>
              <a:rPr lang="en-US" altLang="en-US" sz="1100" dirty="0">
                <a:latin typeface="Calibri" panose="020F0502020204030204" pitchFamily="34" charset="0"/>
                <a:ea typeface="Calibri" panose="020F0502020204030204" pitchFamily="34" charset="0"/>
                <a:cs typeface="Calibri" panose="020F0502020204030204" pitchFamily="34" charset="0"/>
              </a:rPr>
              <a:t>Multiplier Leaf Cell (16-bit Signed Multiplier)</a:t>
            </a:r>
          </a:p>
          <a:p>
            <a:pPr lvl="2" eaLnBrk="1" hangingPunct="1">
              <a:spcBef>
                <a:spcPts val="800"/>
              </a:spcBef>
              <a:buFontTx/>
              <a:buChar char="•"/>
            </a:pPr>
            <a:r>
              <a:rPr lang="en-US" altLang="en-US" sz="1100" dirty="0">
                <a:latin typeface="Calibri" panose="020F0502020204030204" pitchFamily="34" charset="0"/>
                <a:ea typeface="Calibri" panose="020F0502020204030204" pitchFamily="34" charset="0"/>
                <a:cs typeface="Calibri" panose="020F0502020204030204" pitchFamily="34" charset="0"/>
              </a:rPr>
              <a:t>Adder Leaf Cell (16-bit Carry-Lookahead Adder)</a:t>
            </a:r>
          </a:p>
          <a:p>
            <a:pPr lvl="2" eaLnBrk="1" hangingPunct="1">
              <a:spcBef>
                <a:spcPts val="788"/>
              </a:spcBef>
              <a:buFontTx/>
              <a:buChar char="•"/>
            </a:pPr>
            <a:r>
              <a:rPr lang="en-US" altLang="en-US" sz="1100" dirty="0">
                <a:latin typeface="Calibri" panose="020F0502020204030204" pitchFamily="34" charset="0"/>
                <a:ea typeface="Calibri" panose="020F0502020204030204" pitchFamily="34" charset="0"/>
                <a:cs typeface="Calibri" panose="020F0502020204030204" pitchFamily="34" charset="0"/>
              </a:rPr>
              <a:t>Divider Leaf Cell (16-bit Sequential Divider for Error Normalization)</a:t>
            </a:r>
          </a:p>
          <a:p>
            <a:pPr lvl="2" eaLnBrk="1" hangingPunct="1">
              <a:spcBef>
                <a:spcPts val="800"/>
              </a:spcBef>
              <a:buFontTx/>
              <a:buChar char="•"/>
            </a:pPr>
            <a:r>
              <a:rPr lang="en-US" altLang="en-US" sz="1100" dirty="0">
                <a:latin typeface="Calibri" panose="020F0502020204030204" pitchFamily="34" charset="0"/>
                <a:ea typeface="Calibri" panose="020F0502020204030204" pitchFamily="34" charset="0"/>
                <a:cs typeface="Calibri" panose="020F0502020204030204" pitchFamily="34" charset="0"/>
              </a:rPr>
              <a:t>Memory Leaf Cell (8 x 16-bit Register File for Coefficients)</a:t>
            </a:r>
          </a:p>
          <a:p>
            <a:pPr lvl="2" eaLnBrk="1" hangingPunct="1">
              <a:spcBef>
                <a:spcPts val="800"/>
              </a:spcBef>
              <a:buFontTx/>
              <a:buChar char="•"/>
            </a:pPr>
            <a:r>
              <a:rPr lang="en-US" altLang="en-US" sz="1100" dirty="0">
                <a:latin typeface="Calibri" panose="020F0502020204030204" pitchFamily="34" charset="0"/>
                <a:ea typeface="Calibri" panose="020F0502020204030204" pitchFamily="34" charset="0"/>
                <a:cs typeface="Calibri" panose="020F0502020204030204" pitchFamily="34" charset="0"/>
              </a:rPr>
              <a:t>Control FSM Leaf Cell (Finite State Machine for Pipeline Control)</a:t>
            </a:r>
          </a:p>
        </p:txBody>
      </p:sp>
      <p:sp>
        <p:nvSpPr>
          <p:cNvPr id="5" name="object 5">
            <a:extLst>
              <a:ext uri="{FF2B5EF4-FFF2-40B4-BE49-F238E27FC236}">
                <a16:creationId xmlns:a16="http://schemas.microsoft.com/office/drawing/2014/main" id="{7FCACA17-2B79-FC83-9D49-3234253DAF43}"/>
              </a:ext>
            </a:extLst>
          </p:cNvPr>
          <p:cNvSpPr txBox="1"/>
          <p:nvPr/>
        </p:nvSpPr>
        <p:spPr>
          <a:xfrm>
            <a:off x="1130300" y="7496175"/>
            <a:ext cx="5738813" cy="1085850"/>
          </a:xfrm>
          <a:prstGeom prst="rect">
            <a:avLst/>
          </a:prstGeom>
        </p:spPr>
        <p:txBody>
          <a:bodyPr lIns="0" tIns="13335" rIns="0" bIns="0">
            <a:spAutoFit/>
          </a:bodyPr>
          <a:lstStyle>
            <a:lvl1pPr marL="12700">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just" eaLnBrk="1" hangingPunct="1">
              <a:spcBef>
                <a:spcPts val="100"/>
              </a:spcBef>
            </a:pPr>
            <a:r>
              <a:rPr lang="en-US" altLang="en-US" sz="1400" b="1">
                <a:solidFill>
                  <a:srgbClr val="2D75B6"/>
                </a:solidFill>
                <a:latin typeface="Times New Roman" panose="02020603050405020304" pitchFamily="18" charset="0"/>
                <a:cs typeface="Times New Roman" panose="02020603050405020304" pitchFamily="18" charset="0"/>
              </a:rPr>
              <a:t>4.2</a:t>
            </a:r>
            <a:r>
              <a:rPr lang="en-US" altLang="en-US" sz="1400">
                <a:solidFill>
                  <a:srgbClr val="2D75B6"/>
                </a:solidFill>
                <a:latin typeface="Times New Roman" panose="02020603050405020304" pitchFamily="18" charset="0"/>
                <a:cs typeface="Times New Roman" panose="02020603050405020304" pitchFamily="18" charset="0"/>
              </a:rPr>
              <a:t> </a:t>
            </a:r>
            <a:r>
              <a:rPr lang="en-US" altLang="en-US" sz="1400" b="1">
                <a:solidFill>
                  <a:srgbClr val="2D75B6"/>
                </a:solidFill>
                <a:latin typeface="Times New Roman" panose="02020603050405020304" pitchFamily="18" charset="0"/>
                <a:cs typeface="Times New Roman" panose="02020603050405020304" pitchFamily="18" charset="0"/>
              </a:rPr>
              <a:t>Description</a:t>
            </a:r>
            <a:r>
              <a:rPr lang="en-US" altLang="en-US" sz="1400">
                <a:solidFill>
                  <a:srgbClr val="2D75B6"/>
                </a:solidFill>
                <a:latin typeface="Times New Roman" panose="02020603050405020304" pitchFamily="18" charset="0"/>
                <a:cs typeface="Times New Roman" panose="02020603050405020304" pitchFamily="18" charset="0"/>
              </a:rPr>
              <a:t> </a:t>
            </a:r>
            <a:r>
              <a:rPr lang="en-US" altLang="en-US" sz="1400" b="1">
                <a:solidFill>
                  <a:srgbClr val="2D75B6"/>
                </a:solidFill>
                <a:latin typeface="Times New Roman" panose="02020603050405020304" pitchFamily="18" charset="0"/>
                <a:cs typeface="Times New Roman" panose="02020603050405020304" pitchFamily="18" charset="0"/>
              </a:rPr>
              <a:t>of</a:t>
            </a:r>
            <a:r>
              <a:rPr lang="en-US" altLang="en-US" sz="1400">
                <a:solidFill>
                  <a:srgbClr val="2D75B6"/>
                </a:solidFill>
                <a:latin typeface="Times New Roman" panose="02020603050405020304" pitchFamily="18" charset="0"/>
                <a:cs typeface="Times New Roman" panose="02020603050405020304" pitchFamily="18" charset="0"/>
              </a:rPr>
              <a:t> </a:t>
            </a:r>
            <a:r>
              <a:rPr lang="en-US" altLang="en-US" sz="1400" b="1">
                <a:solidFill>
                  <a:srgbClr val="2D75B6"/>
                </a:solidFill>
                <a:latin typeface="Times New Roman" panose="02020603050405020304" pitchFamily="18" charset="0"/>
                <a:cs typeface="Times New Roman" panose="02020603050405020304" pitchFamily="18" charset="0"/>
              </a:rPr>
              <a:t>Leaf</a:t>
            </a:r>
            <a:r>
              <a:rPr lang="en-US" altLang="en-US" sz="1400">
                <a:solidFill>
                  <a:srgbClr val="2D75B6"/>
                </a:solidFill>
                <a:latin typeface="Times New Roman" panose="02020603050405020304" pitchFamily="18" charset="0"/>
                <a:cs typeface="Times New Roman" panose="02020603050405020304" pitchFamily="18" charset="0"/>
              </a:rPr>
              <a:t> </a:t>
            </a:r>
            <a:r>
              <a:rPr lang="en-US" altLang="en-US" sz="1400" b="1">
                <a:solidFill>
                  <a:srgbClr val="2D75B6"/>
                </a:solidFill>
                <a:latin typeface="Times New Roman" panose="02020603050405020304" pitchFamily="18" charset="0"/>
                <a:cs typeface="Times New Roman" panose="02020603050405020304" pitchFamily="18" charset="0"/>
              </a:rPr>
              <a:t>Cells</a:t>
            </a:r>
            <a:endParaRPr lang="en-US" altLang="en-US" sz="1400">
              <a:solidFill>
                <a:srgbClr val="000000"/>
              </a:solidFill>
              <a:latin typeface="Times New Roman" panose="02020603050405020304" pitchFamily="18" charset="0"/>
              <a:cs typeface="Times New Roman" panose="02020603050405020304" pitchFamily="18" charset="0"/>
            </a:endParaRPr>
          </a:p>
          <a:p>
            <a:pPr algn="just" eaLnBrk="1" hangingPunct="1">
              <a:lnSpc>
                <a:spcPct val="136000"/>
              </a:lnSpc>
              <a:spcBef>
                <a:spcPts val="800"/>
              </a:spcBef>
            </a:pPr>
            <a:r>
              <a:rPr lang="en-US" altLang="en-US" sz="1200">
                <a:solidFill>
                  <a:srgbClr val="000000"/>
                </a:solidFill>
                <a:latin typeface="Times New Roman" panose="02020603050405020304" pitchFamily="18" charset="0"/>
                <a:cs typeface="Times New Roman" panose="02020603050405020304" pitchFamily="18" charset="0"/>
              </a:rPr>
              <a:t>Table 4.1 provides a detailed description of all identified leaf cells in the DENLMS filter architecture, including their function, hardware implementation type, data width, and key operational property.</a:t>
            </a:r>
          </a:p>
        </p:txBody>
      </p:sp>
    </p:spTree>
    <p:extLst>
      <p:ext uri="{BB962C8B-B14F-4D97-AF65-F5344CB8AC3E}">
        <p14:creationId xmlns:p14="http://schemas.microsoft.com/office/powerpoint/2010/main" val="17099276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a:extLst>
              <a:ext uri="{FF2B5EF4-FFF2-40B4-BE49-F238E27FC236}">
                <a16:creationId xmlns:a16="http://schemas.microsoft.com/office/drawing/2014/main" id="{0AA5E279-8231-5857-876D-9E75804E9888}"/>
              </a:ext>
            </a:extLst>
          </p:cNvPr>
          <p:cNvSpPr txBox="1"/>
          <p:nvPr/>
        </p:nvSpPr>
        <p:spPr>
          <a:xfrm>
            <a:off x="1130300" y="584200"/>
            <a:ext cx="3265488" cy="268288"/>
          </a:xfrm>
          <a:prstGeom prst="rect">
            <a:avLst/>
          </a:prstGeom>
        </p:spPr>
        <p:txBody>
          <a:bodyPr wrap="square" lIns="0" tIns="12065" rIns="0" bIns="0">
            <a:spAutoFit/>
          </a:bodyPr>
          <a:lstStyle/>
          <a:p>
            <a:pPr marL="12700" eaLnBrk="1" fontAlgn="auto" hangingPunct="1">
              <a:spcBef>
                <a:spcPts val="95"/>
              </a:spcBef>
              <a:spcAft>
                <a:spcPts val="0"/>
              </a:spcAft>
              <a:defRPr/>
            </a:pPr>
            <a:r>
              <a:rPr sz="1600" b="1" kern="0">
                <a:solidFill>
                  <a:srgbClr val="1F4E79"/>
                </a:solidFill>
                <a:latin typeface="Times New Roman"/>
                <a:cs typeface="Times New Roman"/>
              </a:rPr>
              <a:t>CHAPTER</a:t>
            </a:r>
            <a:r>
              <a:rPr sz="1600" kern="0" spc="-55">
                <a:solidFill>
                  <a:srgbClr val="1F4E79"/>
                </a:solidFill>
                <a:latin typeface="Times New Roman"/>
                <a:cs typeface="Times New Roman"/>
              </a:rPr>
              <a:t> </a:t>
            </a:r>
            <a:r>
              <a:rPr sz="1600" b="1" kern="0">
                <a:solidFill>
                  <a:srgbClr val="1F4E79"/>
                </a:solidFill>
                <a:latin typeface="Times New Roman"/>
                <a:cs typeface="Times New Roman"/>
              </a:rPr>
              <a:t>4:</a:t>
            </a:r>
            <a:r>
              <a:rPr sz="1600" kern="0" spc="-45">
                <a:solidFill>
                  <a:srgbClr val="1F4E79"/>
                </a:solidFill>
                <a:latin typeface="Times New Roman"/>
                <a:cs typeface="Times New Roman"/>
              </a:rPr>
              <a:t> </a:t>
            </a:r>
            <a:r>
              <a:rPr sz="1600" b="1" kern="0">
                <a:solidFill>
                  <a:srgbClr val="1F4E79"/>
                </a:solidFill>
                <a:latin typeface="Times New Roman"/>
                <a:cs typeface="Times New Roman"/>
              </a:rPr>
              <a:t>LEAF</a:t>
            </a:r>
            <a:r>
              <a:rPr sz="1600" kern="0" spc="-55">
                <a:solidFill>
                  <a:srgbClr val="1F4E79"/>
                </a:solidFill>
                <a:latin typeface="Times New Roman"/>
                <a:cs typeface="Times New Roman"/>
              </a:rPr>
              <a:t> </a:t>
            </a:r>
            <a:r>
              <a:rPr sz="1600" b="1" kern="0">
                <a:solidFill>
                  <a:srgbClr val="1F4E79"/>
                </a:solidFill>
                <a:latin typeface="Times New Roman"/>
                <a:cs typeface="Times New Roman"/>
              </a:rPr>
              <a:t>CELL</a:t>
            </a:r>
            <a:r>
              <a:rPr sz="1600" kern="0" spc="-40">
                <a:solidFill>
                  <a:srgbClr val="1F4E79"/>
                </a:solidFill>
                <a:latin typeface="Times New Roman"/>
                <a:cs typeface="Times New Roman"/>
              </a:rPr>
              <a:t> </a:t>
            </a:r>
            <a:r>
              <a:rPr sz="1600" b="1" kern="0" spc="-10">
                <a:solidFill>
                  <a:srgbClr val="1F4E79"/>
                </a:solidFill>
                <a:latin typeface="Times New Roman"/>
                <a:cs typeface="Times New Roman"/>
              </a:rPr>
              <a:t>DESIGN</a:t>
            </a:r>
            <a:endParaRPr sz="1600" kern="0">
              <a:solidFill>
                <a:sysClr val="windowText" lastClr="000000"/>
              </a:solidFill>
              <a:latin typeface="Times New Roman"/>
              <a:cs typeface="Times New Roman"/>
            </a:endParaRPr>
          </a:p>
        </p:txBody>
      </p:sp>
      <p:sp>
        <p:nvSpPr>
          <p:cNvPr id="10243" name="object 3">
            <a:extLst>
              <a:ext uri="{FF2B5EF4-FFF2-40B4-BE49-F238E27FC236}">
                <a16:creationId xmlns:a16="http://schemas.microsoft.com/office/drawing/2014/main" id="{4765B011-B571-DF3A-5C97-DFE2F4B2AC41}"/>
              </a:ext>
            </a:extLst>
          </p:cNvPr>
          <p:cNvSpPr>
            <a:spLocks/>
          </p:cNvSpPr>
          <p:nvPr/>
        </p:nvSpPr>
        <p:spPr bwMode="auto">
          <a:xfrm>
            <a:off x="1125538" y="1620838"/>
            <a:ext cx="5751512" cy="6350"/>
          </a:xfrm>
          <a:custGeom>
            <a:avLst/>
            <a:gdLst>
              <a:gd name="T0" fmla="*/ 5752459 w 5752465"/>
              <a:gd name="T1" fmla="*/ 0 h 6350"/>
              <a:gd name="T2" fmla="*/ 0 w 5752465"/>
              <a:gd name="T3" fmla="*/ 0 h 6350"/>
              <a:gd name="T4" fmla="*/ 0 w 5752465"/>
              <a:gd name="T5" fmla="*/ 6095 h 6350"/>
              <a:gd name="T6" fmla="*/ 5752459 w 5752465"/>
              <a:gd name="T7" fmla="*/ 6095 h 6350"/>
              <a:gd name="T8" fmla="*/ 5752459 w 5752465"/>
              <a:gd name="T9" fmla="*/ 0 h 6350"/>
            </a:gdLst>
            <a:ahLst/>
            <a:cxnLst>
              <a:cxn ang="0">
                <a:pos x="T0" y="T1"/>
              </a:cxn>
              <a:cxn ang="0">
                <a:pos x="T2" y="T3"/>
              </a:cxn>
              <a:cxn ang="0">
                <a:pos x="T4" y="T5"/>
              </a:cxn>
              <a:cxn ang="0">
                <a:pos x="T6" y="T7"/>
              </a:cxn>
              <a:cxn ang="0">
                <a:pos x="T8" y="T9"/>
              </a:cxn>
            </a:cxnLst>
            <a:rect l="0" t="0" r="r" b="b"/>
            <a:pathLst>
              <a:path w="5752465" h="6350">
                <a:moveTo>
                  <a:pt x="5752459" y="0"/>
                </a:moveTo>
                <a:lnTo>
                  <a:pt x="0" y="0"/>
                </a:lnTo>
                <a:lnTo>
                  <a:pt x="0" y="6095"/>
                </a:lnTo>
                <a:lnTo>
                  <a:pt x="5752459" y="6095"/>
                </a:lnTo>
                <a:lnTo>
                  <a:pt x="5752459" y="0"/>
                </a:lnTo>
                <a:close/>
              </a:path>
            </a:pathLst>
          </a:custGeom>
          <a:solidFill>
            <a:srgbClr val="2D75B6"/>
          </a:solidFill>
          <a:ln>
            <a:noFill/>
          </a:ln>
          <a:extLst>
            <a:ext uri="{91240B29-F687-4F45-9708-019B960494DF}">
              <a14:hiddenLine xmlns:a14="http://schemas.microsoft.com/office/drawing/2010/main" w="9525">
                <a:solidFill>
                  <a:srgbClr val="000000"/>
                </a:solidFill>
                <a:round/>
                <a:headEnd/>
                <a:tailEnd/>
              </a14:hiddenLine>
            </a:ext>
          </a:extLst>
        </p:spPr>
        <p:txBody>
          <a:bodyPr lIns="0" tIns="0" rIns="0" bIns="0"/>
          <a:lstStyle/>
          <a:p>
            <a:endParaRPr lang="en-IN"/>
          </a:p>
        </p:txBody>
      </p:sp>
      <p:sp>
        <p:nvSpPr>
          <p:cNvPr id="4" name="object 4">
            <a:extLst>
              <a:ext uri="{FF2B5EF4-FFF2-40B4-BE49-F238E27FC236}">
                <a16:creationId xmlns:a16="http://schemas.microsoft.com/office/drawing/2014/main" id="{2CB566C1-E49A-C124-70B7-B14B321ED4A4}"/>
              </a:ext>
            </a:extLst>
          </p:cNvPr>
          <p:cNvSpPr txBox="1"/>
          <p:nvPr/>
        </p:nvSpPr>
        <p:spPr>
          <a:xfrm>
            <a:off x="1130300" y="1766888"/>
            <a:ext cx="5741988" cy="4648067"/>
          </a:xfrm>
          <a:prstGeom prst="rect">
            <a:avLst/>
          </a:prstGeom>
        </p:spPr>
        <p:txBody>
          <a:bodyPr lIns="0" tIns="13335" rIns="0" bIns="0">
            <a:spAutoFit/>
          </a:bodyPr>
          <a:lstStyle>
            <a:lvl1pPr marL="12700" indent="455613">
              <a:tabLst>
                <a:tab pos="325438" algn="l"/>
              </a:tabLst>
              <a:defRPr>
                <a:solidFill>
                  <a:schemeClr val="tx1"/>
                </a:solidFill>
                <a:latin typeface="Arial" panose="020B0604020202020204" pitchFamily="34" charset="0"/>
              </a:defRPr>
            </a:lvl1pPr>
            <a:lvl2pPr marL="323850" indent="-312738">
              <a:tabLst>
                <a:tab pos="325438" algn="l"/>
              </a:tabLst>
              <a:defRPr>
                <a:solidFill>
                  <a:schemeClr val="tx1"/>
                </a:solidFill>
                <a:latin typeface="Arial" panose="020B0604020202020204" pitchFamily="34" charset="0"/>
              </a:defRPr>
            </a:lvl2pPr>
            <a:lvl3pPr marL="468313" indent="-228600">
              <a:tabLst>
                <a:tab pos="325438" algn="l"/>
              </a:tabLst>
              <a:defRPr>
                <a:solidFill>
                  <a:schemeClr val="tx1"/>
                </a:solidFill>
                <a:latin typeface="Arial" panose="020B0604020202020204" pitchFamily="34" charset="0"/>
              </a:defRPr>
            </a:lvl3pPr>
            <a:lvl4pPr marL="1600200" indent="-228600">
              <a:tabLst>
                <a:tab pos="325438" algn="l"/>
              </a:tabLst>
              <a:defRPr>
                <a:solidFill>
                  <a:schemeClr val="tx1"/>
                </a:solidFill>
                <a:latin typeface="Arial" panose="020B0604020202020204" pitchFamily="34" charset="0"/>
              </a:defRPr>
            </a:lvl4pPr>
            <a:lvl5pPr marL="2057400" indent="-228600">
              <a:tabLst>
                <a:tab pos="325438" algn="l"/>
              </a:tabLst>
              <a:defRPr>
                <a:solidFill>
                  <a:schemeClr val="tx1"/>
                </a:solidFill>
                <a:latin typeface="Arial" panose="020B0604020202020204" pitchFamily="34" charset="0"/>
              </a:defRPr>
            </a:lvl5pPr>
            <a:lvl6pPr marL="2514600" indent="-228600" eaLnBrk="0" fontAlgn="base" hangingPunct="0">
              <a:spcBef>
                <a:spcPct val="0"/>
              </a:spcBef>
              <a:spcAft>
                <a:spcPct val="0"/>
              </a:spcAft>
              <a:tabLst>
                <a:tab pos="325438" algn="l"/>
              </a:tabLst>
              <a:defRPr>
                <a:solidFill>
                  <a:schemeClr val="tx1"/>
                </a:solidFill>
                <a:latin typeface="Arial" panose="020B0604020202020204" pitchFamily="34" charset="0"/>
              </a:defRPr>
            </a:lvl6pPr>
            <a:lvl7pPr marL="2971800" indent="-228600" eaLnBrk="0" fontAlgn="base" hangingPunct="0">
              <a:spcBef>
                <a:spcPct val="0"/>
              </a:spcBef>
              <a:spcAft>
                <a:spcPct val="0"/>
              </a:spcAft>
              <a:tabLst>
                <a:tab pos="325438" algn="l"/>
              </a:tabLst>
              <a:defRPr>
                <a:solidFill>
                  <a:schemeClr val="tx1"/>
                </a:solidFill>
                <a:latin typeface="Arial" panose="020B0604020202020204" pitchFamily="34" charset="0"/>
              </a:defRPr>
            </a:lvl7pPr>
            <a:lvl8pPr marL="3429000" indent="-228600" eaLnBrk="0" fontAlgn="base" hangingPunct="0">
              <a:spcBef>
                <a:spcPct val="0"/>
              </a:spcBef>
              <a:spcAft>
                <a:spcPct val="0"/>
              </a:spcAft>
              <a:tabLst>
                <a:tab pos="325438" algn="l"/>
              </a:tabLst>
              <a:defRPr>
                <a:solidFill>
                  <a:schemeClr val="tx1"/>
                </a:solidFill>
                <a:latin typeface="Arial" panose="020B0604020202020204" pitchFamily="34" charset="0"/>
              </a:defRPr>
            </a:lvl8pPr>
            <a:lvl9pPr marL="3886200" indent="-228600" eaLnBrk="0" fontAlgn="base" hangingPunct="0">
              <a:spcBef>
                <a:spcPct val="0"/>
              </a:spcBef>
              <a:spcAft>
                <a:spcPct val="0"/>
              </a:spcAft>
              <a:tabLst>
                <a:tab pos="325438" algn="l"/>
              </a:tabLst>
              <a:defRPr>
                <a:solidFill>
                  <a:schemeClr val="tx1"/>
                </a:solidFill>
                <a:latin typeface="Arial" panose="020B0604020202020204" pitchFamily="34" charset="0"/>
              </a:defRPr>
            </a:lvl9pPr>
          </a:lstStyle>
          <a:p>
            <a:pPr lvl="1" algn="just" eaLnBrk="1" hangingPunct="1">
              <a:spcBef>
                <a:spcPts val="100"/>
              </a:spcBef>
              <a:buFontTx/>
              <a:buAutoNum type="arabicPeriod"/>
            </a:pPr>
            <a:r>
              <a:rPr lang="en-US" altLang="en-US" sz="1400" b="1" dirty="0">
                <a:solidFill>
                  <a:srgbClr val="2D75B6"/>
                </a:solidFill>
                <a:latin typeface="Times New Roman" panose="02020603050405020304" pitchFamily="18" charset="0"/>
                <a:cs typeface="Times New Roman" panose="02020603050405020304" pitchFamily="18" charset="0"/>
              </a:rPr>
              <a:t>Identification</a:t>
            </a:r>
            <a:r>
              <a:rPr lang="en-US" altLang="en-US" sz="1400" dirty="0">
                <a:solidFill>
                  <a:srgbClr val="2D75B6"/>
                </a:solidFill>
                <a:latin typeface="Times New Roman" panose="02020603050405020304" pitchFamily="18" charset="0"/>
                <a:cs typeface="Times New Roman" panose="02020603050405020304" pitchFamily="18" charset="0"/>
              </a:rPr>
              <a:t> </a:t>
            </a:r>
            <a:r>
              <a:rPr lang="en-US" altLang="en-US" sz="1400" b="1" dirty="0">
                <a:solidFill>
                  <a:srgbClr val="2D75B6"/>
                </a:solidFill>
                <a:latin typeface="Times New Roman" panose="02020603050405020304" pitchFamily="18" charset="0"/>
                <a:cs typeface="Times New Roman" panose="02020603050405020304" pitchFamily="18" charset="0"/>
              </a:rPr>
              <a:t>of</a:t>
            </a:r>
            <a:r>
              <a:rPr lang="en-US" altLang="en-US" sz="1400" dirty="0">
                <a:solidFill>
                  <a:srgbClr val="2D75B6"/>
                </a:solidFill>
                <a:latin typeface="Times New Roman" panose="02020603050405020304" pitchFamily="18" charset="0"/>
                <a:cs typeface="Times New Roman" panose="02020603050405020304" pitchFamily="18" charset="0"/>
              </a:rPr>
              <a:t> </a:t>
            </a:r>
            <a:r>
              <a:rPr lang="en-US" altLang="en-US" sz="1400" b="1" dirty="0">
                <a:solidFill>
                  <a:srgbClr val="2D75B6"/>
                </a:solidFill>
                <a:latin typeface="Times New Roman" panose="02020603050405020304" pitchFamily="18" charset="0"/>
                <a:cs typeface="Times New Roman" panose="02020603050405020304" pitchFamily="18" charset="0"/>
              </a:rPr>
              <a:t>Leaf</a:t>
            </a:r>
            <a:r>
              <a:rPr lang="en-US" altLang="en-US" sz="1400" dirty="0">
                <a:solidFill>
                  <a:srgbClr val="2D75B6"/>
                </a:solidFill>
                <a:latin typeface="Times New Roman" panose="02020603050405020304" pitchFamily="18" charset="0"/>
                <a:cs typeface="Times New Roman" panose="02020603050405020304" pitchFamily="18" charset="0"/>
              </a:rPr>
              <a:t> </a:t>
            </a:r>
            <a:r>
              <a:rPr lang="en-US" altLang="en-US" sz="1400" b="1" dirty="0">
                <a:solidFill>
                  <a:srgbClr val="2D75B6"/>
                </a:solidFill>
                <a:latin typeface="Times New Roman" panose="02020603050405020304" pitchFamily="18" charset="0"/>
                <a:cs typeface="Times New Roman" panose="02020603050405020304" pitchFamily="18" charset="0"/>
              </a:rPr>
              <a:t>Cells</a:t>
            </a:r>
            <a:endParaRPr lang="en-US" altLang="en-US" sz="1400" dirty="0">
              <a:solidFill>
                <a:srgbClr val="000000"/>
              </a:solidFill>
              <a:latin typeface="Times New Roman" panose="02020603050405020304" pitchFamily="18" charset="0"/>
              <a:cs typeface="Times New Roman" panose="02020603050405020304" pitchFamily="18" charset="0"/>
            </a:endParaRPr>
          </a:p>
          <a:p>
            <a:pPr algn="just" eaLnBrk="1" hangingPunct="1">
              <a:lnSpc>
                <a:spcPct val="136000"/>
              </a:lnSpc>
              <a:spcBef>
                <a:spcPts val="788"/>
              </a:spcBef>
            </a:pPr>
            <a:r>
              <a:rPr lang="en-US" altLang="en-US" sz="1100" dirty="0">
                <a:latin typeface="Calibri" panose="020F0502020204030204" pitchFamily="34" charset="0"/>
                <a:ea typeface="Calibri" panose="020F0502020204030204" pitchFamily="34" charset="0"/>
                <a:cs typeface="Calibri" panose="020F0502020204030204" pitchFamily="34" charset="0"/>
              </a:rPr>
              <a:t>In VLSI design methodology, a leaf cell refers to the lowest-level primitive module in the design hierarchy that cannot be further decomposed into sub-modules. The DENLMS adaptive filter architecture is hierarchically composed of multiple leaf cells, each performing a specific, well-defined arithmetic or memory operation. The identification of leaf cells is critical for FPGA synthesis, as each leaf cell maps directly to specific configurable logic blocks (CLBs), DSP slices, or block RAMs in the </a:t>
            </a:r>
            <a:r>
              <a:rPr lang="en-US" altLang="en-US" sz="1100" dirty="0" err="1">
                <a:latin typeface="Calibri" panose="020F0502020204030204" pitchFamily="34" charset="0"/>
                <a:ea typeface="Calibri" panose="020F0502020204030204" pitchFamily="34" charset="0"/>
                <a:cs typeface="Calibri" panose="020F0502020204030204" pitchFamily="34" charset="0"/>
              </a:rPr>
              <a:t>Virtex</a:t>
            </a:r>
            <a:r>
              <a:rPr lang="en-US" altLang="en-US" sz="1100" dirty="0">
                <a:latin typeface="Calibri" panose="020F0502020204030204" pitchFamily="34" charset="0"/>
                <a:ea typeface="Calibri" panose="020F0502020204030204" pitchFamily="34" charset="0"/>
                <a:cs typeface="Calibri" panose="020F0502020204030204" pitchFamily="34" charset="0"/>
              </a:rPr>
              <a:t> 5 FPGA device.</a:t>
            </a:r>
          </a:p>
          <a:p>
            <a:pPr algn="just" eaLnBrk="1" hangingPunct="1">
              <a:lnSpc>
                <a:spcPct val="136000"/>
              </a:lnSpc>
              <a:spcBef>
                <a:spcPts val="488"/>
              </a:spcBef>
            </a:pPr>
            <a:r>
              <a:rPr lang="en-US" altLang="en-US" sz="1100" dirty="0">
                <a:latin typeface="Calibri" panose="020F0502020204030204" pitchFamily="34" charset="0"/>
                <a:ea typeface="Calibri" panose="020F0502020204030204" pitchFamily="34" charset="0"/>
                <a:cs typeface="Calibri" panose="020F0502020204030204" pitchFamily="34" charset="0"/>
              </a:rPr>
              <a:t>The DENLMS filter architecture has been analyzed and the following eight leaf cells have been identified based on the RTL schematic generated by the Xilinx Synthesis Tool (XST):</a:t>
            </a:r>
          </a:p>
          <a:p>
            <a:pPr eaLnBrk="1" hangingPunct="1"/>
            <a:endParaRPr lang="en-US" altLang="en-US" sz="1100" dirty="0">
              <a:latin typeface="Calibri" panose="020F0502020204030204" pitchFamily="34" charset="0"/>
              <a:ea typeface="Calibri" panose="020F0502020204030204" pitchFamily="34" charset="0"/>
              <a:cs typeface="Calibri" panose="020F0502020204030204" pitchFamily="34" charset="0"/>
            </a:endParaRPr>
          </a:p>
          <a:p>
            <a:pPr eaLnBrk="1" hangingPunct="1">
              <a:spcBef>
                <a:spcPts val="38"/>
              </a:spcBef>
            </a:pPr>
            <a:endParaRPr lang="en-US" altLang="en-US" sz="1100" dirty="0">
              <a:latin typeface="Calibri" panose="020F0502020204030204" pitchFamily="34" charset="0"/>
              <a:ea typeface="Calibri" panose="020F0502020204030204" pitchFamily="34" charset="0"/>
              <a:cs typeface="Calibri" panose="020F0502020204030204" pitchFamily="34" charset="0"/>
            </a:endParaRPr>
          </a:p>
          <a:p>
            <a:pPr lvl="2" eaLnBrk="1" hangingPunct="1">
              <a:buFontTx/>
              <a:buChar char="•"/>
            </a:pPr>
            <a:r>
              <a:rPr lang="en-US" altLang="en-US" sz="1100" dirty="0">
                <a:latin typeface="Calibri" panose="020F0502020204030204" pitchFamily="34" charset="0"/>
                <a:ea typeface="Calibri" panose="020F0502020204030204" pitchFamily="34" charset="0"/>
                <a:cs typeface="Calibri" panose="020F0502020204030204" pitchFamily="34" charset="0"/>
              </a:rPr>
              <a:t>FIR Filter Leaf Cell (N-tap Multiply-Accumulate Unit)</a:t>
            </a:r>
          </a:p>
          <a:p>
            <a:pPr lvl="2" eaLnBrk="1" hangingPunct="1">
              <a:spcBef>
                <a:spcPts val="800"/>
              </a:spcBef>
              <a:buFontTx/>
              <a:buChar char="•"/>
            </a:pPr>
            <a:r>
              <a:rPr lang="en-US" altLang="en-US" sz="1100" dirty="0">
                <a:latin typeface="Calibri" panose="020F0502020204030204" pitchFamily="34" charset="0"/>
                <a:ea typeface="Calibri" panose="020F0502020204030204" pitchFamily="34" charset="0"/>
                <a:cs typeface="Calibri" panose="020F0502020204030204" pitchFamily="34" charset="0"/>
              </a:rPr>
              <a:t>Subtractor Leaf Cell (16-bit Combinational Subtractor)</a:t>
            </a:r>
          </a:p>
          <a:p>
            <a:pPr lvl="2" eaLnBrk="1" hangingPunct="1">
              <a:spcBef>
                <a:spcPts val="788"/>
              </a:spcBef>
              <a:buFontTx/>
              <a:buChar char="•"/>
            </a:pPr>
            <a:r>
              <a:rPr lang="en-US" altLang="en-US" sz="1100" dirty="0">
                <a:latin typeface="Calibri" panose="020F0502020204030204" pitchFamily="34" charset="0"/>
                <a:ea typeface="Calibri" panose="020F0502020204030204" pitchFamily="34" charset="0"/>
                <a:cs typeface="Calibri" panose="020F0502020204030204" pitchFamily="34" charset="0"/>
              </a:rPr>
              <a:t>Delay Register Leaf Cell (D Flip-Flop Pipeline Register)</a:t>
            </a:r>
          </a:p>
          <a:p>
            <a:pPr lvl="2" eaLnBrk="1" hangingPunct="1">
              <a:spcBef>
                <a:spcPts val="800"/>
              </a:spcBef>
              <a:buFontTx/>
              <a:buChar char="•"/>
            </a:pPr>
            <a:r>
              <a:rPr lang="en-US" altLang="en-US" sz="1100" dirty="0">
                <a:latin typeface="Calibri" panose="020F0502020204030204" pitchFamily="34" charset="0"/>
                <a:ea typeface="Calibri" panose="020F0502020204030204" pitchFamily="34" charset="0"/>
                <a:cs typeface="Calibri" panose="020F0502020204030204" pitchFamily="34" charset="0"/>
              </a:rPr>
              <a:t>Multiplier Leaf Cell (16-bit Signed Multiplier)</a:t>
            </a:r>
          </a:p>
          <a:p>
            <a:pPr lvl="2" eaLnBrk="1" hangingPunct="1">
              <a:spcBef>
                <a:spcPts val="800"/>
              </a:spcBef>
              <a:buFontTx/>
              <a:buChar char="•"/>
            </a:pPr>
            <a:r>
              <a:rPr lang="en-US" altLang="en-US" sz="1100" dirty="0">
                <a:latin typeface="Calibri" panose="020F0502020204030204" pitchFamily="34" charset="0"/>
                <a:ea typeface="Calibri" panose="020F0502020204030204" pitchFamily="34" charset="0"/>
                <a:cs typeface="Calibri" panose="020F0502020204030204" pitchFamily="34" charset="0"/>
              </a:rPr>
              <a:t>Adder Leaf Cell (16-bit Carry-Lookahead Adder)</a:t>
            </a:r>
          </a:p>
          <a:p>
            <a:pPr lvl="2" eaLnBrk="1" hangingPunct="1">
              <a:spcBef>
                <a:spcPts val="788"/>
              </a:spcBef>
              <a:buFontTx/>
              <a:buChar char="•"/>
            </a:pPr>
            <a:r>
              <a:rPr lang="en-US" altLang="en-US" sz="1100" dirty="0">
                <a:latin typeface="Calibri" panose="020F0502020204030204" pitchFamily="34" charset="0"/>
                <a:ea typeface="Calibri" panose="020F0502020204030204" pitchFamily="34" charset="0"/>
                <a:cs typeface="Calibri" panose="020F0502020204030204" pitchFamily="34" charset="0"/>
              </a:rPr>
              <a:t>Divider Leaf Cell (16-bit Sequential Divider for Error Normalization)</a:t>
            </a:r>
          </a:p>
          <a:p>
            <a:pPr lvl="2" eaLnBrk="1" hangingPunct="1">
              <a:spcBef>
                <a:spcPts val="800"/>
              </a:spcBef>
              <a:buFontTx/>
              <a:buChar char="•"/>
            </a:pPr>
            <a:r>
              <a:rPr lang="en-US" altLang="en-US" sz="1100" dirty="0">
                <a:latin typeface="Calibri" panose="020F0502020204030204" pitchFamily="34" charset="0"/>
                <a:ea typeface="Calibri" panose="020F0502020204030204" pitchFamily="34" charset="0"/>
                <a:cs typeface="Calibri" panose="020F0502020204030204" pitchFamily="34" charset="0"/>
              </a:rPr>
              <a:t>Memory Leaf Cell (8 x 16-bit Register File for Coefficients)</a:t>
            </a:r>
          </a:p>
          <a:p>
            <a:pPr lvl="2" eaLnBrk="1" hangingPunct="1">
              <a:spcBef>
                <a:spcPts val="800"/>
              </a:spcBef>
              <a:buFontTx/>
              <a:buChar char="•"/>
            </a:pPr>
            <a:r>
              <a:rPr lang="en-US" altLang="en-US" sz="1100" dirty="0">
                <a:latin typeface="Calibri" panose="020F0502020204030204" pitchFamily="34" charset="0"/>
                <a:ea typeface="Calibri" panose="020F0502020204030204" pitchFamily="34" charset="0"/>
                <a:cs typeface="Calibri" panose="020F0502020204030204" pitchFamily="34" charset="0"/>
              </a:rPr>
              <a:t>Control FSM Leaf Cell (Finite State Machine for Pipeline Control)</a:t>
            </a:r>
          </a:p>
        </p:txBody>
      </p:sp>
      <p:sp>
        <p:nvSpPr>
          <p:cNvPr id="5" name="object 5">
            <a:extLst>
              <a:ext uri="{FF2B5EF4-FFF2-40B4-BE49-F238E27FC236}">
                <a16:creationId xmlns:a16="http://schemas.microsoft.com/office/drawing/2014/main" id="{7FCACA17-2B79-FC83-9D49-3234253DAF43}"/>
              </a:ext>
            </a:extLst>
          </p:cNvPr>
          <p:cNvSpPr txBox="1"/>
          <p:nvPr/>
        </p:nvSpPr>
        <p:spPr>
          <a:xfrm>
            <a:off x="1130300" y="7496175"/>
            <a:ext cx="5738813" cy="807080"/>
          </a:xfrm>
          <a:prstGeom prst="rect">
            <a:avLst/>
          </a:prstGeom>
        </p:spPr>
        <p:txBody>
          <a:bodyPr lIns="0" tIns="13335" rIns="0" bIns="0">
            <a:spAutoFit/>
          </a:bodyPr>
          <a:lstStyle>
            <a:lvl1pPr marL="12700">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just" eaLnBrk="1" hangingPunct="1">
              <a:spcBef>
                <a:spcPts val="100"/>
              </a:spcBef>
            </a:pPr>
            <a:r>
              <a:rPr lang="en-US" altLang="en-US" sz="1400" b="1" dirty="0">
                <a:solidFill>
                  <a:srgbClr val="2D75B6"/>
                </a:solidFill>
                <a:latin typeface="Times New Roman" panose="02020603050405020304" pitchFamily="18" charset="0"/>
                <a:cs typeface="Times New Roman" panose="02020603050405020304" pitchFamily="18" charset="0"/>
              </a:rPr>
              <a:t>4.2</a:t>
            </a:r>
            <a:r>
              <a:rPr lang="en-US" altLang="en-US" sz="1400" dirty="0">
                <a:solidFill>
                  <a:srgbClr val="2D75B6"/>
                </a:solidFill>
                <a:latin typeface="Times New Roman" panose="02020603050405020304" pitchFamily="18" charset="0"/>
                <a:cs typeface="Times New Roman" panose="02020603050405020304" pitchFamily="18" charset="0"/>
              </a:rPr>
              <a:t> </a:t>
            </a:r>
            <a:r>
              <a:rPr lang="en-US" altLang="en-US" sz="1400" b="1" dirty="0">
                <a:solidFill>
                  <a:srgbClr val="2D75B6"/>
                </a:solidFill>
                <a:latin typeface="Times New Roman" panose="02020603050405020304" pitchFamily="18" charset="0"/>
                <a:cs typeface="Times New Roman" panose="02020603050405020304" pitchFamily="18" charset="0"/>
              </a:rPr>
              <a:t>Description</a:t>
            </a:r>
            <a:r>
              <a:rPr lang="en-US" altLang="en-US" sz="1400" dirty="0">
                <a:solidFill>
                  <a:srgbClr val="2D75B6"/>
                </a:solidFill>
                <a:latin typeface="Times New Roman" panose="02020603050405020304" pitchFamily="18" charset="0"/>
                <a:cs typeface="Times New Roman" panose="02020603050405020304" pitchFamily="18" charset="0"/>
              </a:rPr>
              <a:t> </a:t>
            </a:r>
            <a:r>
              <a:rPr lang="en-US" altLang="en-US" sz="1400" b="1" dirty="0">
                <a:solidFill>
                  <a:srgbClr val="2D75B6"/>
                </a:solidFill>
                <a:latin typeface="Times New Roman" panose="02020603050405020304" pitchFamily="18" charset="0"/>
                <a:cs typeface="Times New Roman" panose="02020603050405020304" pitchFamily="18" charset="0"/>
              </a:rPr>
              <a:t>of</a:t>
            </a:r>
            <a:r>
              <a:rPr lang="en-US" altLang="en-US" sz="1400" dirty="0">
                <a:solidFill>
                  <a:srgbClr val="2D75B6"/>
                </a:solidFill>
                <a:latin typeface="Times New Roman" panose="02020603050405020304" pitchFamily="18" charset="0"/>
                <a:cs typeface="Times New Roman" panose="02020603050405020304" pitchFamily="18" charset="0"/>
              </a:rPr>
              <a:t> </a:t>
            </a:r>
            <a:r>
              <a:rPr lang="en-US" altLang="en-US" sz="1400" b="1" dirty="0">
                <a:solidFill>
                  <a:srgbClr val="2D75B6"/>
                </a:solidFill>
                <a:latin typeface="Times New Roman" panose="02020603050405020304" pitchFamily="18" charset="0"/>
                <a:cs typeface="Times New Roman" panose="02020603050405020304" pitchFamily="18" charset="0"/>
              </a:rPr>
              <a:t>Leaf</a:t>
            </a:r>
            <a:r>
              <a:rPr lang="en-US" altLang="en-US" sz="1400" dirty="0">
                <a:solidFill>
                  <a:srgbClr val="2D75B6"/>
                </a:solidFill>
                <a:latin typeface="Times New Roman" panose="02020603050405020304" pitchFamily="18" charset="0"/>
                <a:cs typeface="Times New Roman" panose="02020603050405020304" pitchFamily="18" charset="0"/>
              </a:rPr>
              <a:t> </a:t>
            </a:r>
            <a:r>
              <a:rPr lang="en-US" altLang="en-US" sz="1400" b="1" dirty="0">
                <a:solidFill>
                  <a:srgbClr val="2D75B6"/>
                </a:solidFill>
                <a:latin typeface="Times New Roman" panose="02020603050405020304" pitchFamily="18" charset="0"/>
                <a:cs typeface="Times New Roman" panose="02020603050405020304" pitchFamily="18" charset="0"/>
              </a:rPr>
              <a:t>Cells</a:t>
            </a:r>
            <a:endParaRPr lang="en-US" altLang="en-US" sz="1400" dirty="0">
              <a:solidFill>
                <a:srgbClr val="000000"/>
              </a:solidFill>
              <a:latin typeface="Times New Roman" panose="02020603050405020304" pitchFamily="18" charset="0"/>
              <a:cs typeface="Times New Roman" panose="02020603050405020304" pitchFamily="18" charset="0"/>
            </a:endParaRPr>
          </a:p>
          <a:p>
            <a:pPr algn="just" eaLnBrk="1" hangingPunct="1">
              <a:lnSpc>
                <a:spcPct val="136000"/>
              </a:lnSpc>
              <a:spcBef>
                <a:spcPts val="800"/>
              </a:spcBef>
            </a:pPr>
            <a:r>
              <a:rPr lang="en-US" altLang="en-US" sz="1200" dirty="0">
                <a:solidFill>
                  <a:srgbClr val="000000"/>
                </a:solidFill>
                <a:latin typeface="Times New Roman" panose="02020603050405020304" pitchFamily="18" charset="0"/>
                <a:cs typeface="Times New Roman" panose="02020603050405020304" pitchFamily="18" charset="0"/>
              </a:rPr>
              <a:t>A detailed description of all identified leaf cells in the DENLMS filter architecture, including their function, hardware implementation type, data width, and key operational property.</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2" name="object 2">
            <a:extLst>
              <a:ext uri="{FF2B5EF4-FFF2-40B4-BE49-F238E27FC236}">
                <a16:creationId xmlns:a16="http://schemas.microsoft.com/office/drawing/2014/main" id="{5879267D-DF60-2A43-F060-014E9B1A06A4}"/>
              </a:ext>
            </a:extLst>
          </p:cNvPr>
          <p:cNvGraphicFramePr>
            <a:graphicFrameLocks noGrp="1"/>
          </p:cNvGraphicFramePr>
          <p:nvPr>
            <p:extLst>
              <p:ext uri="{D42A27DB-BD31-4B8C-83A1-F6EECF244321}">
                <p14:modId xmlns:p14="http://schemas.microsoft.com/office/powerpoint/2010/main" val="294570447"/>
              </p:ext>
            </p:extLst>
          </p:nvPr>
        </p:nvGraphicFramePr>
        <p:xfrm>
          <a:off x="432594" y="1447800"/>
          <a:ext cx="7162799" cy="4989515"/>
        </p:xfrm>
        <a:graphic>
          <a:graphicData uri="http://schemas.openxmlformats.org/drawingml/2006/table">
            <a:tbl>
              <a:tblPr>
                <a:tableStyleId>{5940675A-B579-460E-94D1-54222C63F5DA}</a:tableStyleId>
              </a:tblPr>
              <a:tblGrid>
                <a:gridCol w="1071359">
                  <a:extLst>
                    <a:ext uri="{9D8B030D-6E8A-4147-A177-3AD203B41FA5}">
                      <a16:colId xmlns:a16="http://schemas.microsoft.com/office/drawing/2014/main" val="142491288"/>
                    </a:ext>
                  </a:extLst>
                </a:gridCol>
                <a:gridCol w="2433841">
                  <a:extLst>
                    <a:ext uri="{9D8B030D-6E8A-4147-A177-3AD203B41FA5}">
                      <a16:colId xmlns:a16="http://schemas.microsoft.com/office/drawing/2014/main" val="1172051481"/>
                    </a:ext>
                  </a:extLst>
                </a:gridCol>
                <a:gridCol w="1371600">
                  <a:extLst>
                    <a:ext uri="{9D8B030D-6E8A-4147-A177-3AD203B41FA5}">
                      <a16:colId xmlns:a16="http://schemas.microsoft.com/office/drawing/2014/main" val="1555505484"/>
                    </a:ext>
                  </a:extLst>
                </a:gridCol>
                <a:gridCol w="1066800">
                  <a:extLst>
                    <a:ext uri="{9D8B030D-6E8A-4147-A177-3AD203B41FA5}">
                      <a16:colId xmlns:a16="http://schemas.microsoft.com/office/drawing/2014/main" val="4091150509"/>
                    </a:ext>
                  </a:extLst>
                </a:gridCol>
                <a:gridCol w="1219199">
                  <a:extLst>
                    <a:ext uri="{9D8B030D-6E8A-4147-A177-3AD203B41FA5}">
                      <a16:colId xmlns:a16="http://schemas.microsoft.com/office/drawing/2014/main" val="1610527765"/>
                    </a:ext>
                  </a:extLst>
                </a:gridCol>
              </a:tblGrid>
              <a:tr h="293688">
                <a:tc>
                  <a:txBody>
                    <a:bodyPr/>
                    <a:lstStyle>
                      <a:lvl1pPr marL="169863">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169863" marR="0" lvl="0" indent="0" algn="l" defTabSz="914400" rtl="0" eaLnBrk="1" fontAlgn="base" latinLnBrk="0" hangingPunct="1">
                        <a:lnSpc>
                          <a:spcPct val="100000"/>
                        </a:lnSpc>
                        <a:spcBef>
                          <a:spcPts val="450"/>
                        </a:spcBef>
                        <a:spcAft>
                          <a:spcPct val="0"/>
                        </a:spcAft>
                        <a:buClrTx/>
                        <a:buSzTx/>
                        <a:buFontTx/>
                        <a:buNone/>
                        <a:tabLst/>
                      </a:pPr>
                      <a:r>
                        <a:rPr lang="en-US" altLang="en-US" sz="1200" b="1" dirty="0"/>
                        <a:t>Leaf Cell</a:t>
                      </a:r>
                    </a:p>
                  </a:txBody>
                  <a:tcPr marL="0" marR="0" marT="57150" marB="0" horzOverflow="overflow">
                    <a:solidFill>
                      <a:schemeClr val="bg1"/>
                    </a:solidFill>
                  </a:tcPr>
                </a:tc>
                <a:tc>
                  <a:txBody>
                    <a:bodyPr/>
                    <a:lstStyle>
                      <a:lvl1pPr>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0" marR="0" lvl="0" indent="0" algn="ctr" defTabSz="914400" rtl="0" eaLnBrk="1" fontAlgn="base" latinLnBrk="0" hangingPunct="1">
                        <a:lnSpc>
                          <a:spcPct val="100000"/>
                        </a:lnSpc>
                        <a:spcBef>
                          <a:spcPts val="450"/>
                        </a:spcBef>
                        <a:spcAft>
                          <a:spcPct val="0"/>
                        </a:spcAft>
                        <a:buClrTx/>
                        <a:buSzTx/>
                        <a:buFontTx/>
                        <a:buNone/>
                        <a:tabLst/>
                      </a:pPr>
                      <a:r>
                        <a:rPr lang="en-US" altLang="en-US" sz="1200" b="1" dirty="0"/>
                        <a:t>Function</a:t>
                      </a:r>
                    </a:p>
                  </a:txBody>
                  <a:tcPr marL="0" marR="0" marT="57150" marB="0" horzOverflow="overflow">
                    <a:solidFill>
                      <a:schemeClr val="bg1"/>
                    </a:solidFill>
                  </a:tcPr>
                </a:tc>
                <a:tc>
                  <a:txBody>
                    <a:bodyPr/>
                    <a:lstStyle>
                      <a:lvl1pPr marL="157163">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157163" marR="0" lvl="0" indent="0" algn="l" defTabSz="914400" rtl="0" eaLnBrk="1" fontAlgn="base" latinLnBrk="0" hangingPunct="1">
                        <a:lnSpc>
                          <a:spcPct val="100000"/>
                        </a:lnSpc>
                        <a:spcBef>
                          <a:spcPts val="450"/>
                        </a:spcBef>
                        <a:spcAft>
                          <a:spcPct val="0"/>
                        </a:spcAft>
                        <a:buClrTx/>
                        <a:buSzTx/>
                        <a:buFontTx/>
                        <a:buNone/>
                        <a:tabLst/>
                      </a:pPr>
                      <a:r>
                        <a:rPr lang="en-US" altLang="en-US" sz="1200" b="1" dirty="0"/>
                        <a:t>Hardware Type</a:t>
                      </a:r>
                    </a:p>
                  </a:txBody>
                  <a:tcPr marL="0" marR="0" marT="57150" marB="0" horzOverflow="overflow">
                    <a:solidFill>
                      <a:schemeClr val="bg1"/>
                    </a:solidFill>
                  </a:tcPr>
                </a:tc>
                <a:tc>
                  <a:txBody>
                    <a:bodyPr/>
                    <a:lstStyle>
                      <a:lvl1pPr marL="142875">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142875" marR="0" lvl="0" indent="0" algn="l" defTabSz="914400" rtl="0" eaLnBrk="1" fontAlgn="base" latinLnBrk="0" hangingPunct="1">
                        <a:lnSpc>
                          <a:spcPct val="100000"/>
                        </a:lnSpc>
                        <a:spcBef>
                          <a:spcPts val="450"/>
                        </a:spcBef>
                        <a:spcAft>
                          <a:spcPct val="0"/>
                        </a:spcAft>
                        <a:buClrTx/>
                        <a:buSzTx/>
                        <a:buFontTx/>
                        <a:buNone/>
                        <a:tabLst/>
                      </a:pPr>
                      <a:r>
                        <a:rPr lang="en-US" altLang="en-US" sz="1200" b="1" dirty="0"/>
                        <a:t>Data Width</a:t>
                      </a:r>
                    </a:p>
                  </a:txBody>
                  <a:tcPr marL="0" marR="0" marT="57150" marB="0" horzOverflow="overflow">
                    <a:solidFill>
                      <a:schemeClr val="bg1"/>
                    </a:solidFill>
                  </a:tcPr>
                </a:tc>
                <a:tc>
                  <a:txBody>
                    <a:bodyPr/>
                    <a:lstStyle>
                      <a:lvl1pPr marL="165100">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165100" marR="0" lvl="0" indent="0" algn="l" defTabSz="914400" rtl="0" eaLnBrk="1" fontAlgn="base" latinLnBrk="0" hangingPunct="1">
                        <a:lnSpc>
                          <a:spcPct val="100000"/>
                        </a:lnSpc>
                        <a:spcBef>
                          <a:spcPts val="450"/>
                        </a:spcBef>
                        <a:spcAft>
                          <a:spcPct val="0"/>
                        </a:spcAft>
                        <a:buClrTx/>
                        <a:buSzTx/>
                        <a:buFontTx/>
                        <a:buNone/>
                        <a:tabLst/>
                      </a:pPr>
                      <a:r>
                        <a:rPr lang="en-US" altLang="en-US" sz="1200" b="1" dirty="0"/>
                        <a:t>Key Property</a:t>
                      </a:r>
                    </a:p>
                  </a:txBody>
                  <a:tcPr marL="0" marR="0" marT="57150" marB="0" horzOverflow="overflow">
                    <a:solidFill>
                      <a:schemeClr val="bg1"/>
                    </a:solidFill>
                  </a:tcPr>
                </a:tc>
                <a:extLst>
                  <a:ext uri="{0D108BD9-81ED-4DB2-BD59-A6C34878D82A}">
                    <a16:rowId xmlns:a16="http://schemas.microsoft.com/office/drawing/2014/main" val="3657883094"/>
                  </a:ext>
                </a:extLst>
              </a:tr>
              <a:tr h="874713">
                <a:tc>
                  <a:txBody>
                    <a:bodyPr/>
                    <a:lstStyle>
                      <a:lvl1pPr marL="74613">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74613" marR="0" lvl="0" indent="0" algn="l" defTabSz="914400" rtl="0" eaLnBrk="1" fontAlgn="base" latinLnBrk="0" hangingPunct="1">
                        <a:lnSpc>
                          <a:spcPct val="100000"/>
                        </a:lnSpc>
                        <a:spcBef>
                          <a:spcPts val="350"/>
                        </a:spcBef>
                        <a:spcAft>
                          <a:spcPct val="0"/>
                        </a:spcAft>
                        <a:buClrTx/>
                        <a:buSzTx/>
                        <a:buFontTx/>
                        <a:buNone/>
                        <a:tabLst/>
                      </a:pPr>
                      <a:r>
                        <a:rPr lang="en-US" altLang="en-US" sz="1100"/>
                        <a:t>FIR Filter</a:t>
                      </a:r>
                    </a:p>
                  </a:txBody>
                  <a:tcPr marL="0" marR="0" marT="45085" marB="0" horzOverflow="overflow">
                    <a:solidFill>
                      <a:schemeClr val="bg1"/>
                    </a:solidFill>
                  </a:tcPr>
                </a:tc>
                <a:tc>
                  <a:txBody>
                    <a:bodyPr/>
                    <a:lstStyle>
                      <a:lvl1pPr marL="76200">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76200" marR="0" lvl="0" indent="0" algn="l" defTabSz="914400" rtl="0" eaLnBrk="1" fontAlgn="base" latinLnBrk="0" hangingPunct="1">
                        <a:lnSpc>
                          <a:spcPct val="96000"/>
                        </a:lnSpc>
                        <a:spcBef>
                          <a:spcPts val="400"/>
                        </a:spcBef>
                        <a:spcAft>
                          <a:spcPct val="0"/>
                        </a:spcAft>
                        <a:buClrTx/>
                        <a:buSzTx/>
                        <a:buFontTx/>
                        <a:buNone/>
                        <a:tabLst/>
                      </a:pPr>
                      <a:r>
                        <a:rPr lang="en-US" altLang="en-US" sz="1100"/>
                        <a:t>Computes filter output y(n) by multiplying input samples with weight coefficients and accumulating results</a:t>
                      </a:r>
                    </a:p>
                  </a:txBody>
                  <a:tcPr marL="0" marR="0" marT="51435" marB="0" horzOverflow="overflow">
                    <a:solidFill>
                      <a:schemeClr val="bg1"/>
                    </a:solidFill>
                  </a:tcPr>
                </a:tc>
                <a:tc>
                  <a:txBody>
                    <a:bodyPr/>
                    <a:lstStyle>
                      <a:lvl1pPr marL="74613">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74613" marR="0" lvl="0" indent="0" algn="l" defTabSz="914400" rtl="0" eaLnBrk="1" fontAlgn="base" latinLnBrk="0" hangingPunct="1">
                        <a:lnSpc>
                          <a:spcPct val="96000"/>
                        </a:lnSpc>
                        <a:spcBef>
                          <a:spcPts val="400"/>
                        </a:spcBef>
                        <a:spcAft>
                          <a:spcPct val="0"/>
                        </a:spcAft>
                        <a:buClrTx/>
                        <a:buSzTx/>
                        <a:buFontTx/>
                        <a:buNone/>
                        <a:tabLst/>
                      </a:pPr>
                      <a:r>
                        <a:rPr lang="en-US" altLang="en-US" sz="1100"/>
                        <a:t>Multiplier- Accumulator (MAC) unit</a:t>
                      </a:r>
                    </a:p>
                  </a:txBody>
                  <a:tcPr marL="0" marR="0" marT="51435" marB="0" horzOverflow="overflow">
                    <a:solidFill>
                      <a:schemeClr val="bg1"/>
                    </a:solidFill>
                  </a:tcPr>
                </a:tc>
                <a:tc>
                  <a:txBody>
                    <a:bodyPr/>
                    <a:lstStyle>
                      <a:lvl1pPr marL="76200">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76200" marR="0" lvl="0" indent="0" algn="l" defTabSz="914400" rtl="0" eaLnBrk="1" fontAlgn="base" latinLnBrk="0" hangingPunct="1">
                        <a:lnSpc>
                          <a:spcPct val="100000"/>
                        </a:lnSpc>
                        <a:spcBef>
                          <a:spcPts val="350"/>
                        </a:spcBef>
                        <a:spcAft>
                          <a:spcPct val="0"/>
                        </a:spcAft>
                        <a:buClrTx/>
                        <a:buSzTx/>
                        <a:buFontTx/>
                        <a:buNone/>
                        <a:tabLst/>
                      </a:pPr>
                      <a:r>
                        <a:rPr lang="en-US" altLang="en-US" sz="1100"/>
                        <a:t>16-bit</a:t>
                      </a:r>
                    </a:p>
                  </a:txBody>
                  <a:tcPr marL="0" marR="0" marT="45085" marB="0" horzOverflow="overflow">
                    <a:solidFill>
                      <a:schemeClr val="bg1"/>
                    </a:solidFill>
                  </a:tcPr>
                </a:tc>
                <a:tc>
                  <a:txBody>
                    <a:bodyPr/>
                    <a:lstStyle>
                      <a:lvl1pPr marL="74613">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74613" marR="0" lvl="0" indent="0" algn="l" defTabSz="914400" rtl="0" eaLnBrk="1" fontAlgn="base" latinLnBrk="0" hangingPunct="1">
                        <a:lnSpc>
                          <a:spcPct val="96000"/>
                        </a:lnSpc>
                        <a:spcBef>
                          <a:spcPts val="400"/>
                        </a:spcBef>
                        <a:spcAft>
                          <a:spcPct val="0"/>
                        </a:spcAft>
                        <a:buClrTx/>
                        <a:buSzTx/>
                        <a:buFontTx/>
                        <a:buNone/>
                        <a:tabLst/>
                      </a:pPr>
                      <a:r>
                        <a:rPr lang="en-US" altLang="en-US" sz="1100" dirty="0"/>
                        <a:t>N=4 taps, pipelined multiply-add</a:t>
                      </a:r>
                    </a:p>
                  </a:txBody>
                  <a:tcPr marL="0" marR="0" marT="51435" marB="0" horzOverflow="overflow">
                    <a:solidFill>
                      <a:schemeClr val="bg1"/>
                    </a:solidFill>
                  </a:tcPr>
                </a:tc>
                <a:extLst>
                  <a:ext uri="{0D108BD9-81ED-4DB2-BD59-A6C34878D82A}">
                    <a16:rowId xmlns:a16="http://schemas.microsoft.com/office/drawing/2014/main" val="3584356660"/>
                  </a:ext>
                </a:extLst>
              </a:tr>
              <a:tr h="568325">
                <a:tc>
                  <a:txBody>
                    <a:bodyPr/>
                    <a:lstStyle>
                      <a:lvl1pPr marL="74613">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74613" marR="0" lvl="0" indent="0" algn="l" defTabSz="914400" rtl="0" eaLnBrk="1" fontAlgn="base" latinLnBrk="0" hangingPunct="1">
                        <a:lnSpc>
                          <a:spcPts val="1213"/>
                        </a:lnSpc>
                        <a:spcBef>
                          <a:spcPts val="438"/>
                        </a:spcBef>
                        <a:spcAft>
                          <a:spcPct val="0"/>
                        </a:spcAft>
                        <a:buClrTx/>
                        <a:buSzTx/>
                        <a:buFontTx/>
                        <a:buNone/>
                        <a:tabLst/>
                      </a:pPr>
                      <a:r>
                        <a:rPr lang="en-US" altLang="en-US" sz="1100"/>
                        <a:t>Subtractor (SUB)</a:t>
                      </a:r>
                    </a:p>
                  </a:txBody>
                  <a:tcPr marL="0" marR="0" marT="55244" marB="0" horzOverflow="overflow">
                    <a:solidFill>
                      <a:schemeClr val="bg1"/>
                    </a:solidFill>
                  </a:tcPr>
                </a:tc>
                <a:tc>
                  <a:txBody>
                    <a:bodyPr/>
                    <a:lstStyle>
                      <a:lvl1pPr marL="76200">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76200" marR="0" lvl="0" indent="0" algn="l" defTabSz="914400" rtl="0" eaLnBrk="1" fontAlgn="base" latinLnBrk="0" hangingPunct="1">
                        <a:lnSpc>
                          <a:spcPts val="1238"/>
                        </a:lnSpc>
                        <a:spcBef>
                          <a:spcPts val="350"/>
                        </a:spcBef>
                        <a:spcAft>
                          <a:spcPct val="0"/>
                        </a:spcAft>
                        <a:buClrTx/>
                        <a:buSzTx/>
                        <a:buFontTx/>
                        <a:buNone/>
                        <a:tabLst/>
                      </a:pPr>
                      <a:r>
                        <a:rPr lang="en-US" altLang="en-US" sz="1100"/>
                        <a:t>Computes error signal e(n)</a:t>
                      </a:r>
                    </a:p>
                    <a:p>
                      <a:pPr marL="76200" marR="0" lvl="0" indent="0" algn="l" defTabSz="914400" rtl="0" eaLnBrk="1" fontAlgn="base" latinLnBrk="0" hangingPunct="1">
                        <a:lnSpc>
                          <a:spcPts val="1200"/>
                        </a:lnSpc>
                        <a:spcBef>
                          <a:spcPts val="63"/>
                        </a:spcBef>
                        <a:spcAft>
                          <a:spcPct val="0"/>
                        </a:spcAft>
                        <a:buClrTx/>
                        <a:buSzTx/>
                        <a:buFontTx/>
                        <a:buNone/>
                        <a:tabLst/>
                      </a:pPr>
                      <a:r>
                        <a:rPr lang="en-US" altLang="en-US" sz="1100"/>
                        <a:t>= d(n) - y(n) between desired and filter output</a:t>
                      </a:r>
                    </a:p>
                  </a:txBody>
                  <a:tcPr marL="0" marR="0" marT="45085" marB="0" horzOverflow="overflow">
                    <a:solidFill>
                      <a:schemeClr val="bg1"/>
                    </a:solidFill>
                  </a:tcPr>
                </a:tc>
                <a:tc>
                  <a:txBody>
                    <a:bodyPr/>
                    <a:lstStyle>
                      <a:lvl1pPr marL="74613">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74613" marR="0" lvl="0" indent="0" algn="l" defTabSz="914400" rtl="0" eaLnBrk="1" fontAlgn="base" latinLnBrk="0" hangingPunct="1">
                        <a:lnSpc>
                          <a:spcPts val="1213"/>
                        </a:lnSpc>
                        <a:spcBef>
                          <a:spcPts val="438"/>
                        </a:spcBef>
                        <a:spcAft>
                          <a:spcPct val="0"/>
                        </a:spcAft>
                        <a:buClrTx/>
                        <a:buSzTx/>
                        <a:buFontTx/>
                        <a:buNone/>
                        <a:tabLst/>
                      </a:pPr>
                      <a:r>
                        <a:rPr lang="en-US" altLang="en-US" sz="1100"/>
                        <a:t>Combinational 16- bit subtractor</a:t>
                      </a:r>
                    </a:p>
                  </a:txBody>
                  <a:tcPr marL="0" marR="0" marT="55244" marB="0" horzOverflow="overflow">
                    <a:solidFill>
                      <a:schemeClr val="bg1"/>
                    </a:solidFill>
                  </a:tcPr>
                </a:tc>
                <a:tc>
                  <a:txBody>
                    <a:bodyPr/>
                    <a:lstStyle>
                      <a:lvl1pPr marL="76200">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76200" marR="0" lvl="0" indent="0" algn="l" defTabSz="914400" rtl="0" eaLnBrk="1" fontAlgn="base" latinLnBrk="0" hangingPunct="1">
                        <a:lnSpc>
                          <a:spcPct val="100000"/>
                        </a:lnSpc>
                        <a:spcBef>
                          <a:spcPts val="350"/>
                        </a:spcBef>
                        <a:spcAft>
                          <a:spcPct val="0"/>
                        </a:spcAft>
                        <a:buClrTx/>
                        <a:buSzTx/>
                        <a:buFontTx/>
                        <a:buNone/>
                        <a:tabLst/>
                      </a:pPr>
                      <a:r>
                        <a:rPr lang="en-US" altLang="en-US" sz="1100"/>
                        <a:t>16-bit</a:t>
                      </a:r>
                    </a:p>
                  </a:txBody>
                  <a:tcPr marL="0" marR="0" marT="45085" marB="0" horzOverflow="overflow">
                    <a:solidFill>
                      <a:schemeClr val="bg1"/>
                    </a:solidFill>
                  </a:tcPr>
                </a:tc>
                <a:tc>
                  <a:txBody>
                    <a:bodyPr/>
                    <a:lstStyle>
                      <a:lvl1pPr marL="74613">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74613" marR="0" lvl="0" indent="0" algn="l" defTabSz="914400" rtl="0" eaLnBrk="1" fontAlgn="base" latinLnBrk="0" hangingPunct="1">
                        <a:lnSpc>
                          <a:spcPct val="100000"/>
                        </a:lnSpc>
                        <a:spcBef>
                          <a:spcPts val="350"/>
                        </a:spcBef>
                        <a:spcAft>
                          <a:spcPct val="0"/>
                        </a:spcAft>
                        <a:buClrTx/>
                        <a:buSzTx/>
                        <a:buFontTx/>
                        <a:buNone/>
                        <a:tabLst/>
                      </a:pPr>
                      <a:r>
                        <a:rPr lang="en-US" altLang="en-US" sz="1100"/>
                        <a:t>1-cycle latency</a:t>
                      </a:r>
                    </a:p>
                  </a:txBody>
                  <a:tcPr marL="0" marR="0" marT="45085" marB="0" horzOverflow="overflow">
                    <a:solidFill>
                      <a:schemeClr val="bg1"/>
                    </a:solidFill>
                  </a:tcPr>
                </a:tc>
                <a:extLst>
                  <a:ext uri="{0D108BD9-81ED-4DB2-BD59-A6C34878D82A}">
                    <a16:rowId xmlns:a16="http://schemas.microsoft.com/office/drawing/2014/main" val="1696535016"/>
                  </a:ext>
                </a:extLst>
              </a:tr>
              <a:tr h="566738">
                <a:tc>
                  <a:txBody>
                    <a:bodyPr/>
                    <a:lstStyle>
                      <a:lvl1pPr marL="74613">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74613" marR="0" lvl="0" indent="0" algn="l" defTabSz="914400" rtl="0" eaLnBrk="1" fontAlgn="base" latinLnBrk="0" hangingPunct="1">
                        <a:lnSpc>
                          <a:spcPct val="96000"/>
                        </a:lnSpc>
                        <a:spcBef>
                          <a:spcPts val="400"/>
                        </a:spcBef>
                        <a:spcAft>
                          <a:spcPct val="0"/>
                        </a:spcAft>
                        <a:buClrTx/>
                        <a:buSzTx/>
                        <a:buFontTx/>
                        <a:buNone/>
                        <a:tabLst/>
                      </a:pPr>
                      <a:r>
                        <a:rPr lang="en-US" altLang="en-US" sz="1100"/>
                        <a:t>Delay Register (mD)</a:t>
                      </a:r>
                    </a:p>
                  </a:txBody>
                  <a:tcPr marL="0" marR="0" marT="51435" marB="0" horzOverflow="overflow">
                    <a:solidFill>
                      <a:schemeClr val="bg1"/>
                    </a:solidFill>
                  </a:tcPr>
                </a:tc>
                <a:tc>
                  <a:txBody>
                    <a:bodyPr/>
                    <a:lstStyle>
                      <a:lvl1pPr marL="76200">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76200" marR="0" lvl="0" indent="0" algn="just" defTabSz="914400" rtl="0" eaLnBrk="1" fontAlgn="base" latinLnBrk="0" hangingPunct="1">
                        <a:lnSpc>
                          <a:spcPct val="96000"/>
                        </a:lnSpc>
                        <a:spcBef>
                          <a:spcPts val="400"/>
                        </a:spcBef>
                        <a:spcAft>
                          <a:spcPct val="0"/>
                        </a:spcAft>
                        <a:buClrTx/>
                        <a:buSzTx/>
                        <a:buFontTx/>
                        <a:buNone/>
                        <a:tabLst/>
                      </a:pPr>
                      <a:r>
                        <a:rPr lang="en-US" altLang="en-US" sz="1100"/>
                        <a:t>Introduces pipeline delay of kD cycles in error feedback path to break critical path</a:t>
                      </a:r>
                    </a:p>
                  </a:txBody>
                  <a:tcPr marL="0" marR="0" marT="51435" marB="0" horzOverflow="overflow">
                    <a:solidFill>
                      <a:schemeClr val="bg1"/>
                    </a:solidFill>
                  </a:tcPr>
                </a:tc>
                <a:tc>
                  <a:txBody>
                    <a:bodyPr/>
                    <a:lstStyle>
                      <a:lvl1pPr marL="74613">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74613" marR="0" lvl="0" indent="0" algn="l" defTabSz="914400" rtl="0" eaLnBrk="1" fontAlgn="base" latinLnBrk="0" hangingPunct="1">
                        <a:lnSpc>
                          <a:spcPts val="1200"/>
                        </a:lnSpc>
                        <a:spcBef>
                          <a:spcPts val="450"/>
                        </a:spcBef>
                        <a:spcAft>
                          <a:spcPct val="0"/>
                        </a:spcAft>
                        <a:buClrTx/>
                        <a:buSzTx/>
                        <a:buFontTx/>
                        <a:buNone/>
                        <a:tabLst/>
                      </a:pPr>
                      <a:r>
                        <a:rPr lang="en-US" altLang="en-US" sz="1100"/>
                        <a:t>D flip-flop chain (register file)</a:t>
                      </a:r>
                    </a:p>
                  </a:txBody>
                  <a:tcPr marL="0" marR="0" marT="56515" marB="0" horzOverflow="overflow">
                    <a:solidFill>
                      <a:schemeClr val="bg1"/>
                    </a:solidFill>
                  </a:tcPr>
                </a:tc>
                <a:tc>
                  <a:txBody>
                    <a:bodyPr/>
                    <a:lstStyle>
                      <a:lvl1pPr marL="76200">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76200" marR="0" lvl="0" indent="0" algn="l" defTabSz="914400" rtl="0" eaLnBrk="1" fontAlgn="base" latinLnBrk="0" hangingPunct="1">
                        <a:lnSpc>
                          <a:spcPct val="100000"/>
                        </a:lnSpc>
                        <a:spcBef>
                          <a:spcPts val="350"/>
                        </a:spcBef>
                        <a:spcAft>
                          <a:spcPct val="0"/>
                        </a:spcAft>
                        <a:buClrTx/>
                        <a:buSzTx/>
                        <a:buFontTx/>
                        <a:buNone/>
                        <a:tabLst/>
                      </a:pPr>
                      <a:r>
                        <a:rPr lang="en-US" altLang="en-US" sz="1100"/>
                        <a:t>16-bit</a:t>
                      </a:r>
                    </a:p>
                  </a:txBody>
                  <a:tcPr marL="0" marR="0" marT="45085" marB="0" horzOverflow="overflow">
                    <a:solidFill>
                      <a:schemeClr val="bg1"/>
                    </a:solidFill>
                  </a:tcPr>
                </a:tc>
                <a:tc>
                  <a:txBody>
                    <a:bodyPr/>
                    <a:lstStyle>
                      <a:lvl1pPr marL="74613">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74613" marR="0" lvl="0" indent="0" algn="l" defTabSz="914400" rtl="0" eaLnBrk="1" fontAlgn="base" latinLnBrk="0" hangingPunct="1">
                        <a:lnSpc>
                          <a:spcPts val="1200"/>
                        </a:lnSpc>
                        <a:spcBef>
                          <a:spcPts val="450"/>
                        </a:spcBef>
                        <a:spcAft>
                          <a:spcPct val="0"/>
                        </a:spcAft>
                        <a:buClrTx/>
                        <a:buSzTx/>
                        <a:buFontTx/>
                        <a:buNone/>
                        <a:tabLst/>
                      </a:pPr>
                      <a:r>
                        <a:rPr lang="en-US" altLang="en-US" sz="1100"/>
                        <a:t>kD = 1 delay stage</a:t>
                      </a:r>
                    </a:p>
                  </a:txBody>
                  <a:tcPr marL="0" marR="0" marT="56515" marB="0" horzOverflow="overflow">
                    <a:solidFill>
                      <a:schemeClr val="bg1"/>
                    </a:solidFill>
                  </a:tcPr>
                </a:tc>
                <a:extLst>
                  <a:ext uri="{0D108BD9-81ED-4DB2-BD59-A6C34878D82A}">
                    <a16:rowId xmlns:a16="http://schemas.microsoft.com/office/drawing/2014/main" val="4099037657"/>
                  </a:ext>
                </a:extLst>
              </a:tr>
              <a:tr h="568325">
                <a:tc>
                  <a:txBody>
                    <a:bodyPr/>
                    <a:lstStyle>
                      <a:lvl1pPr marL="74613">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74613" marR="0" lvl="0" indent="0" algn="l" defTabSz="914400" rtl="0" eaLnBrk="1" fontAlgn="base" latinLnBrk="0" hangingPunct="1">
                        <a:lnSpc>
                          <a:spcPts val="1213"/>
                        </a:lnSpc>
                        <a:spcBef>
                          <a:spcPts val="438"/>
                        </a:spcBef>
                        <a:spcAft>
                          <a:spcPct val="0"/>
                        </a:spcAft>
                        <a:buClrTx/>
                        <a:buSzTx/>
                        <a:buFontTx/>
                        <a:buNone/>
                        <a:tabLst/>
                      </a:pPr>
                      <a:r>
                        <a:rPr lang="en-US" altLang="en-US" sz="1100"/>
                        <a:t>Multiplier (MULT)</a:t>
                      </a:r>
                    </a:p>
                  </a:txBody>
                  <a:tcPr marL="0" marR="0" marT="55244" marB="0" horzOverflow="overflow">
                    <a:solidFill>
                      <a:schemeClr val="bg1"/>
                    </a:solidFill>
                  </a:tcPr>
                </a:tc>
                <a:tc>
                  <a:txBody>
                    <a:bodyPr/>
                    <a:lstStyle>
                      <a:lvl1pPr marL="76200">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76200" marR="0" lvl="0" indent="0" algn="l" defTabSz="914400" rtl="0" eaLnBrk="1" fontAlgn="base" latinLnBrk="0" hangingPunct="1">
                        <a:lnSpc>
                          <a:spcPts val="1213"/>
                        </a:lnSpc>
                        <a:spcBef>
                          <a:spcPts val="438"/>
                        </a:spcBef>
                        <a:spcAft>
                          <a:spcPct val="0"/>
                        </a:spcAft>
                        <a:buClrTx/>
                        <a:buSzTx/>
                        <a:buFontTx/>
                        <a:buNone/>
                        <a:tabLst/>
                      </a:pPr>
                      <a:r>
                        <a:rPr lang="en-US" altLang="en-US" sz="1100"/>
                        <a:t>Performs signed 16x16 bit multiplication for weight update computation</a:t>
                      </a:r>
                    </a:p>
                  </a:txBody>
                  <a:tcPr marL="0" marR="0" marT="55244" marB="0" horzOverflow="overflow">
                    <a:solidFill>
                      <a:schemeClr val="bg1"/>
                    </a:solidFill>
                  </a:tcPr>
                </a:tc>
                <a:tc>
                  <a:txBody>
                    <a:bodyPr/>
                    <a:lstStyle>
                      <a:lvl1pPr marL="74613">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74613" marR="0" lvl="0" indent="0" algn="l" defTabSz="914400" rtl="0" eaLnBrk="1" fontAlgn="base" latinLnBrk="0" hangingPunct="1">
                        <a:lnSpc>
                          <a:spcPts val="1213"/>
                        </a:lnSpc>
                        <a:spcBef>
                          <a:spcPts val="438"/>
                        </a:spcBef>
                        <a:spcAft>
                          <a:spcPct val="0"/>
                        </a:spcAft>
                        <a:buClrTx/>
                        <a:buSzTx/>
                        <a:buFontTx/>
                        <a:buNone/>
                        <a:tabLst/>
                      </a:pPr>
                      <a:r>
                        <a:rPr lang="en-US" altLang="en-US" sz="1100"/>
                        <a:t>Dedicated DSP48 slice</a:t>
                      </a:r>
                    </a:p>
                  </a:txBody>
                  <a:tcPr marL="0" marR="0" marT="55244" marB="0" horzOverflow="overflow">
                    <a:solidFill>
                      <a:schemeClr val="bg1"/>
                    </a:solidFill>
                  </a:tcPr>
                </a:tc>
                <a:tc>
                  <a:txBody>
                    <a:bodyPr/>
                    <a:lstStyle>
                      <a:lvl1pPr marL="76200">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76200" marR="0" lvl="0" indent="0" algn="l" defTabSz="914400" rtl="0" eaLnBrk="1" fontAlgn="base" latinLnBrk="0" hangingPunct="1">
                        <a:lnSpc>
                          <a:spcPct val="100000"/>
                        </a:lnSpc>
                        <a:spcBef>
                          <a:spcPts val="350"/>
                        </a:spcBef>
                        <a:spcAft>
                          <a:spcPct val="0"/>
                        </a:spcAft>
                        <a:buClrTx/>
                        <a:buSzTx/>
                        <a:buFontTx/>
                        <a:buNone/>
                        <a:tabLst/>
                      </a:pPr>
                      <a:r>
                        <a:rPr lang="en-US" altLang="en-US" sz="1100"/>
                        <a:t>16×16→32-bit</a:t>
                      </a:r>
                    </a:p>
                  </a:txBody>
                  <a:tcPr marL="0" marR="0" marT="44450" marB="0" horzOverflow="overflow">
                    <a:solidFill>
                      <a:schemeClr val="bg1"/>
                    </a:solidFill>
                  </a:tcPr>
                </a:tc>
                <a:tc>
                  <a:txBody>
                    <a:bodyPr/>
                    <a:lstStyle>
                      <a:lvl1pPr marL="74613">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74613" marR="0" lvl="0" indent="0" algn="l" defTabSz="914400" rtl="0" eaLnBrk="1" fontAlgn="base" latinLnBrk="0" hangingPunct="1">
                        <a:lnSpc>
                          <a:spcPct val="100000"/>
                        </a:lnSpc>
                        <a:spcBef>
                          <a:spcPts val="350"/>
                        </a:spcBef>
                        <a:spcAft>
                          <a:spcPct val="0"/>
                        </a:spcAft>
                        <a:buClrTx/>
                        <a:buSzTx/>
                        <a:buFontTx/>
                        <a:buNone/>
                        <a:tabLst/>
                      </a:pPr>
                      <a:r>
                        <a:rPr lang="en-US" altLang="en-US" sz="1100"/>
                        <a:t>Pipelined, 2-cycle</a:t>
                      </a:r>
                    </a:p>
                  </a:txBody>
                  <a:tcPr marL="0" marR="0" marT="44450" marB="0" horzOverflow="overflow">
                    <a:solidFill>
                      <a:schemeClr val="bg1"/>
                    </a:solidFill>
                  </a:tcPr>
                </a:tc>
                <a:extLst>
                  <a:ext uri="{0D108BD9-81ED-4DB2-BD59-A6C34878D82A}">
                    <a16:rowId xmlns:a16="http://schemas.microsoft.com/office/drawing/2014/main" val="1682418170"/>
                  </a:ext>
                </a:extLst>
              </a:tr>
              <a:tr h="568325">
                <a:tc>
                  <a:txBody>
                    <a:bodyPr/>
                    <a:lstStyle>
                      <a:lvl1pPr marL="74613">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74613" marR="0" lvl="0" indent="0" algn="l" defTabSz="914400" rtl="0" eaLnBrk="1" fontAlgn="base" latinLnBrk="0" hangingPunct="1">
                        <a:lnSpc>
                          <a:spcPts val="1213"/>
                        </a:lnSpc>
                        <a:spcBef>
                          <a:spcPts val="438"/>
                        </a:spcBef>
                        <a:spcAft>
                          <a:spcPct val="0"/>
                        </a:spcAft>
                        <a:buClrTx/>
                        <a:buSzTx/>
                        <a:buFontTx/>
                        <a:buNone/>
                        <a:tabLst/>
                      </a:pPr>
                      <a:r>
                        <a:rPr lang="en-US" altLang="en-US" sz="1100"/>
                        <a:t>Adder (ADD)</a:t>
                      </a:r>
                    </a:p>
                  </a:txBody>
                  <a:tcPr marL="0" marR="0" marT="55244" marB="0" horzOverflow="overflow">
                    <a:solidFill>
                      <a:schemeClr val="bg1"/>
                    </a:solidFill>
                  </a:tcPr>
                </a:tc>
                <a:tc>
                  <a:txBody>
                    <a:bodyPr/>
                    <a:lstStyle>
                      <a:lvl1pPr marL="76200">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76200" marR="0" lvl="0" indent="0" algn="l" defTabSz="914400" rtl="0" eaLnBrk="1" fontAlgn="base" latinLnBrk="0" hangingPunct="1">
                        <a:lnSpc>
                          <a:spcPct val="96000"/>
                        </a:lnSpc>
                        <a:spcBef>
                          <a:spcPts val="400"/>
                        </a:spcBef>
                        <a:spcAft>
                          <a:spcPct val="0"/>
                        </a:spcAft>
                        <a:buClrTx/>
                        <a:buSzTx/>
                        <a:buFontTx/>
                        <a:buNone/>
                        <a:tabLst/>
                      </a:pPr>
                      <a:r>
                        <a:rPr lang="en-US" altLang="en-US" sz="1100"/>
                        <a:t>Performs weight accumulation: w(n) + mu_en * e * x</a:t>
                      </a:r>
                    </a:p>
                  </a:txBody>
                  <a:tcPr marL="0" marR="0" marT="51435" marB="0" horzOverflow="overflow">
                    <a:solidFill>
                      <a:schemeClr val="bg1"/>
                    </a:solidFill>
                  </a:tcPr>
                </a:tc>
                <a:tc>
                  <a:txBody>
                    <a:bodyPr/>
                    <a:lstStyle>
                      <a:lvl1pPr marL="74613">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74613" marR="0" lvl="0" indent="0" algn="l" defTabSz="914400" rtl="0" eaLnBrk="1" fontAlgn="base" latinLnBrk="0" hangingPunct="1">
                        <a:lnSpc>
                          <a:spcPts val="1213"/>
                        </a:lnSpc>
                        <a:spcBef>
                          <a:spcPts val="438"/>
                        </a:spcBef>
                        <a:spcAft>
                          <a:spcPct val="0"/>
                        </a:spcAft>
                        <a:buClrTx/>
                        <a:buSzTx/>
                        <a:buFontTx/>
                        <a:buNone/>
                        <a:tabLst/>
                      </a:pPr>
                      <a:r>
                        <a:rPr lang="en-US" altLang="en-US" sz="1100"/>
                        <a:t>Ripple-carry / carry- lookahead adder</a:t>
                      </a:r>
                    </a:p>
                  </a:txBody>
                  <a:tcPr marL="0" marR="0" marT="55244" marB="0" horzOverflow="overflow">
                    <a:solidFill>
                      <a:schemeClr val="bg1"/>
                    </a:solidFill>
                  </a:tcPr>
                </a:tc>
                <a:tc>
                  <a:txBody>
                    <a:bodyPr/>
                    <a:lstStyle>
                      <a:lvl1pPr marL="76200">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76200" marR="0" lvl="0" indent="0" algn="l" defTabSz="914400" rtl="0" eaLnBrk="1" fontAlgn="base" latinLnBrk="0" hangingPunct="1">
                        <a:lnSpc>
                          <a:spcPct val="100000"/>
                        </a:lnSpc>
                        <a:spcBef>
                          <a:spcPts val="350"/>
                        </a:spcBef>
                        <a:spcAft>
                          <a:spcPct val="0"/>
                        </a:spcAft>
                        <a:buClrTx/>
                        <a:buSzTx/>
                        <a:buFontTx/>
                        <a:buNone/>
                        <a:tabLst/>
                      </a:pPr>
                      <a:r>
                        <a:rPr lang="en-US" altLang="en-US" sz="1100"/>
                        <a:t>16-bit</a:t>
                      </a:r>
                    </a:p>
                  </a:txBody>
                  <a:tcPr marL="0" marR="0" marT="44450" marB="0" horzOverflow="overflow">
                    <a:solidFill>
                      <a:schemeClr val="bg1"/>
                    </a:solidFill>
                  </a:tcPr>
                </a:tc>
                <a:tc>
                  <a:txBody>
                    <a:bodyPr/>
                    <a:lstStyle>
                      <a:lvl1pPr marL="74613">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74613" marR="0" lvl="0" indent="0" algn="l" defTabSz="914400" rtl="0" eaLnBrk="1" fontAlgn="base" latinLnBrk="0" hangingPunct="1">
                        <a:lnSpc>
                          <a:spcPct val="100000"/>
                        </a:lnSpc>
                        <a:spcBef>
                          <a:spcPts val="350"/>
                        </a:spcBef>
                        <a:spcAft>
                          <a:spcPct val="0"/>
                        </a:spcAft>
                        <a:buClrTx/>
                        <a:buSzTx/>
                        <a:buFontTx/>
                        <a:buNone/>
                        <a:tabLst/>
                      </a:pPr>
                      <a:r>
                        <a:rPr lang="en-US" altLang="en-US" sz="1100"/>
                        <a:t>Single-cycle</a:t>
                      </a:r>
                    </a:p>
                  </a:txBody>
                  <a:tcPr marL="0" marR="0" marT="44450" marB="0" horzOverflow="overflow">
                    <a:solidFill>
                      <a:schemeClr val="bg1"/>
                    </a:solidFill>
                  </a:tcPr>
                </a:tc>
                <a:extLst>
                  <a:ext uri="{0D108BD9-81ED-4DB2-BD59-A6C34878D82A}">
                    <a16:rowId xmlns:a16="http://schemas.microsoft.com/office/drawing/2014/main" val="2915387135"/>
                  </a:ext>
                </a:extLst>
              </a:tr>
              <a:tr h="566738">
                <a:tc>
                  <a:txBody>
                    <a:bodyPr/>
                    <a:lstStyle>
                      <a:lvl1pPr marL="74613">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74613" marR="0" lvl="0" indent="0" algn="l" defTabSz="914400" rtl="0" eaLnBrk="1" fontAlgn="base" latinLnBrk="0" hangingPunct="1">
                        <a:lnSpc>
                          <a:spcPts val="1200"/>
                        </a:lnSpc>
                        <a:spcBef>
                          <a:spcPts val="438"/>
                        </a:spcBef>
                        <a:spcAft>
                          <a:spcPct val="0"/>
                        </a:spcAft>
                        <a:buClrTx/>
                        <a:buSzTx/>
                        <a:buFontTx/>
                        <a:buNone/>
                        <a:tabLst/>
                      </a:pPr>
                      <a:r>
                        <a:rPr lang="en-US" altLang="en-US" sz="1100"/>
                        <a:t>Divider (DIV)</a:t>
                      </a:r>
                    </a:p>
                  </a:txBody>
                  <a:tcPr marL="0" marR="0" marT="55880" marB="0" horzOverflow="overflow">
                    <a:solidFill>
                      <a:schemeClr val="bg1"/>
                    </a:solidFill>
                  </a:tcPr>
                </a:tc>
                <a:tc>
                  <a:txBody>
                    <a:bodyPr/>
                    <a:lstStyle>
                      <a:lvl1pPr marL="76200">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76200" marR="0" lvl="0" indent="0" algn="l" defTabSz="914400" rtl="0" eaLnBrk="1" fontAlgn="base" latinLnBrk="0" hangingPunct="1">
                        <a:lnSpc>
                          <a:spcPts val="1225"/>
                        </a:lnSpc>
                        <a:spcBef>
                          <a:spcPts val="350"/>
                        </a:spcBef>
                        <a:spcAft>
                          <a:spcPct val="0"/>
                        </a:spcAft>
                        <a:buClrTx/>
                        <a:buSzTx/>
                        <a:buFontTx/>
                        <a:buNone/>
                        <a:tabLst/>
                      </a:pPr>
                      <a:r>
                        <a:rPr lang="en-US" altLang="en-US" sz="1100" dirty="0"/>
                        <a:t>Computes </a:t>
                      </a:r>
                      <a:r>
                        <a:rPr lang="en-US" altLang="en-US" sz="1100" dirty="0" err="1"/>
                        <a:t>mu_en</a:t>
                      </a:r>
                      <a:r>
                        <a:rPr lang="en-US" altLang="en-US" sz="1100" dirty="0"/>
                        <a:t> = mu / (p</a:t>
                      </a:r>
                    </a:p>
                    <a:p>
                      <a:pPr marL="76200" marR="0" lvl="0" indent="0" algn="l" defTabSz="914400" rtl="0" eaLnBrk="1" fontAlgn="base" latinLnBrk="0" hangingPunct="1">
                        <a:lnSpc>
                          <a:spcPts val="1213"/>
                        </a:lnSpc>
                        <a:spcBef>
                          <a:spcPts val="50"/>
                        </a:spcBef>
                        <a:spcAft>
                          <a:spcPct val="0"/>
                        </a:spcAft>
                        <a:buClrTx/>
                        <a:buSzTx/>
                        <a:buFontTx/>
                        <a:buNone/>
                        <a:tabLst/>
                      </a:pPr>
                      <a:r>
                        <a:rPr lang="en-US" altLang="en-US" sz="1100" dirty="0"/>
                        <a:t>+ e^2) for error normalization</a:t>
                      </a:r>
                    </a:p>
                  </a:txBody>
                  <a:tcPr marL="0" marR="0" marT="44450" marB="0" horzOverflow="overflow">
                    <a:solidFill>
                      <a:schemeClr val="bg1"/>
                    </a:solidFill>
                  </a:tcPr>
                </a:tc>
                <a:tc>
                  <a:txBody>
                    <a:bodyPr/>
                    <a:lstStyle>
                      <a:lvl1pPr marL="74613">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74613" marR="0" lvl="0" indent="0" algn="l" defTabSz="914400" rtl="0" eaLnBrk="1" fontAlgn="base" latinLnBrk="0" hangingPunct="1">
                        <a:lnSpc>
                          <a:spcPts val="1200"/>
                        </a:lnSpc>
                        <a:spcBef>
                          <a:spcPts val="438"/>
                        </a:spcBef>
                        <a:spcAft>
                          <a:spcPct val="0"/>
                        </a:spcAft>
                        <a:buClrTx/>
                        <a:buSzTx/>
                        <a:buFontTx/>
                        <a:buNone/>
                        <a:tabLst/>
                      </a:pPr>
                      <a:r>
                        <a:rPr lang="en-US" altLang="en-US" sz="1100"/>
                        <a:t>Sequential restoring divider</a:t>
                      </a:r>
                    </a:p>
                  </a:txBody>
                  <a:tcPr marL="0" marR="0" marT="55880" marB="0" horzOverflow="overflow">
                    <a:solidFill>
                      <a:schemeClr val="bg1"/>
                    </a:solidFill>
                  </a:tcPr>
                </a:tc>
                <a:tc>
                  <a:txBody>
                    <a:bodyPr/>
                    <a:lstStyle>
                      <a:lvl1pPr marL="76200">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76200" marR="0" lvl="0" indent="0" algn="l" defTabSz="914400" rtl="0" eaLnBrk="1" fontAlgn="base" latinLnBrk="0" hangingPunct="1">
                        <a:lnSpc>
                          <a:spcPct val="100000"/>
                        </a:lnSpc>
                        <a:spcBef>
                          <a:spcPts val="350"/>
                        </a:spcBef>
                        <a:spcAft>
                          <a:spcPct val="0"/>
                        </a:spcAft>
                        <a:buClrTx/>
                        <a:buSzTx/>
                        <a:buFontTx/>
                        <a:buNone/>
                        <a:tabLst/>
                      </a:pPr>
                      <a:r>
                        <a:rPr lang="en-US" altLang="en-US" sz="1100"/>
                        <a:t>16-bit</a:t>
                      </a:r>
                    </a:p>
                  </a:txBody>
                  <a:tcPr marL="0" marR="0" marT="44450" marB="0" horzOverflow="overflow">
                    <a:solidFill>
                      <a:schemeClr val="bg1"/>
                    </a:solidFill>
                  </a:tcPr>
                </a:tc>
                <a:tc>
                  <a:txBody>
                    <a:bodyPr/>
                    <a:lstStyle>
                      <a:lvl1pPr marL="74613">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74613" marR="0" lvl="0" indent="0" algn="l" defTabSz="914400" rtl="0" eaLnBrk="1" fontAlgn="base" latinLnBrk="0" hangingPunct="1">
                        <a:lnSpc>
                          <a:spcPct val="100000"/>
                        </a:lnSpc>
                        <a:spcBef>
                          <a:spcPts val="350"/>
                        </a:spcBef>
                        <a:spcAft>
                          <a:spcPct val="0"/>
                        </a:spcAft>
                        <a:buClrTx/>
                        <a:buSzTx/>
                        <a:buFontTx/>
                        <a:buNone/>
                        <a:tabLst/>
                      </a:pPr>
                      <a:r>
                        <a:rPr lang="en-US" altLang="en-US" sz="1100"/>
                        <a:t>Multi-cycle</a:t>
                      </a:r>
                    </a:p>
                  </a:txBody>
                  <a:tcPr marL="0" marR="0" marT="44450" marB="0" horzOverflow="overflow">
                    <a:solidFill>
                      <a:schemeClr val="bg1"/>
                    </a:solidFill>
                  </a:tcPr>
                </a:tc>
                <a:extLst>
                  <a:ext uri="{0D108BD9-81ED-4DB2-BD59-A6C34878D82A}">
                    <a16:rowId xmlns:a16="http://schemas.microsoft.com/office/drawing/2014/main" val="3712540906"/>
                  </a:ext>
                </a:extLst>
              </a:tr>
              <a:tr h="414338">
                <a:tc>
                  <a:txBody>
                    <a:bodyPr/>
                    <a:lstStyle>
                      <a:lvl1pPr marL="74613">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74613" marR="0" lvl="0" indent="0" algn="l" defTabSz="914400" rtl="0" eaLnBrk="1" fontAlgn="base" latinLnBrk="0" hangingPunct="1">
                        <a:lnSpc>
                          <a:spcPts val="1213"/>
                        </a:lnSpc>
                        <a:spcBef>
                          <a:spcPts val="438"/>
                        </a:spcBef>
                        <a:spcAft>
                          <a:spcPct val="0"/>
                        </a:spcAft>
                        <a:buClrTx/>
                        <a:buSzTx/>
                        <a:buFontTx/>
                        <a:buNone/>
                        <a:tabLst/>
                      </a:pPr>
                      <a:r>
                        <a:rPr lang="en-US" altLang="en-US" sz="1100"/>
                        <a:t>Memory (MEM)</a:t>
                      </a:r>
                    </a:p>
                  </a:txBody>
                  <a:tcPr marL="0" marR="0" marT="55244" marB="0" horzOverflow="overflow">
                    <a:solidFill>
                      <a:schemeClr val="bg1"/>
                    </a:solidFill>
                  </a:tcPr>
                </a:tc>
                <a:tc>
                  <a:txBody>
                    <a:bodyPr/>
                    <a:lstStyle>
                      <a:lvl1pPr marL="76200">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76200" marR="0" lvl="0" indent="0" algn="l" defTabSz="914400" rtl="0" eaLnBrk="1" fontAlgn="base" latinLnBrk="0" hangingPunct="1">
                        <a:lnSpc>
                          <a:spcPts val="1213"/>
                        </a:lnSpc>
                        <a:spcBef>
                          <a:spcPts val="438"/>
                        </a:spcBef>
                        <a:spcAft>
                          <a:spcPct val="0"/>
                        </a:spcAft>
                        <a:buClrTx/>
                        <a:buSzTx/>
                        <a:buFontTx/>
                        <a:buNone/>
                        <a:tabLst/>
                      </a:pPr>
                      <a:r>
                        <a:rPr lang="en-US" altLang="en-US" sz="1100"/>
                        <a:t>Stores and retrieves current filter coefficients c0-c7</a:t>
                      </a:r>
                    </a:p>
                  </a:txBody>
                  <a:tcPr marL="0" marR="0" marT="55244" marB="0" horzOverflow="overflow">
                    <a:solidFill>
                      <a:schemeClr val="bg1"/>
                    </a:solidFill>
                  </a:tcPr>
                </a:tc>
                <a:tc>
                  <a:txBody>
                    <a:bodyPr/>
                    <a:lstStyle>
                      <a:lvl1pPr marL="74613">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74613" marR="0" lvl="0" indent="0" algn="l" defTabSz="914400" rtl="0" eaLnBrk="1" fontAlgn="base" latinLnBrk="0" hangingPunct="1">
                        <a:lnSpc>
                          <a:spcPts val="1213"/>
                        </a:lnSpc>
                        <a:spcBef>
                          <a:spcPts val="438"/>
                        </a:spcBef>
                        <a:spcAft>
                          <a:spcPct val="0"/>
                        </a:spcAft>
                        <a:buClrTx/>
                        <a:buSzTx/>
                        <a:buFontTx/>
                        <a:buNone/>
                        <a:tabLst/>
                      </a:pPr>
                      <a:r>
                        <a:rPr lang="en-US" altLang="en-US" sz="1100"/>
                        <a:t>Register file (8 x 16- bit)</a:t>
                      </a:r>
                    </a:p>
                  </a:txBody>
                  <a:tcPr marL="0" marR="0" marT="55244" marB="0" horzOverflow="overflow">
                    <a:solidFill>
                      <a:schemeClr val="bg1"/>
                    </a:solidFill>
                  </a:tcPr>
                </a:tc>
                <a:tc>
                  <a:txBody>
                    <a:bodyPr/>
                    <a:lstStyle>
                      <a:lvl1pPr marL="76200">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76200" marR="0" lvl="0" indent="0" algn="l" defTabSz="914400" rtl="0" eaLnBrk="1" fontAlgn="base" latinLnBrk="0" hangingPunct="1">
                        <a:lnSpc>
                          <a:spcPct val="100000"/>
                        </a:lnSpc>
                        <a:spcBef>
                          <a:spcPts val="350"/>
                        </a:spcBef>
                        <a:spcAft>
                          <a:spcPct val="0"/>
                        </a:spcAft>
                        <a:buClrTx/>
                        <a:buSzTx/>
                        <a:buFontTx/>
                        <a:buNone/>
                        <a:tabLst/>
                      </a:pPr>
                      <a:r>
                        <a:rPr lang="en-US" altLang="en-US" sz="1100"/>
                        <a:t>8×16-bit</a:t>
                      </a:r>
                    </a:p>
                  </a:txBody>
                  <a:tcPr marL="0" marR="0" marT="44450" marB="0" horzOverflow="overflow">
                    <a:solidFill>
                      <a:schemeClr val="bg1"/>
                    </a:solidFill>
                  </a:tcPr>
                </a:tc>
                <a:tc>
                  <a:txBody>
                    <a:bodyPr/>
                    <a:lstStyle>
                      <a:lvl1pPr marL="74613">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74613" marR="0" lvl="0" indent="0" algn="l" defTabSz="914400" rtl="0" eaLnBrk="1" fontAlgn="base" latinLnBrk="0" hangingPunct="1">
                        <a:lnSpc>
                          <a:spcPts val="1213"/>
                        </a:lnSpc>
                        <a:spcBef>
                          <a:spcPts val="438"/>
                        </a:spcBef>
                        <a:spcAft>
                          <a:spcPct val="0"/>
                        </a:spcAft>
                        <a:buClrTx/>
                        <a:buSzTx/>
                        <a:buFontTx/>
                        <a:buNone/>
                        <a:tabLst/>
                      </a:pPr>
                      <a:r>
                        <a:rPr lang="en-US" altLang="en-US" sz="1100"/>
                        <a:t>Synchronous read/write</a:t>
                      </a:r>
                    </a:p>
                  </a:txBody>
                  <a:tcPr marL="0" marR="0" marT="55244" marB="0" horzOverflow="overflow">
                    <a:solidFill>
                      <a:schemeClr val="bg1"/>
                    </a:solidFill>
                  </a:tcPr>
                </a:tc>
                <a:extLst>
                  <a:ext uri="{0D108BD9-81ED-4DB2-BD59-A6C34878D82A}">
                    <a16:rowId xmlns:a16="http://schemas.microsoft.com/office/drawing/2014/main" val="1872970556"/>
                  </a:ext>
                </a:extLst>
              </a:tr>
              <a:tr h="568325">
                <a:tc>
                  <a:txBody>
                    <a:bodyPr/>
                    <a:lstStyle>
                      <a:lvl1pPr marL="74613">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74613" marR="0" lvl="0" indent="0" algn="l" defTabSz="914400" rtl="0" eaLnBrk="1" fontAlgn="base" latinLnBrk="0" hangingPunct="1">
                        <a:lnSpc>
                          <a:spcPct val="100000"/>
                        </a:lnSpc>
                        <a:spcBef>
                          <a:spcPts val="350"/>
                        </a:spcBef>
                        <a:spcAft>
                          <a:spcPct val="0"/>
                        </a:spcAft>
                        <a:buClrTx/>
                        <a:buSzTx/>
                        <a:buFontTx/>
                        <a:buNone/>
                        <a:tabLst/>
                      </a:pPr>
                      <a:r>
                        <a:rPr lang="en-US" altLang="en-US" sz="1100"/>
                        <a:t>Control FSM</a:t>
                      </a:r>
                    </a:p>
                  </a:txBody>
                  <a:tcPr marL="0" marR="0" marT="45085" marB="0" horzOverflow="overflow">
                    <a:solidFill>
                      <a:schemeClr val="bg1"/>
                    </a:solidFill>
                  </a:tcPr>
                </a:tc>
                <a:tc>
                  <a:txBody>
                    <a:bodyPr/>
                    <a:lstStyle>
                      <a:lvl1pPr marL="76200">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76200" marR="0" lvl="0" indent="0" algn="just" defTabSz="914400" rtl="0" eaLnBrk="1" fontAlgn="base" latinLnBrk="0" hangingPunct="1">
                        <a:lnSpc>
                          <a:spcPts val="1213"/>
                        </a:lnSpc>
                        <a:spcBef>
                          <a:spcPts val="438"/>
                        </a:spcBef>
                        <a:spcAft>
                          <a:spcPct val="0"/>
                        </a:spcAft>
                        <a:buClrTx/>
                        <a:buSzTx/>
                        <a:buFontTx/>
                        <a:buNone/>
                        <a:tabLst/>
                      </a:pPr>
                      <a:r>
                        <a:rPr lang="en-US" altLang="en-US" sz="1100"/>
                        <a:t>Generates sel_f1, sel_f2, sel_n control signals for pipeline stage selection</a:t>
                      </a:r>
                    </a:p>
                  </a:txBody>
                  <a:tcPr marL="0" marR="0" marT="55244" marB="0" horzOverflow="overflow">
                    <a:solidFill>
                      <a:schemeClr val="bg1"/>
                    </a:solidFill>
                  </a:tcPr>
                </a:tc>
                <a:tc>
                  <a:txBody>
                    <a:bodyPr/>
                    <a:lstStyle>
                      <a:lvl1pPr marL="74613">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74613" marR="0" lvl="0" indent="0" algn="l" defTabSz="914400" rtl="0" eaLnBrk="1" fontAlgn="base" latinLnBrk="0" hangingPunct="1">
                        <a:lnSpc>
                          <a:spcPts val="1213"/>
                        </a:lnSpc>
                        <a:spcBef>
                          <a:spcPts val="438"/>
                        </a:spcBef>
                        <a:spcAft>
                          <a:spcPct val="0"/>
                        </a:spcAft>
                        <a:buClrTx/>
                        <a:buSzTx/>
                        <a:buFontTx/>
                        <a:buNone/>
                        <a:tabLst/>
                      </a:pPr>
                      <a:r>
                        <a:rPr lang="en-US" altLang="en-US" sz="1100"/>
                        <a:t>Finite State Machine (3 states)</a:t>
                      </a:r>
                    </a:p>
                  </a:txBody>
                  <a:tcPr marL="0" marR="0" marT="55244" marB="0" horzOverflow="overflow">
                    <a:solidFill>
                      <a:schemeClr val="bg1"/>
                    </a:solidFill>
                  </a:tcPr>
                </a:tc>
                <a:tc>
                  <a:txBody>
                    <a:bodyPr/>
                    <a:lstStyle>
                      <a:lvl1pPr marL="76200">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76200" marR="0" lvl="0" indent="0" algn="l" defTabSz="914400" rtl="0" eaLnBrk="1" fontAlgn="base" latinLnBrk="0" hangingPunct="1">
                        <a:lnSpc>
                          <a:spcPct val="100000"/>
                        </a:lnSpc>
                        <a:spcBef>
                          <a:spcPts val="350"/>
                        </a:spcBef>
                        <a:spcAft>
                          <a:spcPct val="0"/>
                        </a:spcAft>
                        <a:buClrTx/>
                        <a:buSzTx/>
                        <a:buFontTx/>
                        <a:buNone/>
                        <a:tabLst/>
                      </a:pPr>
                      <a:r>
                        <a:rPr lang="en-US" altLang="en-US" sz="1100"/>
                        <a:t>3 control bits</a:t>
                      </a:r>
                    </a:p>
                  </a:txBody>
                  <a:tcPr marL="0" marR="0" marT="45085" marB="0" horzOverflow="overflow">
                    <a:solidFill>
                      <a:schemeClr val="bg1"/>
                    </a:solidFill>
                  </a:tcPr>
                </a:tc>
                <a:tc>
                  <a:txBody>
                    <a:bodyPr/>
                    <a:lstStyle>
                      <a:lvl1pPr marL="74613">
                        <a:spcBef>
                          <a:spcPct val="20000"/>
                        </a:spcBef>
                        <a:defRPr sz="1600">
                          <a:solidFill>
                            <a:schemeClr val="tx1"/>
                          </a:solidFill>
                          <a:latin typeface="Calibri" panose="020F0502020204030204" pitchFamily="34" charset="0"/>
                        </a:defRPr>
                      </a:lvl1pPr>
                      <a:lvl2pPr marL="742950" indent="-285750">
                        <a:spcBef>
                          <a:spcPct val="20000"/>
                        </a:spcBef>
                        <a:defRPr sz="1600">
                          <a:solidFill>
                            <a:schemeClr val="tx1"/>
                          </a:solidFill>
                          <a:latin typeface="Calibri" panose="020F0502020204030204" pitchFamily="34" charset="0"/>
                        </a:defRPr>
                      </a:lvl2pPr>
                      <a:lvl3pPr marL="1143000" indent="-228600">
                        <a:spcBef>
                          <a:spcPct val="20000"/>
                        </a:spcBef>
                        <a:defRPr sz="1600">
                          <a:solidFill>
                            <a:schemeClr val="tx1"/>
                          </a:solidFill>
                          <a:latin typeface="Calibri" panose="020F0502020204030204" pitchFamily="34" charset="0"/>
                        </a:defRPr>
                      </a:lvl3pPr>
                      <a:lvl4pPr marL="1600200" indent="-228600">
                        <a:spcBef>
                          <a:spcPct val="20000"/>
                        </a:spcBef>
                        <a:defRPr sz="1600">
                          <a:solidFill>
                            <a:schemeClr val="tx1"/>
                          </a:solidFill>
                          <a:latin typeface="Calibri" panose="020F0502020204030204" pitchFamily="34" charset="0"/>
                        </a:defRPr>
                      </a:lvl4pPr>
                      <a:lvl5pPr marL="2057400" indent="-228600">
                        <a:spcBef>
                          <a:spcPct val="20000"/>
                        </a:spcBef>
                        <a:defRPr sz="1600">
                          <a:solidFill>
                            <a:schemeClr val="tx1"/>
                          </a:solidFill>
                          <a:latin typeface="Calibri" panose="020F0502020204030204" pitchFamily="34" charset="0"/>
                        </a:defRPr>
                      </a:lvl5pPr>
                      <a:lvl6pPr marL="2514600" indent="-228600" eaLnBrk="0" fontAlgn="base" hangingPunct="0">
                        <a:spcBef>
                          <a:spcPct val="20000"/>
                        </a:spcBef>
                        <a:spcAft>
                          <a:spcPct val="0"/>
                        </a:spcAft>
                        <a:defRPr sz="1600">
                          <a:solidFill>
                            <a:schemeClr val="tx1"/>
                          </a:solidFill>
                          <a:latin typeface="Calibri" panose="020F0502020204030204" pitchFamily="34" charset="0"/>
                        </a:defRPr>
                      </a:lvl6pPr>
                      <a:lvl7pPr marL="2971800" indent="-228600" eaLnBrk="0" fontAlgn="base" hangingPunct="0">
                        <a:spcBef>
                          <a:spcPct val="20000"/>
                        </a:spcBef>
                        <a:spcAft>
                          <a:spcPct val="0"/>
                        </a:spcAft>
                        <a:defRPr sz="1600">
                          <a:solidFill>
                            <a:schemeClr val="tx1"/>
                          </a:solidFill>
                          <a:latin typeface="Calibri" panose="020F0502020204030204" pitchFamily="34" charset="0"/>
                        </a:defRPr>
                      </a:lvl7pPr>
                      <a:lvl8pPr marL="3429000" indent="-228600" eaLnBrk="0" fontAlgn="base" hangingPunct="0">
                        <a:spcBef>
                          <a:spcPct val="20000"/>
                        </a:spcBef>
                        <a:spcAft>
                          <a:spcPct val="0"/>
                        </a:spcAft>
                        <a:defRPr sz="1600">
                          <a:solidFill>
                            <a:schemeClr val="tx1"/>
                          </a:solidFill>
                          <a:latin typeface="Calibri" panose="020F0502020204030204" pitchFamily="34" charset="0"/>
                        </a:defRPr>
                      </a:lvl8pPr>
                      <a:lvl9pPr marL="3886200" indent="-228600" eaLnBrk="0" fontAlgn="base" hangingPunct="0">
                        <a:spcBef>
                          <a:spcPct val="20000"/>
                        </a:spcBef>
                        <a:spcAft>
                          <a:spcPct val="0"/>
                        </a:spcAft>
                        <a:defRPr sz="1600">
                          <a:solidFill>
                            <a:schemeClr val="tx1"/>
                          </a:solidFill>
                          <a:latin typeface="Calibri" panose="020F0502020204030204" pitchFamily="34" charset="0"/>
                        </a:defRPr>
                      </a:lvl9pPr>
                    </a:lstStyle>
                    <a:p>
                      <a:pPr marL="74613" marR="0" lvl="0" indent="0" algn="l" defTabSz="914400" rtl="0" eaLnBrk="1" fontAlgn="base" latinLnBrk="0" hangingPunct="1">
                        <a:lnSpc>
                          <a:spcPts val="1213"/>
                        </a:lnSpc>
                        <a:spcBef>
                          <a:spcPts val="438"/>
                        </a:spcBef>
                        <a:spcAft>
                          <a:spcPct val="0"/>
                        </a:spcAft>
                        <a:buClrTx/>
                        <a:buSzTx/>
                        <a:buFontTx/>
                        <a:buNone/>
                        <a:tabLst/>
                      </a:pPr>
                      <a:r>
                        <a:rPr lang="en-US" altLang="en-US" sz="1100" dirty="0"/>
                        <a:t>Synchronous Moore FSM</a:t>
                      </a:r>
                    </a:p>
                  </a:txBody>
                  <a:tcPr marL="0" marR="0" marT="55244" marB="0" horzOverflow="overflow">
                    <a:solidFill>
                      <a:schemeClr val="bg1"/>
                    </a:solidFill>
                  </a:tcPr>
                </a:tc>
                <a:extLst>
                  <a:ext uri="{0D108BD9-81ED-4DB2-BD59-A6C34878D82A}">
                    <a16:rowId xmlns:a16="http://schemas.microsoft.com/office/drawing/2014/main" val="2809855097"/>
                  </a:ext>
                </a:extLst>
              </a:tr>
            </a:tbl>
          </a:graphicData>
        </a:graphic>
      </p:graphicFrame>
      <p:sp>
        <p:nvSpPr>
          <p:cNvPr id="4" name="object 4">
            <a:extLst>
              <a:ext uri="{FF2B5EF4-FFF2-40B4-BE49-F238E27FC236}">
                <a16:creationId xmlns:a16="http://schemas.microsoft.com/office/drawing/2014/main" id="{CCF66829-66F1-BDF8-5FAA-D6A1C8A58232}"/>
              </a:ext>
            </a:extLst>
          </p:cNvPr>
          <p:cNvSpPr txBox="1"/>
          <p:nvPr/>
        </p:nvSpPr>
        <p:spPr>
          <a:xfrm>
            <a:off x="1143000" y="7620000"/>
            <a:ext cx="5741988" cy="875881"/>
          </a:xfrm>
          <a:prstGeom prst="rect">
            <a:avLst/>
          </a:prstGeom>
        </p:spPr>
        <p:txBody>
          <a:bodyPr lIns="0" tIns="13970" rIns="0" bIns="0">
            <a:spAutoFit/>
          </a:bodyPr>
          <a:lstStyle>
            <a:lvl1pPr marL="12700" indent="455613">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r>
              <a:rPr lang="en-US" sz="1100" b="1" dirty="0">
                <a:latin typeface="Calibri" panose="020F0502020204030204" pitchFamily="34" charset="0"/>
                <a:ea typeface="Calibri" panose="020F0502020204030204" pitchFamily="34" charset="0"/>
                <a:cs typeface="Calibri" panose="020F0502020204030204" pitchFamily="34" charset="0"/>
              </a:rPr>
              <a:t>FIR Filter Leaf Cell:</a:t>
            </a:r>
            <a:br>
              <a:rPr lang="en-US" sz="1100" dirty="0">
                <a:latin typeface="Calibri" panose="020F0502020204030204" pitchFamily="34" charset="0"/>
                <a:ea typeface="Calibri" panose="020F0502020204030204" pitchFamily="34" charset="0"/>
                <a:cs typeface="Calibri" panose="020F0502020204030204" pitchFamily="34" charset="0"/>
              </a:rPr>
            </a:br>
            <a:r>
              <a:rPr lang="en-US" sz="1100" dirty="0">
                <a:latin typeface="Calibri" panose="020F0502020204030204" pitchFamily="34" charset="0"/>
                <a:ea typeface="Calibri" panose="020F0502020204030204" pitchFamily="34" charset="0"/>
                <a:cs typeface="Calibri" panose="020F0502020204030204" pitchFamily="34" charset="0"/>
              </a:rPr>
              <a:t>The FIR filter is the main signal processing unit, implementing y(n) = wᵀ(n) · x(n) using N = 4 multipliers and an adder tree. It is pipelined to process one sample per clock cycle. The coefficients are fetched from memory and updated continuously.</a:t>
            </a:r>
          </a:p>
          <a:p>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a:extLst>
              <a:ext uri="{FF2B5EF4-FFF2-40B4-BE49-F238E27FC236}">
                <a16:creationId xmlns:a16="http://schemas.microsoft.com/office/drawing/2014/main" id="{A5D9781A-E0D4-A063-A287-77F502B75EB6}"/>
              </a:ext>
            </a:extLst>
          </p:cNvPr>
          <p:cNvSpPr txBox="1"/>
          <p:nvPr/>
        </p:nvSpPr>
        <p:spPr>
          <a:xfrm>
            <a:off x="1130300" y="864172"/>
            <a:ext cx="5743575" cy="3736920"/>
          </a:xfrm>
          <a:prstGeom prst="rect">
            <a:avLst/>
          </a:prstGeom>
        </p:spPr>
        <p:txBody>
          <a:bodyPr lIns="0" tIns="12700" rIns="0" bIns="0">
            <a:spAutoFit/>
          </a:bodyPr>
          <a:lstStyle>
            <a:lvl1pPr marL="12700" indent="455613">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r>
              <a:rPr lang="en-US" sz="1100" b="1" dirty="0">
                <a:latin typeface="Calibri" panose="020F0502020204030204" pitchFamily="34" charset="0"/>
                <a:ea typeface="Calibri" panose="020F0502020204030204" pitchFamily="34" charset="0"/>
                <a:cs typeface="Calibri" panose="020F0502020204030204" pitchFamily="34" charset="0"/>
              </a:rPr>
              <a:t>Subtractor Leaf Cell:</a:t>
            </a:r>
            <a:br>
              <a:rPr lang="en-US" sz="1100" dirty="0">
                <a:latin typeface="Calibri" panose="020F0502020204030204" pitchFamily="34" charset="0"/>
                <a:ea typeface="Calibri" panose="020F0502020204030204" pitchFamily="34" charset="0"/>
                <a:cs typeface="Calibri" panose="020F0502020204030204" pitchFamily="34" charset="0"/>
              </a:rPr>
            </a:br>
            <a:r>
              <a:rPr lang="en-US" sz="1100" dirty="0">
                <a:latin typeface="Calibri" panose="020F0502020204030204" pitchFamily="34" charset="0"/>
                <a:ea typeface="Calibri" panose="020F0502020204030204" pitchFamily="34" charset="0"/>
                <a:cs typeface="Calibri" panose="020F0502020204030204" pitchFamily="34" charset="0"/>
              </a:rPr>
              <a:t>The subtractor computes the error e(n) = d(n) − y(n) using 16-bit subtraction. Its output is used for both delay insertion and normalization, with single-cycle latency and simple FPGA logic implementation</a:t>
            </a:r>
            <a:r>
              <a:rPr lang="en-US" sz="1100" dirty="0"/>
              <a:t>.</a:t>
            </a:r>
          </a:p>
          <a:p>
            <a:endParaRPr lang="en-US" sz="1100" dirty="0"/>
          </a:p>
          <a:p>
            <a:r>
              <a:rPr lang="en-US" sz="1100" b="1" dirty="0">
                <a:latin typeface="Calibri" panose="020F0502020204030204" pitchFamily="34" charset="0"/>
                <a:ea typeface="Calibri" panose="020F0502020204030204" pitchFamily="34" charset="0"/>
                <a:cs typeface="Calibri" panose="020F0502020204030204" pitchFamily="34" charset="0"/>
              </a:rPr>
              <a:t>Delay Register Leaf Cell:</a:t>
            </a:r>
            <a:br>
              <a:rPr lang="en-US" sz="1100" dirty="0">
                <a:latin typeface="Calibri" panose="020F0502020204030204" pitchFamily="34" charset="0"/>
                <a:ea typeface="Calibri" panose="020F0502020204030204" pitchFamily="34" charset="0"/>
                <a:cs typeface="Calibri" panose="020F0502020204030204" pitchFamily="34" charset="0"/>
              </a:rPr>
            </a:br>
            <a:r>
              <a:rPr lang="en-US" sz="1100" dirty="0">
                <a:latin typeface="Calibri" panose="020F0502020204030204" pitchFamily="34" charset="0"/>
                <a:ea typeface="Calibri" panose="020F0502020204030204" pitchFamily="34" charset="0"/>
                <a:cs typeface="Calibri" panose="020F0502020204030204" pitchFamily="34" charset="0"/>
              </a:rPr>
              <a:t>This is the key component of the DENLMS design. It consists of D flip-flops that introduce a delay of </a:t>
            </a:r>
            <a:r>
              <a:rPr lang="en-US" sz="1100" dirty="0" err="1">
                <a:latin typeface="Calibri" panose="020F0502020204030204" pitchFamily="34" charset="0"/>
                <a:ea typeface="Calibri" panose="020F0502020204030204" pitchFamily="34" charset="0"/>
                <a:cs typeface="Calibri" panose="020F0502020204030204" pitchFamily="34" charset="0"/>
              </a:rPr>
              <a:t>kD</a:t>
            </a:r>
            <a:r>
              <a:rPr lang="en-US" sz="1100" dirty="0">
                <a:latin typeface="Calibri" panose="020F0502020204030204" pitchFamily="34" charset="0"/>
                <a:ea typeface="Calibri" panose="020F0502020204030204" pitchFamily="34" charset="0"/>
                <a:cs typeface="Calibri" panose="020F0502020204030204" pitchFamily="34" charset="0"/>
              </a:rPr>
              <a:t> = 1 in the error feedback path, implementing e(n−</a:t>
            </a:r>
            <a:r>
              <a:rPr lang="en-US" sz="1100" dirty="0" err="1">
                <a:latin typeface="Calibri" panose="020F0502020204030204" pitchFamily="34" charset="0"/>
                <a:ea typeface="Calibri" panose="020F0502020204030204" pitchFamily="34" charset="0"/>
                <a:cs typeface="Calibri" panose="020F0502020204030204" pitchFamily="34" charset="0"/>
              </a:rPr>
              <a:t>kD</a:t>
            </a:r>
            <a:r>
              <a:rPr lang="en-US" sz="1100" dirty="0">
                <a:latin typeface="Calibri" panose="020F0502020204030204" pitchFamily="34" charset="0"/>
                <a:ea typeface="Calibri" panose="020F0502020204030204" pitchFamily="34" charset="0"/>
                <a:cs typeface="Calibri" panose="020F0502020204030204" pitchFamily="34" charset="0"/>
              </a:rPr>
              <a:t>). This delay enables pipelining by breaking the combinational feedback loop and reducing the critical path. </a:t>
            </a:r>
          </a:p>
          <a:p>
            <a:endParaRPr lang="en-US" sz="1100" dirty="0">
              <a:latin typeface="Calibri" panose="020F0502020204030204" pitchFamily="34" charset="0"/>
              <a:ea typeface="Calibri" panose="020F0502020204030204" pitchFamily="34" charset="0"/>
              <a:cs typeface="Calibri" panose="020F0502020204030204" pitchFamily="34" charset="0"/>
            </a:endParaRPr>
          </a:p>
          <a:p>
            <a:r>
              <a:rPr lang="en-US" sz="1100" b="1" dirty="0">
                <a:latin typeface="Calibri" panose="020F0502020204030204" pitchFamily="34" charset="0"/>
                <a:ea typeface="Calibri" panose="020F0502020204030204" pitchFamily="34" charset="0"/>
                <a:cs typeface="Calibri" panose="020F0502020204030204" pitchFamily="34" charset="0"/>
              </a:rPr>
              <a:t>Multiplier Leaf Cell:</a:t>
            </a:r>
            <a:br>
              <a:rPr lang="en-US" sz="1100" dirty="0">
                <a:latin typeface="Calibri" panose="020F0502020204030204" pitchFamily="34" charset="0"/>
                <a:ea typeface="Calibri" panose="020F0502020204030204" pitchFamily="34" charset="0"/>
                <a:cs typeface="Calibri" panose="020F0502020204030204" pitchFamily="34" charset="0"/>
              </a:rPr>
            </a:br>
            <a:r>
              <a:rPr lang="en-US" sz="1100" dirty="0">
                <a:latin typeface="Calibri" panose="020F0502020204030204" pitchFamily="34" charset="0"/>
                <a:ea typeface="Calibri" panose="020F0502020204030204" pitchFamily="34" charset="0"/>
                <a:cs typeface="Calibri" panose="020F0502020204030204" pitchFamily="34" charset="0"/>
              </a:rPr>
              <a:t>Performs signed 16×16-bit multiplication to produce a 32-bit result. It is used in both FIR filtering and coefficient update operations. On the Virtex-5 FPGA, it maps to DSP48E slices, providing efficient pipelined multiplication.</a:t>
            </a:r>
          </a:p>
          <a:p>
            <a:endParaRPr lang="en-US" sz="1100" dirty="0">
              <a:latin typeface="Calibri" panose="020F0502020204030204" pitchFamily="34" charset="0"/>
              <a:ea typeface="Calibri" panose="020F0502020204030204" pitchFamily="34" charset="0"/>
              <a:cs typeface="Calibri" panose="020F0502020204030204" pitchFamily="34" charset="0"/>
            </a:endParaRPr>
          </a:p>
          <a:p>
            <a:r>
              <a:rPr lang="en-US" sz="1100" b="1" dirty="0">
                <a:latin typeface="Calibri" panose="020F0502020204030204" pitchFamily="34" charset="0"/>
                <a:ea typeface="Calibri" panose="020F0502020204030204" pitchFamily="34" charset="0"/>
                <a:cs typeface="Calibri" panose="020F0502020204030204" pitchFamily="34" charset="0"/>
              </a:rPr>
              <a:t>Divider Leaf Cell:</a:t>
            </a:r>
            <a:br>
              <a:rPr lang="en-US" sz="1100" dirty="0">
                <a:latin typeface="Calibri" panose="020F0502020204030204" pitchFamily="34" charset="0"/>
                <a:ea typeface="Calibri" panose="020F0502020204030204" pitchFamily="34" charset="0"/>
                <a:cs typeface="Calibri" panose="020F0502020204030204" pitchFamily="34" charset="0"/>
              </a:rPr>
            </a:br>
            <a:r>
              <a:rPr lang="en-US" sz="1100" dirty="0">
                <a:latin typeface="Calibri" panose="020F0502020204030204" pitchFamily="34" charset="0"/>
                <a:ea typeface="Calibri" panose="020F0502020204030204" pitchFamily="34" charset="0"/>
                <a:cs typeface="Calibri" panose="020F0502020204030204" pitchFamily="34" charset="0"/>
              </a:rPr>
              <a:t>Implements error normalization μₑₙ = μ / (p + eᵀ(n)e(n)). Since division is hardware-intensive, a sequential divider is used, completing the operation over multiple clock cycles and storing the result.</a:t>
            </a:r>
          </a:p>
          <a:p>
            <a:endParaRPr lang="en-US" sz="1100" dirty="0">
              <a:latin typeface="Calibri" panose="020F0502020204030204" pitchFamily="34" charset="0"/>
              <a:ea typeface="Calibri" panose="020F0502020204030204" pitchFamily="34" charset="0"/>
              <a:cs typeface="Calibri" panose="020F0502020204030204" pitchFamily="34" charset="0"/>
            </a:endParaRPr>
          </a:p>
          <a:p>
            <a:r>
              <a:rPr lang="en-US" sz="1100" b="1" dirty="0">
                <a:latin typeface="Calibri" panose="020F0502020204030204" pitchFamily="34" charset="0"/>
                <a:ea typeface="Calibri" panose="020F0502020204030204" pitchFamily="34" charset="0"/>
                <a:cs typeface="Calibri" panose="020F0502020204030204" pitchFamily="34" charset="0"/>
              </a:rPr>
              <a:t>Memory Leaf Cell:</a:t>
            </a:r>
            <a:br>
              <a:rPr lang="en-US" sz="1100" dirty="0">
                <a:latin typeface="Calibri" panose="020F0502020204030204" pitchFamily="34" charset="0"/>
                <a:ea typeface="Calibri" panose="020F0502020204030204" pitchFamily="34" charset="0"/>
                <a:cs typeface="Calibri" panose="020F0502020204030204" pitchFamily="34" charset="0"/>
              </a:rPr>
            </a:br>
            <a:r>
              <a:rPr lang="en-US" sz="1100" dirty="0">
                <a:latin typeface="Calibri" panose="020F0502020204030204" pitchFamily="34" charset="0"/>
                <a:ea typeface="Calibri" panose="020F0502020204030204" pitchFamily="34" charset="0"/>
                <a:cs typeface="Calibri" panose="020F0502020204030204" pitchFamily="34" charset="0"/>
              </a:rPr>
              <a:t>An 8×16-bit register file storing filter coefficients. It supports simultaneous read and write operations per clock cycle and is implemented using FPGA memory resources.</a:t>
            </a:r>
          </a:p>
        </p:txBody>
      </p:sp>
      <p:sp>
        <p:nvSpPr>
          <p:cNvPr id="3" name="object 3">
            <a:extLst>
              <a:ext uri="{FF2B5EF4-FFF2-40B4-BE49-F238E27FC236}">
                <a16:creationId xmlns:a16="http://schemas.microsoft.com/office/drawing/2014/main" id="{3A5384C1-B47A-37AD-5FEF-61741AEA6E2D}"/>
              </a:ext>
            </a:extLst>
          </p:cNvPr>
          <p:cNvSpPr txBox="1"/>
          <p:nvPr/>
        </p:nvSpPr>
        <p:spPr>
          <a:xfrm>
            <a:off x="1130300" y="6026150"/>
            <a:ext cx="5743575" cy="1378904"/>
          </a:xfrm>
          <a:prstGeom prst="rect">
            <a:avLst/>
          </a:prstGeom>
        </p:spPr>
        <p:txBody>
          <a:bodyPr lIns="0" tIns="13335" rIns="0" bIns="0">
            <a:spAutoFit/>
          </a:bodyPr>
          <a:lstStyle>
            <a:lvl1pPr marL="12700" indent="455613">
              <a:tabLst>
                <a:tab pos="325438" algn="l"/>
              </a:tabLst>
              <a:defRPr>
                <a:solidFill>
                  <a:schemeClr val="tx1"/>
                </a:solidFill>
                <a:latin typeface="Arial" panose="020B0604020202020204" pitchFamily="34" charset="0"/>
              </a:defRPr>
            </a:lvl1pPr>
            <a:lvl2pPr marL="323850" indent="-312738">
              <a:tabLst>
                <a:tab pos="325438" algn="l"/>
              </a:tabLst>
              <a:defRPr>
                <a:solidFill>
                  <a:schemeClr val="tx1"/>
                </a:solidFill>
                <a:latin typeface="Arial" panose="020B0604020202020204" pitchFamily="34" charset="0"/>
              </a:defRPr>
            </a:lvl2pPr>
            <a:lvl3pPr marL="393700" indent="-381000">
              <a:tabLst>
                <a:tab pos="325438" algn="l"/>
              </a:tabLst>
              <a:defRPr>
                <a:solidFill>
                  <a:schemeClr val="tx1"/>
                </a:solidFill>
                <a:latin typeface="Arial" panose="020B0604020202020204" pitchFamily="34" charset="0"/>
              </a:defRPr>
            </a:lvl3pPr>
            <a:lvl4pPr marL="1600200" indent="-228600">
              <a:tabLst>
                <a:tab pos="325438" algn="l"/>
              </a:tabLst>
              <a:defRPr>
                <a:solidFill>
                  <a:schemeClr val="tx1"/>
                </a:solidFill>
                <a:latin typeface="Arial" panose="020B0604020202020204" pitchFamily="34" charset="0"/>
              </a:defRPr>
            </a:lvl4pPr>
            <a:lvl5pPr marL="2057400" indent="-228600">
              <a:tabLst>
                <a:tab pos="325438" algn="l"/>
              </a:tabLst>
              <a:defRPr>
                <a:solidFill>
                  <a:schemeClr val="tx1"/>
                </a:solidFill>
                <a:latin typeface="Arial" panose="020B0604020202020204" pitchFamily="34" charset="0"/>
              </a:defRPr>
            </a:lvl5pPr>
            <a:lvl6pPr marL="2514600" indent="-228600" eaLnBrk="0" fontAlgn="base" hangingPunct="0">
              <a:spcBef>
                <a:spcPct val="0"/>
              </a:spcBef>
              <a:spcAft>
                <a:spcPct val="0"/>
              </a:spcAft>
              <a:tabLst>
                <a:tab pos="325438" algn="l"/>
              </a:tabLst>
              <a:defRPr>
                <a:solidFill>
                  <a:schemeClr val="tx1"/>
                </a:solidFill>
                <a:latin typeface="Arial" panose="020B0604020202020204" pitchFamily="34" charset="0"/>
              </a:defRPr>
            </a:lvl6pPr>
            <a:lvl7pPr marL="2971800" indent="-228600" eaLnBrk="0" fontAlgn="base" hangingPunct="0">
              <a:spcBef>
                <a:spcPct val="0"/>
              </a:spcBef>
              <a:spcAft>
                <a:spcPct val="0"/>
              </a:spcAft>
              <a:tabLst>
                <a:tab pos="325438" algn="l"/>
              </a:tabLst>
              <a:defRPr>
                <a:solidFill>
                  <a:schemeClr val="tx1"/>
                </a:solidFill>
                <a:latin typeface="Arial" panose="020B0604020202020204" pitchFamily="34" charset="0"/>
              </a:defRPr>
            </a:lvl7pPr>
            <a:lvl8pPr marL="3429000" indent="-228600" eaLnBrk="0" fontAlgn="base" hangingPunct="0">
              <a:spcBef>
                <a:spcPct val="0"/>
              </a:spcBef>
              <a:spcAft>
                <a:spcPct val="0"/>
              </a:spcAft>
              <a:tabLst>
                <a:tab pos="325438" algn="l"/>
              </a:tabLst>
              <a:defRPr>
                <a:solidFill>
                  <a:schemeClr val="tx1"/>
                </a:solidFill>
                <a:latin typeface="Arial" panose="020B0604020202020204" pitchFamily="34" charset="0"/>
              </a:defRPr>
            </a:lvl8pPr>
            <a:lvl9pPr marL="3886200" indent="-228600" eaLnBrk="0" fontAlgn="base" hangingPunct="0">
              <a:spcBef>
                <a:spcPct val="0"/>
              </a:spcBef>
              <a:spcAft>
                <a:spcPct val="0"/>
              </a:spcAft>
              <a:tabLst>
                <a:tab pos="325438" algn="l"/>
              </a:tabLst>
              <a:defRPr>
                <a:solidFill>
                  <a:schemeClr val="tx1"/>
                </a:solidFill>
                <a:latin typeface="Arial" panose="020B0604020202020204" pitchFamily="34" charset="0"/>
              </a:defRPr>
            </a:lvl9pPr>
          </a:lstStyle>
          <a:p>
            <a:pPr lvl="1" eaLnBrk="1" hangingPunct="1">
              <a:spcBef>
                <a:spcPts val="100"/>
              </a:spcBef>
              <a:buFontTx/>
              <a:buAutoNum type="arabicPeriod" startAt="3"/>
            </a:pPr>
            <a:r>
              <a:rPr lang="en-US" altLang="en-US" sz="1400" b="1" dirty="0">
                <a:solidFill>
                  <a:srgbClr val="2D75B6"/>
                </a:solidFill>
                <a:latin typeface="Times New Roman" panose="02020603050405020304" pitchFamily="18" charset="0"/>
                <a:cs typeface="Times New Roman" panose="02020603050405020304" pitchFamily="18" charset="0"/>
              </a:rPr>
              <a:t>Leaf</a:t>
            </a:r>
            <a:r>
              <a:rPr lang="en-US" altLang="en-US" sz="1400" dirty="0">
                <a:solidFill>
                  <a:srgbClr val="2D75B6"/>
                </a:solidFill>
                <a:latin typeface="Times New Roman" panose="02020603050405020304" pitchFamily="18" charset="0"/>
                <a:cs typeface="Times New Roman" panose="02020603050405020304" pitchFamily="18" charset="0"/>
              </a:rPr>
              <a:t> </a:t>
            </a:r>
            <a:r>
              <a:rPr lang="en-US" altLang="en-US" sz="1400" b="1" dirty="0">
                <a:solidFill>
                  <a:srgbClr val="2D75B6"/>
                </a:solidFill>
                <a:latin typeface="Times New Roman" panose="02020603050405020304" pitchFamily="18" charset="0"/>
                <a:cs typeface="Times New Roman" panose="02020603050405020304" pitchFamily="18" charset="0"/>
              </a:rPr>
              <a:t>Cell</a:t>
            </a:r>
            <a:r>
              <a:rPr lang="en-US" altLang="en-US" sz="1400" dirty="0">
                <a:solidFill>
                  <a:srgbClr val="2D75B6"/>
                </a:solidFill>
                <a:latin typeface="Times New Roman" panose="02020603050405020304" pitchFamily="18" charset="0"/>
                <a:cs typeface="Times New Roman" panose="02020603050405020304" pitchFamily="18" charset="0"/>
              </a:rPr>
              <a:t> </a:t>
            </a:r>
            <a:r>
              <a:rPr lang="en-US" altLang="en-US" sz="1400" b="1" dirty="0">
                <a:solidFill>
                  <a:srgbClr val="2D75B6"/>
                </a:solidFill>
                <a:latin typeface="Times New Roman" panose="02020603050405020304" pitchFamily="18" charset="0"/>
                <a:cs typeface="Times New Roman" panose="02020603050405020304" pitchFamily="18" charset="0"/>
              </a:rPr>
              <a:t>Simulation</a:t>
            </a:r>
            <a:endParaRPr lang="en-US" altLang="en-US" sz="1400" dirty="0">
              <a:solidFill>
                <a:srgbClr val="000000"/>
              </a:solidFill>
              <a:latin typeface="Times New Roman" panose="02020603050405020304" pitchFamily="18" charset="0"/>
              <a:cs typeface="Times New Roman" panose="02020603050405020304" pitchFamily="18" charset="0"/>
            </a:endParaRPr>
          </a:p>
          <a:p>
            <a:pPr lvl="1" eaLnBrk="1" hangingPunct="1">
              <a:buClr>
                <a:srgbClr val="2D75B6"/>
              </a:buClr>
              <a:buFont typeface="Times New Roman" panose="02020603050405020304" pitchFamily="18" charset="0"/>
              <a:buAutoNum type="arabicPeriod" startAt="3"/>
            </a:pPr>
            <a:endParaRPr lang="en-US" altLang="en-US" sz="1400" dirty="0">
              <a:solidFill>
                <a:srgbClr val="000000"/>
              </a:solidFill>
              <a:latin typeface="Times New Roman" panose="02020603050405020304" pitchFamily="18" charset="0"/>
              <a:cs typeface="Times New Roman" panose="02020603050405020304" pitchFamily="18" charset="0"/>
            </a:endParaRPr>
          </a:p>
          <a:p>
            <a:pPr lvl="2" algn="just" eaLnBrk="1" hangingPunct="1">
              <a:buFontTx/>
              <a:buAutoNum type="arabicPeriod"/>
            </a:pPr>
            <a:r>
              <a:rPr lang="en-US" altLang="en-US" sz="1200" b="1" u="sng" dirty="0">
                <a:solidFill>
                  <a:srgbClr val="1F4E79"/>
                </a:solidFill>
                <a:latin typeface="Times New Roman" panose="02020603050405020304" pitchFamily="18" charset="0"/>
                <a:cs typeface="Times New Roman" panose="02020603050405020304" pitchFamily="18" charset="0"/>
              </a:rPr>
              <a:t>Verilog</a:t>
            </a:r>
            <a:r>
              <a:rPr lang="en-US" altLang="en-US" sz="1200" u="sng" dirty="0">
                <a:solidFill>
                  <a:srgbClr val="1F4E79"/>
                </a:solidFill>
                <a:latin typeface="Times New Roman" panose="02020603050405020304" pitchFamily="18" charset="0"/>
                <a:cs typeface="Times New Roman" panose="02020603050405020304" pitchFamily="18" charset="0"/>
              </a:rPr>
              <a:t> </a:t>
            </a:r>
            <a:r>
              <a:rPr lang="en-US" altLang="en-US" sz="1200" b="1" u="sng" dirty="0">
                <a:solidFill>
                  <a:srgbClr val="1F4E79"/>
                </a:solidFill>
                <a:latin typeface="Times New Roman" panose="02020603050405020304" pitchFamily="18" charset="0"/>
                <a:cs typeface="Times New Roman" panose="02020603050405020304" pitchFamily="18" charset="0"/>
              </a:rPr>
              <a:t>HDL</a:t>
            </a:r>
            <a:r>
              <a:rPr lang="en-US" altLang="en-US" sz="1200" u="sng" dirty="0">
                <a:solidFill>
                  <a:srgbClr val="1F4E79"/>
                </a:solidFill>
                <a:latin typeface="Times New Roman" panose="02020603050405020304" pitchFamily="18" charset="0"/>
                <a:cs typeface="Times New Roman" panose="02020603050405020304" pitchFamily="18" charset="0"/>
              </a:rPr>
              <a:t> </a:t>
            </a:r>
            <a:r>
              <a:rPr lang="en-US" altLang="en-US" sz="1200" b="1" u="sng" dirty="0">
                <a:solidFill>
                  <a:srgbClr val="1F4E79"/>
                </a:solidFill>
                <a:latin typeface="Times New Roman" panose="02020603050405020304" pitchFamily="18" charset="0"/>
                <a:cs typeface="Times New Roman" panose="02020603050405020304" pitchFamily="18" charset="0"/>
              </a:rPr>
              <a:t>Code</a:t>
            </a:r>
            <a:endParaRPr lang="en-US" altLang="en-US" sz="1200" dirty="0">
              <a:solidFill>
                <a:srgbClr val="000000"/>
              </a:solidFill>
              <a:latin typeface="Times New Roman" panose="02020603050405020304" pitchFamily="18" charset="0"/>
              <a:cs typeface="Times New Roman" panose="02020603050405020304" pitchFamily="18" charset="0"/>
            </a:endParaRPr>
          </a:p>
          <a:p>
            <a:pPr algn="just" eaLnBrk="1" hangingPunct="1">
              <a:lnSpc>
                <a:spcPct val="136000"/>
              </a:lnSpc>
              <a:spcBef>
                <a:spcPts val="488"/>
              </a:spcBef>
            </a:pPr>
            <a:r>
              <a:rPr lang="en-US" altLang="en-US" sz="1100" dirty="0">
                <a:solidFill>
                  <a:srgbClr val="000000"/>
                </a:solidFill>
                <a:latin typeface="Calibri" panose="020F0502020204030204" pitchFamily="34" charset="0"/>
                <a:ea typeface="Calibri" panose="020F0502020204030204" pitchFamily="34" charset="0"/>
                <a:cs typeface="Calibri" panose="020F0502020204030204" pitchFamily="34" charset="0"/>
              </a:rPr>
              <a:t>The complete Verilog HDL implementation of the DENLMS adaptive filter, including the testbench, is provided below. The code was written in data-flow modeling style and simulated using </a:t>
            </a:r>
            <a:r>
              <a:rPr lang="en-US" altLang="en-US" sz="1100" dirty="0" err="1">
                <a:solidFill>
                  <a:srgbClr val="000000"/>
                </a:solidFill>
                <a:latin typeface="Calibri" panose="020F0502020204030204" pitchFamily="34" charset="0"/>
                <a:ea typeface="Calibri" panose="020F0502020204030204" pitchFamily="34" charset="0"/>
                <a:cs typeface="Calibri" panose="020F0502020204030204" pitchFamily="34" charset="0"/>
              </a:rPr>
              <a:t>ModelSim</a:t>
            </a:r>
            <a:r>
              <a:rPr lang="en-US" altLang="en-US" sz="1100" dirty="0">
                <a:solidFill>
                  <a:srgbClr val="000000"/>
                </a:solidFill>
                <a:latin typeface="Calibri" panose="020F0502020204030204" pitchFamily="34" charset="0"/>
                <a:ea typeface="Calibri" panose="020F0502020204030204" pitchFamily="34" charset="0"/>
                <a:cs typeface="Calibri" panose="020F0502020204030204" pitchFamily="34" charset="0"/>
              </a:rPr>
              <a:t>. The design was then synthesized using Xilinx ISE targeting the </a:t>
            </a:r>
            <a:r>
              <a:rPr lang="en-US" altLang="en-US" sz="1100" dirty="0" err="1">
                <a:solidFill>
                  <a:srgbClr val="000000"/>
                </a:solidFill>
                <a:latin typeface="Calibri" panose="020F0502020204030204" pitchFamily="34" charset="0"/>
                <a:ea typeface="Calibri" panose="020F0502020204030204" pitchFamily="34" charset="0"/>
                <a:cs typeface="Calibri" panose="020F0502020204030204" pitchFamily="34" charset="0"/>
              </a:rPr>
              <a:t>Virtex</a:t>
            </a:r>
            <a:r>
              <a:rPr lang="en-US" altLang="en-US" sz="1100" dirty="0">
                <a:solidFill>
                  <a:srgbClr val="000000"/>
                </a:solidFill>
                <a:latin typeface="Calibri" panose="020F0502020204030204" pitchFamily="34" charset="0"/>
                <a:ea typeface="Calibri" panose="020F0502020204030204" pitchFamily="34" charset="0"/>
                <a:cs typeface="Calibri" panose="020F0502020204030204" pitchFamily="34" charset="0"/>
              </a:rPr>
              <a:t> 5 FPGA XC5LVX330</a:t>
            </a:r>
            <a:r>
              <a:rPr lang="en-US" altLang="en-US" sz="1200" dirty="0">
                <a:solidFill>
                  <a:srgbClr val="000000"/>
                </a:solidFill>
                <a:latin typeface="Times New Roman" panose="02020603050405020304" pitchFamily="18" charset="0"/>
                <a:cs typeface="Times New Roman" panose="02020603050405020304" pitchFamily="18" charset="0"/>
              </a:rPr>
              <a:t>.</a:t>
            </a:r>
          </a:p>
        </p:txBody>
      </p:sp>
      <p:sp>
        <p:nvSpPr>
          <p:cNvPr id="12294" name="object 6">
            <a:extLst>
              <a:ext uri="{FF2B5EF4-FFF2-40B4-BE49-F238E27FC236}">
                <a16:creationId xmlns:a16="http://schemas.microsoft.com/office/drawing/2014/main" id="{1A7892D6-2BC1-F6A7-8656-F522023C9500}"/>
              </a:ext>
            </a:extLst>
          </p:cNvPr>
          <p:cNvSpPr>
            <a:spLocks/>
          </p:cNvSpPr>
          <p:nvPr/>
        </p:nvSpPr>
        <p:spPr bwMode="auto">
          <a:xfrm>
            <a:off x="1012825" y="8736013"/>
            <a:ext cx="12700" cy="249237"/>
          </a:xfrm>
          <a:custGeom>
            <a:avLst/>
            <a:gdLst>
              <a:gd name="T0" fmla="*/ 12191 w 12700"/>
              <a:gd name="T1" fmla="*/ 0 h 248920"/>
              <a:gd name="T2" fmla="*/ 0 w 12700"/>
              <a:gd name="T3" fmla="*/ 0 h 248920"/>
              <a:gd name="T4" fmla="*/ 0 w 12700"/>
              <a:gd name="T5" fmla="*/ 248411 h 248920"/>
              <a:gd name="T6" fmla="*/ 12191 w 12700"/>
              <a:gd name="T7" fmla="*/ 248411 h 248920"/>
              <a:gd name="T8" fmla="*/ 12191 w 12700"/>
              <a:gd name="T9" fmla="*/ 0 h 248920"/>
            </a:gdLst>
            <a:ahLst/>
            <a:cxnLst>
              <a:cxn ang="0">
                <a:pos x="T0" y="T1"/>
              </a:cxn>
              <a:cxn ang="0">
                <a:pos x="T2" y="T3"/>
              </a:cxn>
              <a:cxn ang="0">
                <a:pos x="T4" y="T5"/>
              </a:cxn>
              <a:cxn ang="0">
                <a:pos x="T6" y="T7"/>
              </a:cxn>
              <a:cxn ang="0">
                <a:pos x="T8" y="T9"/>
              </a:cxn>
            </a:cxnLst>
            <a:rect l="0" t="0" r="r" b="b"/>
            <a:pathLst>
              <a:path w="12700" h="248920">
                <a:moveTo>
                  <a:pt x="12191" y="0"/>
                </a:moveTo>
                <a:lnTo>
                  <a:pt x="0" y="0"/>
                </a:lnTo>
                <a:lnTo>
                  <a:pt x="0" y="248411"/>
                </a:lnTo>
                <a:lnTo>
                  <a:pt x="12191" y="248411"/>
                </a:lnTo>
                <a:lnTo>
                  <a:pt x="12191" y="0"/>
                </a:lnTo>
                <a:close/>
              </a:path>
            </a:pathLst>
          </a:custGeom>
          <a:solidFill>
            <a:srgbClr val="2D75B6"/>
          </a:solidFill>
          <a:ln>
            <a:noFill/>
          </a:ln>
          <a:extLst>
            <a:ext uri="{91240B29-F687-4F45-9708-019B960494DF}">
              <a14:hiddenLine xmlns:a14="http://schemas.microsoft.com/office/drawing/2010/main" w="9525">
                <a:solidFill>
                  <a:srgbClr val="000000"/>
                </a:solidFill>
                <a:round/>
                <a:headEnd/>
                <a:tailEnd/>
              </a14:hiddenLine>
            </a:ext>
          </a:extLst>
        </p:spPr>
        <p:txBody>
          <a:bodyPr lIns="0" tIns="0" rIns="0" bIns="0"/>
          <a:lstStyle/>
          <a:p>
            <a:endParaRPr lang="en-IN"/>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803A8F5-F43B-643A-4167-471B4C72B24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19200" y="742950"/>
            <a:ext cx="6553200" cy="85725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9" name="object 49">
            <a:extLst>
              <a:ext uri="{FF2B5EF4-FFF2-40B4-BE49-F238E27FC236}">
                <a16:creationId xmlns:a16="http://schemas.microsoft.com/office/drawing/2014/main" id="{08CB1C5D-2C7F-2AAC-0B0E-288CDFAF40A7}"/>
              </a:ext>
            </a:extLst>
          </p:cNvPr>
          <p:cNvSpPr txBox="1"/>
          <p:nvPr/>
        </p:nvSpPr>
        <p:spPr>
          <a:xfrm>
            <a:off x="1126671" y="7467600"/>
            <a:ext cx="5740400" cy="1490473"/>
          </a:xfrm>
          <a:prstGeom prst="rect">
            <a:avLst/>
          </a:prstGeom>
        </p:spPr>
        <p:txBody>
          <a:bodyPr lIns="0" tIns="12700" rIns="0" bIns="0">
            <a:spAutoFit/>
          </a:bodyPr>
          <a:lstStyle>
            <a:lvl1pPr marL="12700">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just" eaLnBrk="1" hangingPunct="1">
              <a:spcBef>
                <a:spcPts val="100"/>
              </a:spcBef>
            </a:pPr>
            <a:r>
              <a:rPr lang="en-US" altLang="en-US" sz="1200" b="1" u="sng" dirty="0">
                <a:solidFill>
                  <a:srgbClr val="1F4E79"/>
                </a:solidFill>
                <a:latin typeface="Times New Roman" panose="02020603050405020304" pitchFamily="18" charset="0"/>
                <a:cs typeface="Times New Roman" panose="02020603050405020304" pitchFamily="18" charset="0"/>
              </a:rPr>
              <a:t>4.3.2</a:t>
            </a:r>
            <a:r>
              <a:rPr lang="en-US" altLang="en-US" sz="1200" u="sng" dirty="0">
                <a:solidFill>
                  <a:srgbClr val="1F4E79"/>
                </a:solidFill>
                <a:latin typeface="Times New Roman" panose="02020603050405020304" pitchFamily="18" charset="0"/>
                <a:cs typeface="Times New Roman" panose="02020603050405020304" pitchFamily="18" charset="0"/>
              </a:rPr>
              <a:t> </a:t>
            </a:r>
            <a:r>
              <a:rPr lang="en-US" altLang="en-US" sz="1200" b="1" u="sng" dirty="0">
                <a:solidFill>
                  <a:srgbClr val="1F4E79"/>
                </a:solidFill>
                <a:latin typeface="Times New Roman" panose="02020603050405020304" pitchFamily="18" charset="0"/>
                <a:cs typeface="Times New Roman" panose="02020603050405020304" pitchFamily="18" charset="0"/>
              </a:rPr>
              <a:t>Simulation</a:t>
            </a:r>
            <a:r>
              <a:rPr lang="en-US" altLang="en-US" sz="1200" u="sng" dirty="0">
                <a:solidFill>
                  <a:srgbClr val="1F4E79"/>
                </a:solidFill>
                <a:latin typeface="Times New Roman" panose="02020603050405020304" pitchFamily="18" charset="0"/>
                <a:cs typeface="Times New Roman" panose="02020603050405020304" pitchFamily="18" charset="0"/>
              </a:rPr>
              <a:t> </a:t>
            </a:r>
            <a:r>
              <a:rPr lang="en-US" altLang="en-US" sz="1200" b="1" u="sng" dirty="0">
                <a:solidFill>
                  <a:srgbClr val="1F4E79"/>
                </a:solidFill>
                <a:latin typeface="Times New Roman" panose="02020603050405020304" pitchFamily="18" charset="0"/>
                <a:cs typeface="Times New Roman" panose="02020603050405020304" pitchFamily="18" charset="0"/>
              </a:rPr>
              <a:t>Results</a:t>
            </a:r>
            <a:endParaRPr lang="en-US" altLang="en-US" sz="1200" dirty="0">
              <a:solidFill>
                <a:srgbClr val="000000"/>
              </a:solidFill>
              <a:latin typeface="Times New Roman" panose="02020603050405020304" pitchFamily="18" charset="0"/>
              <a:cs typeface="Times New Roman" panose="02020603050405020304" pitchFamily="18" charset="0"/>
            </a:endParaRPr>
          </a:p>
          <a:p>
            <a:pPr algn="just" eaLnBrk="1" hangingPunct="1">
              <a:lnSpc>
                <a:spcPct val="136000"/>
              </a:lnSpc>
              <a:spcBef>
                <a:spcPts val="500"/>
              </a:spcBef>
            </a:pPr>
            <a:r>
              <a:rPr lang="en-US" sz="1200" dirty="0"/>
              <a:t>The functional simulation of the DENLMS filter was carried out using </a:t>
            </a:r>
            <a:r>
              <a:rPr lang="en-US" sz="1200" dirty="0" err="1"/>
              <a:t>ModelSim</a:t>
            </a:r>
            <a:r>
              <a:rPr lang="en-US" sz="1200" dirty="0"/>
              <a:t>. A testbench with 30 input samples, representing a noisy ECG signal with varying amplitude, was applied. The desired signal corresponds to the clean ECG waveform. Table 4.2 shows the results, including filter output y(n), error signal, adaptive weights, and normalized step size at selected iterations</a:t>
            </a:r>
            <a:r>
              <a:rPr lang="en-US" sz="1100" dirty="0">
                <a:latin typeface="Calibri" panose="020F0502020204030204" pitchFamily="34" charset="0"/>
                <a:ea typeface="Calibri" panose="020F0502020204030204" pitchFamily="34" charset="0"/>
                <a:cs typeface="Calibri" panose="020F0502020204030204" pitchFamily="34" charset="0"/>
              </a:rPr>
              <a:t>..</a:t>
            </a:r>
            <a:endParaRPr lang="en-US" altLang="en-US" sz="11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3" name="TextBox 2">
            <a:extLst>
              <a:ext uri="{FF2B5EF4-FFF2-40B4-BE49-F238E27FC236}">
                <a16:creationId xmlns:a16="http://schemas.microsoft.com/office/drawing/2014/main" id="{F5AC4B44-1D84-8060-8C96-E3D513A4CA21}"/>
              </a:ext>
            </a:extLst>
          </p:cNvPr>
          <p:cNvSpPr txBox="1"/>
          <p:nvPr/>
        </p:nvSpPr>
        <p:spPr>
          <a:xfrm>
            <a:off x="1130300" y="685800"/>
            <a:ext cx="1676400" cy="261610"/>
          </a:xfrm>
          <a:prstGeom prst="rect">
            <a:avLst/>
          </a:prstGeom>
          <a:noFill/>
        </p:spPr>
        <p:txBody>
          <a:bodyPr wrap="square" rtlCol="0">
            <a:spAutoFit/>
          </a:bodyPr>
          <a:lstStyle/>
          <a:p>
            <a:pPr algn="just"/>
            <a:r>
              <a:rPr lang="en-IN" sz="1100" b="1" dirty="0">
                <a:latin typeface="Calibri" panose="020F0502020204030204" pitchFamily="34" charset="0"/>
                <a:ea typeface="Calibri" panose="020F0502020204030204" pitchFamily="34" charset="0"/>
                <a:cs typeface="Calibri" panose="020F0502020204030204" pitchFamily="34" charset="0"/>
              </a:rPr>
              <a:t>Testbench</a:t>
            </a:r>
          </a:p>
        </p:txBody>
      </p:sp>
      <p:pic>
        <p:nvPicPr>
          <p:cNvPr id="7" name="Picture 6">
            <a:extLst>
              <a:ext uri="{FF2B5EF4-FFF2-40B4-BE49-F238E27FC236}">
                <a16:creationId xmlns:a16="http://schemas.microsoft.com/office/drawing/2014/main" id="{C1082115-5863-82A1-C351-03960DA1B69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23042" y="1100327"/>
            <a:ext cx="6344558" cy="6307991"/>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object 4">
            <a:extLst>
              <a:ext uri="{FF2B5EF4-FFF2-40B4-BE49-F238E27FC236}">
                <a16:creationId xmlns:a16="http://schemas.microsoft.com/office/drawing/2014/main" id="{DDBDF98E-E2C6-8A60-087E-A1913A299566}"/>
              </a:ext>
            </a:extLst>
          </p:cNvPr>
          <p:cNvSpPr txBox="1"/>
          <p:nvPr/>
        </p:nvSpPr>
        <p:spPr>
          <a:xfrm>
            <a:off x="1015206" y="7239000"/>
            <a:ext cx="5741988" cy="1197764"/>
          </a:xfrm>
          <a:prstGeom prst="rect">
            <a:avLst/>
          </a:prstGeom>
        </p:spPr>
        <p:txBody>
          <a:bodyPr lIns="0" tIns="12700" rIns="0" bIns="0">
            <a:spAutoFit/>
          </a:bodyPr>
          <a:lstStyle>
            <a:lvl1pPr marL="12700" indent="455613">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r>
              <a:rPr lang="en-US" sz="1100" dirty="0">
                <a:latin typeface="Calibri" panose="020F0502020204030204" pitchFamily="34" charset="0"/>
                <a:ea typeface="Calibri" panose="020F0502020204030204" pitchFamily="34" charset="0"/>
                <a:cs typeface="Calibri" panose="020F0502020204030204" pitchFamily="34" charset="0"/>
              </a:rPr>
              <a:t>The simulation results confirm the correct convergence of the DENLMS adaptive filter. The error decreases from 31.97 at iteration 1 to 6.70 at iteration 30, showing effective adaptation. The filter weights gradually increase from their initial values, indicating proper coefficient updates, while the normalized step size μₑₙ decreases as expected.</a:t>
            </a:r>
          </a:p>
          <a:p>
            <a:r>
              <a:rPr lang="en-US" sz="1100" dirty="0">
                <a:latin typeface="Calibri" panose="020F0502020204030204" pitchFamily="34" charset="0"/>
                <a:ea typeface="Calibri" panose="020F0502020204030204" pitchFamily="34" charset="0"/>
                <a:cs typeface="Calibri" panose="020F0502020204030204" pitchFamily="34" charset="0"/>
              </a:rPr>
              <a:t>At the 8th iteration, the ENLMS architecture produces an error of 38,403, whereas the DENLMS filter achieves a lower error of 34,647 with 16-bit representation, confirming improved performance.</a:t>
            </a:r>
          </a:p>
        </p:txBody>
      </p:sp>
      <p:pic>
        <p:nvPicPr>
          <p:cNvPr id="11" name="Picture 10">
            <a:extLst>
              <a:ext uri="{FF2B5EF4-FFF2-40B4-BE49-F238E27FC236}">
                <a16:creationId xmlns:a16="http://schemas.microsoft.com/office/drawing/2014/main" id="{73F2A68E-E4F3-237D-F4E5-1BBD2944526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9097" y="1143000"/>
            <a:ext cx="7772400" cy="41148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object 3">
            <a:extLst>
              <a:ext uri="{FF2B5EF4-FFF2-40B4-BE49-F238E27FC236}">
                <a16:creationId xmlns:a16="http://schemas.microsoft.com/office/drawing/2014/main" id="{80ACF662-A698-F523-D4A8-D3E068AD6B51}"/>
              </a:ext>
            </a:extLst>
          </p:cNvPr>
          <p:cNvSpPr txBox="1"/>
          <p:nvPr/>
        </p:nvSpPr>
        <p:spPr>
          <a:xfrm>
            <a:off x="1111252" y="4894262"/>
            <a:ext cx="1074738" cy="269875"/>
          </a:xfrm>
          <a:prstGeom prst="rect">
            <a:avLst/>
          </a:prstGeom>
        </p:spPr>
        <p:txBody>
          <a:bodyPr lIns="0" tIns="12065" rIns="0" bIns="0">
            <a:spAutoFit/>
          </a:bodyPr>
          <a:lstStyle/>
          <a:p>
            <a:pPr marL="12700" eaLnBrk="1" fontAlgn="auto" hangingPunct="1">
              <a:spcBef>
                <a:spcPts val="95"/>
              </a:spcBef>
              <a:spcAft>
                <a:spcPts val="0"/>
              </a:spcAft>
              <a:defRPr/>
            </a:pPr>
            <a:r>
              <a:rPr sz="1600" b="1" kern="0" spc="-10" dirty="0">
                <a:solidFill>
                  <a:srgbClr val="1F4E79"/>
                </a:solidFill>
                <a:latin typeface="Times New Roman"/>
                <a:cs typeface="Times New Roman"/>
              </a:rPr>
              <a:t>APPENDIX</a:t>
            </a:r>
            <a:endParaRPr sz="1600" kern="0" dirty="0">
              <a:solidFill>
                <a:sysClr val="windowText" lastClr="000000"/>
              </a:solidFill>
              <a:latin typeface="Times New Roman"/>
              <a:cs typeface="Times New Roman"/>
            </a:endParaRPr>
          </a:p>
        </p:txBody>
      </p:sp>
      <p:sp>
        <p:nvSpPr>
          <p:cNvPr id="19460" name="object 4">
            <a:extLst>
              <a:ext uri="{FF2B5EF4-FFF2-40B4-BE49-F238E27FC236}">
                <a16:creationId xmlns:a16="http://schemas.microsoft.com/office/drawing/2014/main" id="{70FF7CAB-860C-5DC2-A364-141543C79EF9}"/>
              </a:ext>
            </a:extLst>
          </p:cNvPr>
          <p:cNvSpPr>
            <a:spLocks/>
          </p:cNvSpPr>
          <p:nvPr/>
        </p:nvSpPr>
        <p:spPr bwMode="auto">
          <a:xfrm>
            <a:off x="1111252" y="5715000"/>
            <a:ext cx="5751512" cy="6350"/>
          </a:xfrm>
          <a:custGeom>
            <a:avLst/>
            <a:gdLst>
              <a:gd name="T0" fmla="*/ 5752459 w 5752465"/>
              <a:gd name="T1" fmla="*/ 0 h 6350"/>
              <a:gd name="T2" fmla="*/ 0 w 5752465"/>
              <a:gd name="T3" fmla="*/ 0 h 6350"/>
              <a:gd name="T4" fmla="*/ 0 w 5752465"/>
              <a:gd name="T5" fmla="*/ 6095 h 6350"/>
              <a:gd name="T6" fmla="*/ 5752459 w 5752465"/>
              <a:gd name="T7" fmla="*/ 6095 h 6350"/>
              <a:gd name="T8" fmla="*/ 5752459 w 5752465"/>
              <a:gd name="T9" fmla="*/ 0 h 6350"/>
            </a:gdLst>
            <a:ahLst/>
            <a:cxnLst>
              <a:cxn ang="0">
                <a:pos x="T0" y="T1"/>
              </a:cxn>
              <a:cxn ang="0">
                <a:pos x="T2" y="T3"/>
              </a:cxn>
              <a:cxn ang="0">
                <a:pos x="T4" y="T5"/>
              </a:cxn>
              <a:cxn ang="0">
                <a:pos x="T6" y="T7"/>
              </a:cxn>
              <a:cxn ang="0">
                <a:pos x="T8" y="T9"/>
              </a:cxn>
            </a:cxnLst>
            <a:rect l="0" t="0" r="r" b="b"/>
            <a:pathLst>
              <a:path w="5752465" h="6350">
                <a:moveTo>
                  <a:pt x="5752459" y="0"/>
                </a:moveTo>
                <a:lnTo>
                  <a:pt x="0" y="0"/>
                </a:lnTo>
                <a:lnTo>
                  <a:pt x="0" y="6095"/>
                </a:lnTo>
                <a:lnTo>
                  <a:pt x="5752459" y="6095"/>
                </a:lnTo>
                <a:lnTo>
                  <a:pt x="5752459" y="0"/>
                </a:lnTo>
                <a:close/>
              </a:path>
            </a:pathLst>
          </a:custGeom>
          <a:solidFill>
            <a:srgbClr val="2D75B6"/>
          </a:solidFill>
          <a:ln>
            <a:noFill/>
          </a:ln>
          <a:extLst>
            <a:ext uri="{91240B29-F687-4F45-9708-019B960494DF}">
              <a14:hiddenLine xmlns:a14="http://schemas.microsoft.com/office/drawing/2010/main" w="9525">
                <a:solidFill>
                  <a:srgbClr val="000000"/>
                </a:solidFill>
                <a:round/>
                <a:headEnd/>
                <a:tailEnd/>
              </a14:hiddenLine>
            </a:ext>
          </a:extLst>
        </p:spPr>
        <p:txBody>
          <a:bodyPr lIns="0" tIns="0" rIns="0" bIns="0"/>
          <a:lstStyle/>
          <a:p>
            <a:endParaRPr lang="en-IN"/>
          </a:p>
        </p:txBody>
      </p:sp>
      <p:sp>
        <p:nvSpPr>
          <p:cNvPr id="5" name="object 5">
            <a:extLst>
              <a:ext uri="{FF2B5EF4-FFF2-40B4-BE49-F238E27FC236}">
                <a16:creationId xmlns:a16="http://schemas.microsoft.com/office/drawing/2014/main" id="{1D57FF3D-6F83-74F5-EE63-8288A2124EB5}"/>
              </a:ext>
            </a:extLst>
          </p:cNvPr>
          <p:cNvSpPr txBox="1"/>
          <p:nvPr/>
        </p:nvSpPr>
        <p:spPr>
          <a:xfrm>
            <a:off x="1130300" y="6004703"/>
            <a:ext cx="5741988" cy="3596497"/>
          </a:xfrm>
          <a:prstGeom prst="rect">
            <a:avLst/>
          </a:prstGeom>
        </p:spPr>
        <p:txBody>
          <a:bodyPr lIns="0" tIns="13335" rIns="0" bIns="0">
            <a:spAutoFit/>
          </a:bodyPr>
          <a:lstStyle>
            <a:lvl1pPr marL="12700" indent="455613">
              <a:tabLst>
                <a:tab pos="365125" algn="l"/>
              </a:tabLst>
              <a:defRPr>
                <a:solidFill>
                  <a:schemeClr val="tx1"/>
                </a:solidFill>
                <a:latin typeface="Arial" panose="020B0604020202020204" pitchFamily="34" charset="0"/>
              </a:defRPr>
            </a:lvl1pPr>
            <a:lvl2pPr marL="363538" indent="-352425">
              <a:tabLst>
                <a:tab pos="365125" algn="l"/>
              </a:tabLst>
              <a:defRPr>
                <a:solidFill>
                  <a:schemeClr val="tx1"/>
                </a:solidFill>
                <a:latin typeface="Arial" panose="020B0604020202020204" pitchFamily="34" charset="0"/>
              </a:defRPr>
            </a:lvl2pPr>
            <a:lvl3pPr marL="468313" indent="-228600">
              <a:tabLst>
                <a:tab pos="365125" algn="l"/>
              </a:tabLst>
              <a:defRPr>
                <a:solidFill>
                  <a:schemeClr val="tx1"/>
                </a:solidFill>
                <a:latin typeface="Arial" panose="020B0604020202020204" pitchFamily="34" charset="0"/>
              </a:defRPr>
            </a:lvl3pPr>
            <a:lvl4pPr marL="1600200" indent="-228600">
              <a:tabLst>
                <a:tab pos="365125" algn="l"/>
              </a:tabLst>
              <a:defRPr>
                <a:solidFill>
                  <a:schemeClr val="tx1"/>
                </a:solidFill>
                <a:latin typeface="Arial" panose="020B0604020202020204" pitchFamily="34" charset="0"/>
              </a:defRPr>
            </a:lvl4pPr>
            <a:lvl5pPr marL="2057400" indent="-228600">
              <a:tabLst>
                <a:tab pos="365125" algn="l"/>
              </a:tabLst>
              <a:defRPr>
                <a:solidFill>
                  <a:schemeClr val="tx1"/>
                </a:solidFill>
                <a:latin typeface="Arial" panose="020B0604020202020204" pitchFamily="34" charset="0"/>
              </a:defRPr>
            </a:lvl5pPr>
            <a:lvl6pPr marL="2514600" indent="-228600" eaLnBrk="0" fontAlgn="base" hangingPunct="0">
              <a:spcBef>
                <a:spcPct val="0"/>
              </a:spcBef>
              <a:spcAft>
                <a:spcPct val="0"/>
              </a:spcAft>
              <a:tabLst>
                <a:tab pos="365125" algn="l"/>
              </a:tabLst>
              <a:defRPr>
                <a:solidFill>
                  <a:schemeClr val="tx1"/>
                </a:solidFill>
                <a:latin typeface="Arial" panose="020B0604020202020204" pitchFamily="34" charset="0"/>
              </a:defRPr>
            </a:lvl6pPr>
            <a:lvl7pPr marL="2971800" indent="-228600" eaLnBrk="0" fontAlgn="base" hangingPunct="0">
              <a:spcBef>
                <a:spcPct val="0"/>
              </a:spcBef>
              <a:spcAft>
                <a:spcPct val="0"/>
              </a:spcAft>
              <a:tabLst>
                <a:tab pos="365125" algn="l"/>
              </a:tabLst>
              <a:defRPr>
                <a:solidFill>
                  <a:schemeClr val="tx1"/>
                </a:solidFill>
                <a:latin typeface="Arial" panose="020B0604020202020204" pitchFamily="34" charset="0"/>
              </a:defRPr>
            </a:lvl7pPr>
            <a:lvl8pPr marL="3429000" indent="-228600" eaLnBrk="0" fontAlgn="base" hangingPunct="0">
              <a:spcBef>
                <a:spcPct val="0"/>
              </a:spcBef>
              <a:spcAft>
                <a:spcPct val="0"/>
              </a:spcAft>
              <a:tabLst>
                <a:tab pos="365125" algn="l"/>
              </a:tabLst>
              <a:defRPr>
                <a:solidFill>
                  <a:schemeClr val="tx1"/>
                </a:solidFill>
                <a:latin typeface="Arial" panose="020B0604020202020204" pitchFamily="34" charset="0"/>
              </a:defRPr>
            </a:lvl8pPr>
            <a:lvl9pPr marL="3886200" indent="-228600" eaLnBrk="0" fontAlgn="base" hangingPunct="0">
              <a:spcBef>
                <a:spcPct val="0"/>
              </a:spcBef>
              <a:spcAft>
                <a:spcPct val="0"/>
              </a:spcAft>
              <a:tabLst>
                <a:tab pos="365125" algn="l"/>
              </a:tabLst>
              <a:defRPr>
                <a:solidFill>
                  <a:schemeClr val="tx1"/>
                </a:solidFill>
                <a:latin typeface="Arial" panose="020B0604020202020204" pitchFamily="34" charset="0"/>
              </a:defRPr>
            </a:lvl9pPr>
          </a:lstStyle>
          <a:p>
            <a:pPr lvl="1" algn="just" eaLnBrk="1" hangingPunct="1">
              <a:spcBef>
                <a:spcPts val="100"/>
              </a:spcBef>
              <a:buFontTx/>
              <a:buAutoNum type="arabicPeriod"/>
            </a:pPr>
            <a:r>
              <a:rPr lang="en-US" altLang="en-US" sz="1400" b="1" dirty="0">
                <a:solidFill>
                  <a:srgbClr val="2D75B6"/>
                </a:solidFill>
                <a:latin typeface="Times New Roman" panose="02020603050405020304" pitchFamily="18" charset="0"/>
                <a:cs typeface="Times New Roman" panose="02020603050405020304" pitchFamily="18" charset="0"/>
              </a:rPr>
              <a:t>Simulation</a:t>
            </a:r>
            <a:r>
              <a:rPr lang="en-US" altLang="en-US" sz="1400" dirty="0">
                <a:solidFill>
                  <a:srgbClr val="2D75B6"/>
                </a:solidFill>
                <a:latin typeface="Times New Roman" panose="02020603050405020304" pitchFamily="18" charset="0"/>
                <a:cs typeface="Times New Roman" panose="02020603050405020304" pitchFamily="18" charset="0"/>
              </a:rPr>
              <a:t> </a:t>
            </a:r>
            <a:r>
              <a:rPr lang="en-US" altLang="en-US" sz="1400" b="1" dirty="0">
                <a:solidFill>
                  <a:srgbClr val="2D75B6"/>
                </a:solidFill>
                <a:latin typeface="Times New Roman" panose="02020603050405020304" pitchFamily="18" charset="0"/>
                <a:cs typeface="Times New Roman" panose="02020603050405020304" pitchFamily="18" charset="0"/>
              </a:rPr>
              <a:t>Results</a:t>
            </a:r>
            <a:r>
              <a:rPr lang="en-US" altLang="en-US" sz="1400" dirty="0">
                <a:solidFill>
                  <a:srgbClr val="2D75B6"/>
                </a:solidFill>
                <a:latin typeface="Times New Roman" panose="02020603050405020304" pitchFamily="18" charset="0"/>
                <a:cs typeface="Times New Roman" panose="02020603050405020304" pitchFamily="18" charset="0"/>
              </a:rPr>
              <a:t> </a:t>
            </a:r>
            <a:r>
              <a:rPr lang="en-US" altLang="en-US" sz="1400" b="1" dirty="0">
                <a:solidFill>
                  <a:srgbClr val="2D75B6"/>
                </a:solidFill>
                <a:latin typeface="Times New Roman" panose="02020603050405020304" pitchFamily="18" charset="0"/>
                <a:cs typeface="Times New Roman" panose="02020603050405020304" pitchFamily="18" charset="0"/>
              </a:rPr>
              <a:t>Summary</a:t>
            </a:r>
          </a:p>
          <a:p>
            <a:pPr lvl="1" algn="just" eaLnBrk="1" hangingPunct="1">
              <a:spcBef>
                <a:spcPts val="100"/>
              </a:spcBef>
              <a:buFontTx/>
              <a:buAutoNum type="arabicPeriod"/>
            </a:pPr>
            <a:endParaRPr lang="en-US" altLang="en-US" sz="1400" dirty="0">
              <a:solidFill>
                <a:srgbClr val="000000"/>
              </a:solidFill>
              <a:latin typeface="Times New Roman" panose="02020603050405020304" pitchFamily="18" charset="0"/>
              <a:cs typeface="Times New Roman" panose="02020603050405020304" pitchFamily="18" charset="0"/>
            </a:endParaRPr>
          </a:p>
          <a:p>
            <a:r>
              <a:rPr lang="en-US" sz="1200" dirty="0"/>
              <a:t>The following summary presents the key simulation and synthesis results of the DENLMS adaptive filter, obtained using </a:t>
            </a:r>
            <a:r>
              <a:rPr lang="en-US" sz="1200" dirty="0" err="1"/>
              <a:t>ModelSim</a:t>
            </a:r>
            <a:r>
              <a:rPr lang="en-US" sz="1200" dirty="0"/>
              <a:t> and Xilinx ISE on the Virtex-5 XC5LVX330 FPGA.</a:t>
            </a:r>
          </a:p>
          <a:p>
            <a:endParaRPr lang="en-US" sz="1200" dirty="0"/>
          </a:p>
          <a:p>
            <a:r>
              <a:rPr lang="en-US" sz="1200" b="1" dirty="0"/>
              <a:t>Simulation Results:</a:t>
            </a:r>
            <a:br>
              <a:rPr lang="en-US" sz="1200" dirty="0"/>
            </a:br>
            <a:r>
              <a:rPr lang="en-US" sz="1200" dirty="0"/>
              <a:t>Functional simulation confirms correct operation. The error at the 8th iteration is </a:t>
            </a:r>
            <a:r>
              <a:rPr lang="en-US" sz="1200" b="1" dirty="0"/>
              <a:t>34,647</a:t>
            </a:r>
            <a:r>
              <a:rPr lang="en-US" sz="1200" dirty="0"/>
              <a:t>, compared to </a:t>
            </a:r>
            <a:r>
              <a:rPr lang="en-US" sz="1200" b="1" dirty="0"/>
              <a:t>38,403</a:t>
            </a:r>
            <a:r>
              <a:rPr lang="en-US" sz="1200" dirty="0"/>
              <a:t> for ENLMS. The filter weights converge steadily from the initial value.</a:t>
            </a:r>
          </a:p>
          <a:p>
            <a:endParaRPr lang="en-US" sz="1200" dirty="0"/>
          </a:p>
          <a:p>
            <a:r>
              <a:rPr lang="en-US" sz="1200" b="1" dirty="0"/>
              <a:t>Synthesis Results:</a:t>
            </a:r>
            <a:br>
              <a:rPr lang="en-US" sz="1200" dirty="0"/>
            </a:br>
            <a:r>
              <a:rPr lang="en-US" sz="1200" dirty="0"/>
              <a:t>Dynamic power = </a:t>
            </a:r>
            <a:r>
              <a:rPr lang="en-US" sz="1200" b="1" dirty="0"/>
              <a:t>42 </a:t>
            </a:r>
            <a:r>
              <a:rPr lang="en-US" sz="1200" b="1" dirty="0" err="1"/>
              <a:t>mW</a:t>
            </a:r>
            <a:r>
              <a:rPr lang="en-US" sz="1200" dirty="0"/>
              <a:t>, leakage power = </a:t>
            </a:r>
            <a:r>
              <a:rPr lang="en-US" sz="1200" b="1" dirty="0"/>
              <a:t>107 </a:t>
            </a:r>
            <a:r>
              <a:rPr lang="en-US" sz="1200" b="1" dirty="0" err="1"/>
              <a:t>μW</a:t>
            </a:r>
            <a:r>
              <a:rPr lang="en-US" sz="1200" dirty="0"/>
              <a:t>, and timing slack = </a:t>
            </a:r>
            <a:r>
              <a:rPr lang="en-US" sz="1200" b="1" dirty="0"/>
              <a:t>0.19 ns</a:t>
            </a:r>
            <a:r>
              <a:rPr lang="en-US" sz="1200" dirty="0"/>
              <a:t> (all constraints satisfied). Resource usage includes </a:t>
            </a:r>
            <a:r>
              <a:rPr lang="en-US" sz="1200" b="1" dirty="0"/>
              <a:t>8,790 LUTs</a:t>
            </a:r>
            <a:r>
              <a:rPr lang="en-US" sz="1200" dirty="0"/>
              <a:t> and </a:t>
            </a:r>
            <a:r>
              <a:rPr lang="en-US" sz="1200" b="1" dirty="0"/>
              <a:t>6,328 flip-flops</a:t>
            </a:r>
            <a:r>
              <a:rPr lang="en-US" sz="1200" dirty="0"/>
              <a:t>.</a:t>
            </a:r>
          </a:p>
          <a:p>
            <a:endParaRPr lang="en-US" sz="1200" dirty="0"/>
          </a:p>
          <a:p>
            <a:r>
              <a:rPr lang="en-US" sz="1200" b="1" dirty="0"/>
              <a:t>Performance Improvement:</a:t>
            </a:r>
            <a:br>
              <a:rPr lang="en-US" sz="1200" dirty="0"/>
            </a:br>
            <a:r>
              <a:rPr lang="en-US" sz="1200" dirty="0"/>
              <a:t>Compared to ENLMS, dynamic power is reduced by </a:t>
            </a:r>
            <a:r>
              <a:rPr lang="en-US" sz="1200" b="1" dirty="0"/>
              <a:t>43.2%</a:t>
            </a:r>
            <a:r>
              <a:rPr lang="en-US" sz="1200" dirty="0"/>
              <a:t>, leakage by </a:t>
            </a:r>
            <a:r>
              <a:rPr lang="en-US" sz="1200" b="1" dirty="0"/>
              <a:t>30.5%</a:t>
            </a:r>
            <a:r>
              <a:rPr lang="en-US" sz="1200" dirty="0"/>
              <a:t>, and timing performance improved by </a:t>
            </a:r>
            <a:r>
              <a:rPr lang="en-US" sz="1200" b="1" dirty="0"/>
              <a:t>35.24%</a:t>
            </a:r>
            <a:r>
              <a:rPr lang="en-US" sz="1200" dirty="0"/>
              <a:t>. MSE is reduced, with a small area increase (~20.4%) due to pipelining.</a:t>
            </a:r>
          </a:p>
        </p:txBody>
      </p:sp>
      <p:sp>
        <p:nvSpPr>
          <p:cNvPr id="6" name="TextBox 5">
            <a:extLst>
              <a:ext uri="{FF2B5EF4-FFF2-40B4-BE49-F238E27FC236}">
                <a16:creationId xmlns:a16="http://schemas.microsoft.com/office/drawing/2014/main" id="{81C90224-FE8D-97D4-8DF9-31201198DA2B}"/>
              </a:ext>
            </a:extLst>
          </p:cNvPr>
          <p:cNvSpPr txBox="1"/>
          <p:nvPr/>
        </p:nvSpPr>
        <p:spPr>
          <a:xfrm flipH="1">
            <a:off x="908050" y="1414844"/>
            <a:ext cx="6186488" cy="1837362"/>
          </a:xfrm>
          <a:prstGeom prst="rect">
            <a:avLst/>
          </a:prstGeom>
          <a:noFill/>
        </p:spPr>
        <p:txBody>
          <a:bodyPr wrap="square" rtlCol="0">
            <a:spAutoFit/>
          </a:bodyPr>
          <a:lstStyle/>
          <a:p>
            <a:pPr algn="just" eaLnBrk="1" hangingPunct="1">
              <a:spcBef>
                <a:spcPts val="100"/>
              </a:spcBef>
            </a:pPr>
            <a:r>
              <a:rPr lang="en-US" altLang="en-US" sz="1400" b="1" u="sng" dirty="0">
                <a:solidFill>
                  <a:srgbClr val="1F4E79"/>
                </a:solidFill>
                <a:latin typeface="Times New Roman" panose="02020603050405020304" pitchFamily="18" charset="0"/>
                <a:cs typeface="Times New Roman" panose="02020603050405020304" pitchFamily="18" charset="0"/>
              </a:rPr>
              <a:t>4.3.3</a:t>
            </a:r>
            <a:r>
              <a:rPr lang="en-US" altLang="en-US" sz="1400" u="sng" dirty="0">
                <a:solidFill>
                  <a:srgbClr val="1F4E79"/>
                </a:solidFill>
                <a:latin typeface="Times New Roman" panose="02020603050405020304" pitchFamily="18" charset="0"/>
                <a:cs typeface="Times New Roman" panose="02020603050405020304" pitchFamily="18" charset="0"/>
              </a:rPr>
              <a:t> </a:t>
            </a:r>
            <a:r>
              <a:rPr lang="en-US" altLang="en-US" sz="1400" b="1" u="sng" dirty="0">
                <a:solidFill>
                  <a:srgbClr val="1F4E79"/>
                </a:solidFill>
                <a:latin typeface="Times New Roman" panose="02020603050405020304" pitchFamily="18" charset="0"/>
                <a:cs typeface="Times New Roman" panose="02020603050405020304" pitchFamily="18" charset="0"/>
              </a:rPr>
              <a:t>FPGA</a:t>
            </a:r>
            <a:r>
              <a:rPr lang="en-US" altLang="en-US" sz="1400" u="sng" dirty="0">
                <a:solidFill>
                  <a:srgbClr val="1F4E79"/>
                </a:solidFill>
                <a:latin typeface="Times New Roman" panose="02020603050405020304" pitchFamily="18" charset="0"/>
                <a:cs typeface="Times New Roman" panose="02020603050405020304" pitchFamily="18" charset="0"/>
              </a:rPr>
              <a:t> </a:t>
            </a:r>
            <a:r>
              <a:rPr lang="en-US" altLang="en-US" sz="1400" b="1" u="sng" dirty="0">
                <a:solidFill>
                  <a:srgbClr val="1F4E79"/>
                </a:solidFill>
                <a:latin typeface="Times New Roman" panose="02020603050405020304" pitchFamily="18" charset="0"/>
                <a:cs typeface="Times New Roman" panose="02020603050405020304" pitchFamily="18" charset="0"/>
              </a:rPr>
              <a:t>Synthesis</a:t>
            </a:r>
            <a:r>
              <a:rPr lang="en-US" altLang="en-US" sz="1400" u="sng" dirty="0">
                <a:solidFill>
                  <a:srgbClr val="1F4E79"/>
                </a:solidFill>
                <a:latin typeface="Times New Roman" panose="02020603050405020304" pitchFamily="18" charset="0"/>
                <a:cs typeface="Times New Roman" panose="02020603050405020304" pitchFamily="18" charset="0"/>
              </a:rPr>
              <a:t> </a:t>
            </a:r>
            <a:r>
              <a:rPr lang="en-US" altLang="en-US" sz="1400" b="1" u="sng" dirty="0">
                <a:solidFill>
                  <a:srgbClr val="1F4E79"/>
                </a:solidFill>
                <a:latin typeface="Times New Roman" panose="02020603050405020304" pitchFamily="18" charset="0"/>
                <a:cs typeface="Times New Roman" panose="02020603050405020304" pitchFamily="18" charset="0"/>
              </a:rPr>
              <a:t>and</a:t>
            </a:r>
            <a:r>
              <a:rPr lang="en-US" altLang="en-US" sz="1400" u="sng" dirty="0">
                <a:solidFill>
                  <a:srgbClr val="1F4E79"/>
                </a:solidFill>
                <a:latin typeface="Times New Roman" panose="02020603050405020304" pitchFamily="18" charset="0"/>
                <a:cs typeface="Times New Roman" panose="02020603050405020304" pitchFamily="18" charset="0"/>
              </a:rPr>
              <a:t> </a:t>
            </a:r>
            <a:r>
              <a:rPr lang="en-US" altLang="en-US" sz="1400" b="1" u="sng" dirty="0">
                <a:solidFill>
                  <a:srgbClr val="1F4E79"/>
                </a:solidFill>
                <a:latin typeface="Times New Roman" panose="02020603050405020304" pitchFamily="18" charset="0"/>
                <a:cs typeface="Times New Roman" panose="02020603050405020304" pitchFamily="18" charset="0"/>
              </a:rPr>
              <a:t>Implementation</a:t>
            </a:r>
            <a:r>
              <a:rPr lang="en-US" altLang="en-US" sz="1400" u="sng" dirty="0">
                <a:solidFill>
                  <a:srgbClr val="1F4E79"/>
                </a:solidFill>
                <a:latin typeface="Times New Roman" panose="02020603050405020304" pitchFamily="18" charset="0"/>
                <a:cs typeface="Times New Roman" panose="02020603050405020304" pitchFamily="18" charset="0"/>
              </a:rPr>
              <a:t> </a:t>
            </a:r>
            <a:r>
              <a:rPr lang="en-US" altLang="en-US" sz="1400" b="1" u="sng" dirty="0">
                <a:solidFill>
                  <a:srgbClr val="1F4E79"/>
                </a:solidFill>
                <a:latin typeface="Times New Roman" panose="02020603050405020304" pitchFamily="18" charset="0"/>
                <a:cs typeface="Times New Roman" panose="02020603050405020304" pitchFamily="18" charset="0"/>
              </a:rPr>
              <a:t>Results</a:t>
            </a:r>
          </a:p>
          <a:p>
            <a:pPr algn="just" eaLnBrk="1" hangingPunct="1">
              <a:spcBef>
                <a:spcPts val="100"/>
              </a:spcBef>
            </a:pPr>
            <a:endParaRPr lang="en-US" altLang="en-US" dirty="0">
              <a:solidFill>
                <a:srgbClr val="000000"/>
              </a:solidFill>
              <a:latin typeface="Times New Roman" panose="02020603050405020304" pitchFamily="18" charset="0"/>
              <a:cs typeface="Times New Roman" panose="02020603050405020304" pitchFamily="18" charset="0"/>
            </a:endParaRPr>
          </a:p>
          <a:p>
            <a:pPr algn="just" eaLnBrk="1" hangingPunct="1">
              <a:lnSpc>
                <a:spcPct val="136000"/>
              </a:lnSpc>
              <a:spcBef>
                <a:spcPts val="500"/>
              </a:spcBef>
            </a:pPr>
            <a:r>
              <a:rPr lang="en-US" altLang="en-US" sz="1100" dirty="0">
                <a:solidFill>
                  <a:srgbClr val="000000"/>
                </a:solidFill>
                <a:latin typeface="Calibri" panose="020F0502020204030204" pitchFamily="34" charset="0"/>
                <a:ea typeface="Calibri" panose="020F0502020204030204" pitchFamily="34" charset="0"/>
                <a:cs typeface="Calibri" panose="020F0502020204030204" pitchFamily="34" charset="0"/>
              </a:rPr>
              <a:t>Following  successful  functional  simulation,  the  DENLMS  filter  design  was synthesized and implemented on the </a:t>
            </a:r>
            <a:r>
              <a:rPr lang="en-US" altLang="en-US" sz="1100" dirty="0" err="1">
                <a:solidFill>
                  <a:srgbClr val="000000"/>
                </a:solidFill>
                <a:latin typeface="Calibri" panose="020F0502020204030204" pitchFamily="34" charset="0"/>
                <a:ea typeface="Calibri" panose="020F0502020204030204" pitchFamily="34" charset="0"/>
                <a:cs typeface="Calibri" panose="020F0502020204030204" pitchFamily="34" charset="0"/>
              </a:rPr>
              <a:t>Virtex</a:t>
            </a:r>
            <a:r>
              <a:rPr lang="en-US" altLang="en-US" sz="1100" dirty="0">
                <a:solidFill>
                  <a:srgbClr val="000000"/>
                </a:solidFill>
                <a:latin typeface="Calibri" panose="020F0502020204030204" pitchFamily="34" charset="0"/>
                <a:ea typeface="Calibri" panose="020F0502020204030204" pitchFamily="34" charset="0"/>
                <a:cs typeface="Calibri" panose="020F0502020204030204" pitchFamily="34" charset="0"/>
              </a:rPr>
              <a:t> 5 FPGA XC5LVX330 using Xilinx ISE. presents the complete device utilization and performance comparison between the ENLMS, DNLMS, and DENLMS filter implementations</a:t>
            </a:r>
            <a:r>
              <a:rPr lang="en-US" altLang="en-US" dirty="0">
                <a:solidFill>
                  <a:srgbClr val="000000"/>
                </a:solidFill>
                <a:latin typeface="Times New Roman" panose="02020603050405020304" pitchFamily="18" charset="0"/>
                <a:cs typeface="Times New Roman" panose="02020603050405020304" pitchFamily="18" charset="0"/>
              </a:rPr>
              <a:t>.</a:t>
            </a:r>
          </a:p>
          <a:p>
            <a:endParaRPr lang="en-IN"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E0C4E47-E7A2-9D68-6F48-FA17C1A90BDF}"/>
              </a:ext>
            </a:extLst>
          </p:cNvPr>
          <p:cNvSpPr txBox="1"/>
          <p:nvPr/>
        </p:nvSpPr>
        <p:spPr>
          <a:xfrm>
            <a:off x="1181100" y="990600"/>
            <a:ext cx="5905500" cy="4170372"/>
          </a:xfrm>
          <a:prstGeom prst="rect">
            <a:avLst/>
          </a:prstGeom>
          <a:noFill/>
        </p:spPr>
        <p:txBody>
          <a:bodyPr wrap="square" lIns="91440" tIns="45720" rIns="91440" bIns="45720" rtlCol="0" anchor="t">
            <a:spAutoFit/>
          </a:bodyPr>
          <a:lstStyle/>
          <a:p>
            <a:r>
              <a:rPr lang="en-IN" sz="1400" b="1" u="sng" kern="0" spc="-10">
                <a:solidFill>
                  <a:srgbClr val="1F4E79"/>
                </a:solidFill>
                <a:latin typeface="Calibri"/>
                <a:ea typeface="Calibri"/>
                <a:cs typeface="Calibri"/>
              </a:rPr>
              <a:t>REFERENCES</a:t>
            </a:r>
            <a:endParaRPr lang="en-IN" sz="1400" u="sng" kern="0">
              <a:solidFill>
                <a:sysClr val="windowText" lastClr="000000"/>
              </a:solidFill>
              <a:latin typeface="Calibri"/>
              <a:ea typeface="Calibri"/>
              <a:cs typeface="Calibri"/>
            </a:endParaRPr>
          </a:p>
          <a:p>
            <a:endParaRPr lang="en-IN" sz="1400" b="1" dirty="0">
              <a:latin typeface="Calibri" panose="020F0502020204030204" pitchFamily="34" charset="0"/>
              <a:ea typeface="Calibri" panose="020F0502020204030204" pitchFamily="34" charset="0"/>
              <a:cs typeface="Calibri" panose="020F0502020204030204" pitchFamily="34" charset="0"/>
            </a:endParaRPr>
          </a:p>
          <a:p>
            <a:endParaRPr lang="en-IN" sz="1400" b="1" dirty="0">
              <a:latin typeface="Calibri" panose="020F0502020204030204" pitchFamily="34" charset="0"/>
              <a:ea typeface="Calibri" panose="020F0502020204030204" pitchFamily="34" charset="0"/>
              <a:cs typeface="Calibri" panose="020F0502020204030204" pitchFamily="34" charset="0"/>
            </a:endParaRPr>
          </a:p>
          <a:p>
            <a:r>
              <a:rPr lang="en-IN" sz="1100" dirty="0">
                <a:latin typeface="Calibri" panose="020F0502020204030204" pitchFamily="34" charset="0"/>
                <a:ea typeface="Calibri" panose="020F0502020204030204" pitchFamily="34" charset="0"/>
                <a:cs typeface="Calibri" panose="020F0502020204030204" pitchFamily="34" charset="0"/>
              </a:rPr>
              <a:t>[1] C. Venkatesan, P. </a:t>
            </a:r>
            <a:r>
              <a:rPr lang="en-IN" sz="1100" dirty="0" err="1">
                <a:latin typeface="Calibri" panose="020F0502020204030204" pitchFamily="34" charset="0"/>
                <a:ea typeface="Calibri" panose="020F0502020204030204" pitchFamily="34" charset="0"/>
                <a:cs typeface="Calibri" panose="020F0502020204030204" pitchFamily="34" charset="0"/>
              </a:rPr>
              <a:t>Karthigaikumar</a:t>
            </a:r>
            <a:r>
              <a:rPr lang="en-IN" sz="1100" dirty="0">
                <a:latin typeface="Calibri" panose="020F0502020204030204" pitchFamily="34" charset="0"/>
                <a:ea typeface="Calibri" panose="020F0502020204030204" pitchFamily="34" charset="0"/>
                <a:cs typeface="Calibri" panose="020F0502020204030204" pitchFamily="34" charset="0"/>
              </a:rPr>
              <a:t>, and R. Varatharajan, "FPGA implementation of modified error normalized LMS adaptive filter for ECG noise removal," Cluster Computing, vol. 22, pp. S12233–S12241, 2019. DOI: 10.1007/s10586-017-1602-0</a:t>
            </a:r>
          </a:p>
          <a:p>
            <a:r>
              <a:rPr lang="en-IN" sz="1100" dirty="0">
                <a:latin typeface="Calibri" panose="020F0502020204030204" pitchFamily="34" charset="0"/>
                <a:ea typeface="Calibri" panose="020F0502020204030204" pitchFamily="34" charset="0"/>
                <a:cs typeface="Calibri" panose="020F0502020204030204" pitchFamily="34" charset="0"/>
              </a:rPr>
              <a:t>[2] K. M. Chang and S. H. Liu, "Gaussian noise filtering from ECG by Wiener filter and ensemble empirical mode decomposition," Journal of Signal Processing Systems, vol. 64, pp. 249–264, 2011.</a:t>
            </a:r>
          </a:p>
          <a:p>
            <a:r>
              <a:rPr lang="en-IN" sz="1100" dirty="0">
                <a:latin typeface="Calibri" panose="020F0502020204030204" pitchFamily="34" charset="0"/>
                <a:ea typeface="Calibri" panose="020F0502020204030204" pitchFamily="34" charset="0"/>
                <a:cs typeface="Calibri" panose="020F0502020204030204" pitchFamily="34" charset="0"/>
              </a:rPr>
              <a:t>[3] O. Sayadi and M. B. </a:t>
            </a:r>
            <a:r>
              <a:rPr lang="en-IN" sz="1100" dirty="0" err="1">
                <a:latin typeface="Calibri" panose="020F0502020204030204" pitchFamily="34" charset="0"/>
                <a:ea typeface="Calibri" panose="020F0502020204030204" pitchFamily="34" charset="0"/>
                <a:cs typeface="Calibri" panose="020F0502020204030204" pitchFamily="34" charset="0"/>
              </a:rPr>
              <a:t>Shamsollahi</a:t>
            </a:r>
            <a:r>
              <a:rPr lang="en-IN" sz="1100" dirty="0">
                <a:latin typeface="Calibri" panose="020F0502020204030204" pitchFamily="34" charset="0"/>
                <a:ea typeface="Calibri" panose="020F0502020204030204" pitchFamily="34" charset="0"/>
                <a:cs typeface="Calibri" panose="020F0502020204030204" pitchFamily="34" charset="0"/>
              </a:rPr>
              <a:t>, "ECG denoising and compression using a modified extended Kalman filter structure," IEEE Transactions on Biomedical Engineering, vol. 55, no. 9, pp. 2240–2248, 2008.</a:t>
            </a:r>
          </a:p>
          <a:p>
            <a:r>
              <a:rPr lang="en-IN" sz="1100" dirty="0">
                <a:latin typeface="Calibri" panose="020F0502020204030204" pitchFamily="34" charset="0"/>
                <a:ea typeface="Calibri" panose="020F0502020204030204" pitchFamily="34" charset="0"/>
                <a:cs typeface="Calibri" panose="020F0502020204030204" pitchFamily="34" charset="0"/>
              </a:rPr>
              <a:t>[4] A. </a:t>
            </a:r>
            <a:r>
              <a:rPr lang="en-IN" sz="1100" dirty="0" err="1">
                <a:latin typeface="Calibri" panose="020F0502020204030204" pitchFamily="34" charset="0"/>
                <a:ea typeface="Calibri" panose="020F0502020204030204" pitchFamily="34" charset="0"/>
                <a:cs typeface="Calibri" panose="020F0502020204030204" pitchFamily="34" charset="0"/>
              </a:rPr>
              <a:t>Elhossini</a:t>
            </a:r>
            <a:r>
              <a:rPr lang="en-IN" sz="1100" dirty="0">
                <a:latin typeface="Calibri" panose="020F0502020204030204" pitchFamily="34" charset="0"/>
                <a:ea typeface="Calibri" panose="020F0502020204030204" pitchFamily="34" charset="0"/>
                <a:cs typeface="Calibri" panose="020F0502020204030204" pitchFamily="34" charset="0"/>
              </a:rPr>
              <a:t>, S. </a:t>
            </a:r>
            <a:r>
              <a:rPr lang="en-IN" sz="1100" dirty="0" err="1">
                <a:latin typeface="Calibri" panose="020F0502020204030204" pitchFamily="34" charset="0"/>
                <a:ea typeface="Calibri" panose="020F0502020204030204" pitchFamily="34" charset="0"/>
                <a:cs typeface="Calibri" panose="020F0502020204030204" pitchFamily="34" charset="0"/>
              </a:rPr>
              <a:t>Areibi</a:t>
            </a:r>
            <a:r>
              <a:rPr lang="en-IN" sz="1100" dirty="0">
                <a:latin typeface="Calibri" panose="020F0502020204030204" pitchFamily="34" charset="0"/>
                <a:ea typeface="Calibri" panose="020F0502020204030204" pitchFamily="34" charset="0"/>
                <a:cs typeface="Calibri" panose="020F0502020204030204" pitchFamily="34" charset="0"/>
              </a:rPr>
              <a:t>, and R. Dony, "An FPGA implementation of the LMS adaptive filter for audio processing," in Proc. IEEE International Conference on Reconfigurable Computing and FPGAs, pp. 1–8, 2006.</a:t>
            </a:r>
          </a:p>
          <a:p>
            <a:r>
              <a:rPr lang="en-IN" sz="1100">
                <a:latin typeface="Calibri"/>
                <a:ea typeface="Calibri"/>
                <a:cs typeface="Calibri"/>
              </a:rPr>
              <a:t>[5] L. Ting, R. Woods, and C. Cowan, "</a:t>
            </a:r>
            <a:r>
              <a:rPr lang="en-IN" sz="1100" err="1">
                <a:latin typeface="Calibri"/>
                <a:ea typeface="Calibri"/>
                <a:cs typeface="Calibri"/>
              </a:rPr>
              <a:t>Virtex</a:t>
            </a:r>
            <a:r>
              <a:rPr lang="en-IN" sz="1100">
                <a:latin typeface="Calibri"/>
                <a:ea typeface="Calibri"/>
                <a:cs typeface="Calibri"/>
              </a:rPr>
              <a:t> FPGA implementation of a pipelined adaptive LMS predictor for electronic support measures receivers," IEEE Transactions on Very </a:t>
            </a:r>
            <a:r>
              <a:rPr lang="en-IN" sz="1100" err="1">
                <a:latin typeface="Calibri"/>
                <a:ea typeface="Calibri"/>
                <a:cs typeface="Calibri"/>
              </a:rPr>
              <a:t>Large Scale</a:t>
            </a:r>
            <a:r>
              <a:rPr lang="en-IN" sz="1100">
                <a:latin typeface="Calibri"/>
                <a:ea typeface="Calibri"/>
                <a:cs typeface="Calibri"/>
              </a:rPr>
              <a:t> Integration (VLSI) Systems, vol. 13, no. 1, pp. 86–95, 2005.</a:t>
            </a:r>
          </a:p>
          <a:p>
            <a:r>
              <a:rPr lang="en-IN" sz="1100" dirty="0">
                <a:latin typeface="Calibri" panose="020F0502020204030204" pitchFamily="34" charset="0"/>
                <a:ea typeface="Calibri" panose="020F0502020204030204" pitchFamily="34" charset="0"/>
                <a:cs typeface="Calibri" panose="020F0502020204030204" pitchFamily="34" charset="0"/>
              </a:rPr>
              <a:t>[6] S. </a:t>
            </a:r>
            <a:r>
              <a:rPr lang="en-IN" sz="1100" dirty="0" err="1">
                <a:latin typeface="Calibri" panose="020F0502020204030204" pitchFamily="34" charset="0"/>
                <a:ea typeface="Calibri" panose="020F0502020204030204" pitchFamily="34" charset="0"/>
                <a:cs typeface="Calibri" panose="020F0502020204030204" pitchFamily="34" charset="0"/>
              </a:rPr>
              <a:t>Satheeskumaran</a:t>
            </a:r>
            <a:r>
              <a:rPr lang="en-IN" sz="1100" dirty="0">
                <a:latin typeface="Calibri" panose="020F0502020204030204" pitchFamily="34" charset="0"/>
                <a:ea typeface="Calibri" panose="020F0502020204030204" pitchFamily="34" charset="0"/>
                <a:cs typeface="Calibri" panose="020F0502020204030204" pitchFamily="34" charset="0"/>
              </a:rPr>
              <a:t> and M. </a:t>
            </a:r>
            <a:r>
              <a:rPr lang="en-IN" sz="1100" dirty="0" err="1">
                <a:latin typeface="Calibri" panose="020F0502020204030204" pitchFamily="34" charset="0"/>
                <a:ea typeface="Calibri" panose="020F0502020204030204" pitchFamily="34" charset="0"/>
                <a:cs typeface="Calibri" panose="020F0502020204030204" pitchFamily="34" charset="0"/>
              </a:rPr>
              <a:t>Sabrigiriraj</a:t>
            </a:r>
            <a:r>
              <a:rPr lang="en-IN" sz="1100" dirty="0">
                <a:latin typeface="Calibri" panose="020F0502020204030204" pitchFamily="34" charset="0"/>
                <a:ea typeface="Calibri" panose="020F0502020204030204" pitchFamily="34" charset="0"/>
                <a:cs typeface="Calibri" panose="020F0502020204030204" pitchFamily="34" charset="0"/>
              </a:rPr>
              <a:t>, "VLSI implementation of a new LMS based algorithm for noise removal in ECG signal," International Journal of Electronics, vol. 103, pp. 975–984, 2016.</a:t>
            </a:r>
          </a:p>
          <a:p>
            <a:r>
              <a:rPr lang="en-IN" sz="1100" dirty="0">
                <a:latin typeface="Calibri" panose="020F0502020204030204" pitchFamily="34" charset="0"/>
                <a:ea typeface="Calibri" panose="020F0502020204030204" pitchFamily="34" charset="0"/>
                <a:cs typeface="Calibri" panose="020F0502020204030204" pitchFamily="34" charset="0"/>
              </a:rPr>
              <a:t>[7] S. Mullins and C. Heneghan, "Alternative least mean square adaptive filter architectures for implementation on field programmable gate arrays," in Proc. 11th IEEE European Conference on Signal Processing, pp. 1–4, 2002.</a:t>
            </a:r>
            <a:endParaRPr lang="en-IN" sz="1100" b="1" dirty="0">
              <a:latin typeface="Calibri" panose="020F0502020204030204" pitchFamily="34" charset="0"/>
              <a:ea typeface="Calibri" panose="020F0502020204030204" pitchFamily="34" charset="0"/>
              <a:cs typeface="Calibri" panose="020F0502020204030204" pitchFamily="34" charset="0"/>
            </a:endParaRPr>
          </a:p>
          <a:p>
            <a:endParaRPr lang="en-IN" sz="1400" dirty="0">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421934577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a:extLst>
              <a:ext uri="{FF2B5EF4-FFF2-40B4-BE49-F238E27FC236}">
                <a16:creationId xmlns:a16="http://schemas.microsoft.com/office/drawing/2014/main" id="{71CA5C19-AB04-429B-94E6-7821C36A9D28}"/>
              </a:ext>
            </a:extLst>
          </p:cNvPr>
          <p:cNvSpPr txBox="1"/>
          <p:nvPr/>
        </p:nvSpPr>
        <p:spPr>
          <a:xfrm>
            <a:off x="1160780" y="577126"/>
            <a:ext cx="5740400" cy="909673"/>
          </a:xfrm>
          <a:prstGeom prst="rect">
            <a:avLst/>
          </a:prstGeom>
        </p:spPr>
        <p:txBody>
          <a:bodyPr lIns="0" tIns="13335" rIns="0" bIns="0">
            <a:spAutoFit/>
          </a:bodyPr>
          <a:lstStyle>
            <a:lvl1pPr marL="12700">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ts val="100"/>
              </a:spcBef>
            </a:pPr>
            <a:r>
              <a:rPr lang="en-US" altLang="en-US" sz="1400" b="1" dirty="0">
                <a:solidFill>
                  <a:srgbClr val="2D75B6"/>
                </a:solidFill>
                <a:latin typeface="Times New Roman" panose="02020603050405020304" pitchFamily="18" charset="0"/>
                <a:cs typeface="Times New Roman" panose="02020603050405020304" pitchFamily="18" charset="0"/>
              </a:rPr>
              <a:t>A.2</a:t>
            </a:r>
            <a:r>
              <a:rPr lang="en-US" altLang="en-US" sz="1400" dirty="0">
                <a:solidFill>
                  <a:srgbClr val="2D75B6"/>
                </a:solidFill>
                <a:latin typeface="Times New Roman" panose="02020603050405020304" pitchFamily="18" charset="0"/>
                <a:cs typeface="Times New Roman" panose="02020603050405020304" pitchFamily="18" charset="0"/>
              </a:rPr>
              <a:t> </a:t>
            </a:r>
            <a:r>
              <a:rPr lang="en-US" altLang="en-US" sz="1400" b="1" dirty="0">
                <a:solidFill>
                  <a:srgbClr val="2D75B6"/>
                </a:solidFill>
                <a:latin typeface="Times New Roman" panose="02020603050405020304" pitchFamily="18" charset="0"/>
                <a:cs typeface="Times New Roman" panose="02020603050405020304" pitchFamily="18" charset="0"/>
              </a:rPr>
              <a:t>Tools</a:t>
            </a:r>
            <a:r>
              <a:rPr lang="en-US" altLang="en-US" sz="1400" dirty="0">
                <a:solidFill>
                  <a:srgbClr val="2D75B6"/>
                </a:solidFill>
                <a:latin typeface="Times New Roman" panose="02020603050405020304" pitchFamily="18" charset="0"/>
                <a:cs typeface="Times New Roman" panose="02020603050405020304" pitchFamily="18" charset="0"/>
              </a:rPr>
              <a:t> </a:t>
            </a:r>
            <a:r>
              <a:rPr lang="en-US" altLang="en-US" sz="1400" b="1" dirty="0">
                <a:solidFill>
                  <a:srgbClr val="2D75B6"/>
                </a:solidFill>
                <a:latin typeface="Times New Roman" panose="02020603050405020304" pitchFamily="18" charset="0"/>
                <a:cs typeface="Times New Roman" panose="02020603050405020304" pitchFamily="18" charset="0"/>
              </a:rPr>
              <a:t>Used</a:t>
            </a:r>
            <a:endParaRPr lang="en-US" altLang="en-US" sz="1400" dirty="0">
              <a:solidFill>
                <a:srgbClr val="000000"/>
              </a:solidFill>
              <a:latin typeface="Times New Roman" panose="02020603050405020304" pitchFamily="18" charset="0"/>
              <a:cs typeface="Times New Roman" panose="02020603050405020304" pitchFamily="18" charset="0"/>
            </a:endParaRPr>
          </a:p>
          <a:p>
            <a:pPr eaLnBrk="1" hangingPunct="1">
              <a:lnSpc>
                <a:spcPct val="136000"/>
              </a:lnSpc>
              <a:spcBef>
                <a:spcPts val="800"/>
              </a:spcBef>
            </a:pPr>
            <a:endParaRPr lang="en-US" altLang="en-US" sz="1200" dirty="0">
              <a:solidFill>
                <a:srgbClr val="000000"/>
              </a:solidFill>
              <a:latin typeface="Times New Roman" panose="02020603050405020304" pitchFamily="18" charset="0"/>
              <a:cs typeface="Times New Roman" panose="02020603050405020304" pitchFamily="18" charset="0"/>
            </a:endParaRPr>
          </a:p>
          <a:p>
            <a:pPr eaLnBrk="1" hangingPunct="1">
              <a:lnSpc>
                <a:spcPct val="136000"/>
              </a:lnSpc>
              <a:spcBef>
                <a:spcPts val="800"/>
              </a:spcBef>
            </a:pPr>
            <a:endParaRPr lang="en-US" altLang="en-US" sz="1200" dirty="0">
              <a:solidFill>
                <a:srgbClr val="000000"/>
              </a:solidFill>
              <a:latin typeface="Times New Roman" panose="02020603050405020304" pitchFamily="18" charset="0"/>
              <a:cs typeface="Times New Roman" panose="02020603050405020304" pitchFamily="18" charset="0"/>
            </a:endParaRPr>
          </a:p>
        </p:txBody>
      </p:sp>
      <p:sp>
        <p:nvSpPr>
          <p:cNvPr id="5" name="object 5">
            <a:extLst>
              <a:ext uri="{FF2B5EF4-FFF2-40B4-BE49-F238E27FC236}">
                <a16:creationId xmlns:a16="http://schemas.microsoft.com/office/drawing/2014/main" id="{4A432666-3333-ADD6-8189-16D74FECAD76}"/>
              </a:ext>
            </a:extLst>
          </p:cNvPr>
          <p:cNvSpPr txBox="1"/>
          <p:nvPr/>
        </p:nvSpPr>
        <p:spPr>
          <a:xfrm>
            <a:off x="1133701" y="6629400"/>
            <a:ext cx="5738813" cy="1870384"/>
          </a:xfrm>
          <a:prstGeom prst="rect">
            <a:avLst/>
          </a:prstGeom>
        </p:spPr>
        <p:txBody>
          <a:bodyPr lIns="0" tIns="13335" rIns="0" bIns="0">
            <a:spAutoFit/>
          </a:bodyPr>
          <a:lstStyle>
            <a:lvl1pPr marL="12700" indent="455613">
              <a:tabLst>
                <a:tab pos="361950" algn="l"/>
              </a:tabLst>
              <a:defRPr>
                <a:solidFill>
                  <a:schemeClr val="tx1"/>
                </a:solidFill>
                <a:latin typeface="Arial" panose="020B0604020202020204" pitchFamily="34" charset="0"/>
              </a:defRPr>
            </a:lvl1pPr>
            <a:lvl2pPr marL="361950" indent="-349250">
              <a:tabLst>
                <a:tab pos="361950" algn="l"/>
              </a:tabLst>
              <a:defRPr>
                <a:solidFill>
                  <a:schemeClr val="tx1"/>
                </a:solidFill>
                <a:latin typeface="Arial" panose="020B0604020202020204" pitchFamily="34" charset="0"/>
              </a:defRPr>
            </a:lvl2pPr>
            <a:lvl3pPr marL="468313" indent="-228600">
              <a:tabLst>
                <a:tab pos="361950" algn="l"/>
              </a:tabLst>
              <a:defRPr>
                <a:solidFill>
                  <a:schemeClr val="tx1"/>
                </a:solidFill>
                <a:latin typeface="Arial" panose="020B0604020202020204" pitchFamily="34" charset="0"/>
              </a:defRPr>
            </a:lvl3pPr>
            <a:lvl4pPr marL="1600200" indent="-228600">
              <a:tabLst>
                <a:tab pos="361950" algn="l"/>
              </a:tabLst>
              <a:defRPr>
                <a:solidFill>
                  <a:schemeClr val="tx1"/>
                </a:solidFill>
                <a:latin typeface="Arial" panose="020B0604020202020204" pitchFamily="34" charset="0"/>
              </a:defRPr>
            </a:lvl4pPr>
            <a:lvl5pPr marL="2057400" indent="-228600">
              <a:tabLst>
                <a:tab pos="361950" algn="l"/>
              </a:tabLst>
              <a:defRPr>
                <a:solidFill>
                  <a:schemeClr val="tx1"/>
                </a:solidFill>
                <a:latin typeface="Arial" panose="020B0604020202020204" pitchFamily="34" charset="0"/>
              </a:defRPr>
            </a:lvl5pPr>
            <a:lvl6pPr marL="2514600" indent="-228600" eaLnBrk="0" fontAlgn="base" hangingPunct="0">
              <a:spcBef>
                <a:spcPct val="0"/>
              </a:spcBef>
              <a:spcAft>
                <a:spcPct val="0"/>
              </a:spcAft>
              <a:tabLst>
                <a:tab pos="361950" algn="l"/>
              </a:tabLst>
              <a:defRPr>
                <a:solidFill>
                  <a:schemeClr val="tx1"/>
                </a:solidFill>
                <a:latin typeface="Arial" panose="020B0604020202020204" pitchFamily="34" charset="0"/>
              </a:defRPr>
            </a:lvl6pPr>
            <a:lvl7pPr marL="2971800" indent="-228600" eaLnBrk="0" fontAlgn="base" hangingPunct="0">
              <a:spcBef>
                <a:spcPct val="0"/>
              </a:spcBef>
              <a:spcAft>
                <a:spcPct val="0"/>
              </a:spcAft>
              <a:tabLst>
                <a:tab pos="361950" algn="l"/>
              </a:tabLst>
              <a:defRPr>
                <a:solidFill>
                  <a:schemeClr val="tx1"/>
                </a:solidFill>
                <a:latin typeface="Arial" panose="020B0604020202020204" pitchFamily="34" charset="0"/>
              </a:defRPr>
            </a:lvl7pPr>
            <a:lvl8pPr marL="3429000" indent="-228600" eaLnBrk="0" fontAlgn="base" hangingPunct="0">
              <a:spcBef>
                <a:spcPct val="0"/>
              </a:spcBef>
              <a:spcAft>
                <a:spcPct val="0"/>
              </a:spcAft>
              <a:tabLst>
                <a:tab pos="361950" algn="l"/>
              </a:tabLst>
              <a:defRPr>
                <a:solidFill>
                  <a:schemeClr val="tx1"/>
                </a:solidFill>
                <a:latin typeface="Arial" panose="020B0604020202020204" pitchFamily="34" charset="0"/>
              </a:defRPr>
            </a:lvl8pPr>
            <a:lvl9pPr marL="3886200" indent="-228600" eaLnBrk="0" fontAlgn="base" hangingPunct="0">
              <a:spcBef>
                <a:spcPct val="0"/>
              </a:spcBef>
              <a:spcAft>
                <a:spcPct val="0"/>
              </a:spcAft>
              <a:tabLst>
                <a:tab pos="361950" algn="l"/>
              </a:tabLst>
              <a:defRPr>
                <a:solidFill>
                  <a:schemeClr val="tx1"/>
                </a:solidFill>
                <a:latin typeface="Arial" panose="020B0604020202020204" pitchFamily="34" charset="0"/>
              </a:defRPr>
            </a:lvl9pPr>
          </a:lstStyle>
          <a:p>
            <a:pPr lvl="1" eaLnBrk="1" hangingPunct="1">
              <a:spcBef>
                <a:spcPts val="100"/>
              </a:spcBef>
              <a:buFontTx/>
              <a:buAutoNum type="arabicPeriod" startAt="3"/>
            </a:pPr>
            <a:r>
              <a:rPr lang="en-US" altLang="en-US" sz="1400" b="1" dirty="0">
                <a:solidFill>
                  <a:srgbClr val="2D75B6"/>
                </a:solidFill>
                <a:latin typeface="Times New Roman" panose="02020603050405020304" pitchFamily="18" charset="0"/>
                <a:cs typeface="Times New Roman" panose="02020603050405020304" pitchFamily="18" charset="0"/>
              </a:rPr>
              <a:t>Additional</a:t>
            </a:r>
            <a:r>
              <a:rPr lang="en-US" altLang="en-US" sz="1400" dirty="0">
                <a:solidFill>
                  <a:srgbClr val="2D75B6"/>
                </a:solidFill>
                <a:latin typeface="Times New Roman" panose="02020603050405020304" pitchFamily="18" charset="0"/>
                <a:cs typeface="Times New Roman" panose="02020603050405020304" pitchFamily="18" charset="0"/>
              </a:rPr>
              <a:t> </a:t>
            </a:r>
            <a:r>
              <a:rPr lang="en-US" altLang="en-US" sz="1400" b="1" dirty="0">
                <a:solidFill>
                  <a:srgbClr val="2D75B6"/>
                </a:solidFill>
                <a:latin typeface="Times New Roman" panose="02020603050405020304" pitchFamily="18" charset="0"/>
                <a:cs typeface="Times New Roman" panose="02020603050405020304" pitchFamily="18" charset="0"/>
              </a:rPr>
              <a:t>Supporting</a:t>
            </a:r>
            <a:r>
              <a:rPr lang="en-US" altLang="en-US" sz="1400" dirty="0">
                <a:solidFill>
                  <a:srgbClr val="2D75B6"/>
                </a:solidFill>
                <a:latin typeface="Times New Roman" panose="02020603050405020304" pitchFamily="18" charset="0"/>
                <a:cs typeface="Times New Roman" panose="02020603050405020304" pitchFamily="18" charset="0"/>
              </a:rPr>
              <a:t> </a:t>
            </a:r>
            <a:r>
              <a:rPr lang="en-US" altLang="en-US" sz="1400" b="1" dirty="0">
                <a:solidFill>
                  <a:srgbClr val="2D75B6"/>
                </a:solidFill>
                <a:latin typeface="Times New Roman" panose="02020603050405020304" pitchFamily="18" charset="0"/>
                <a:cs typeface="Times New Roman" panose="02020603050405020304" pitchFamily="18" charset="0"/>
              </a:rPr>
              <a:t>Data</a:t>
            </a:r>
          </a:p>
          <a:p>
            <a:pPr lvl="1" eaLnBrk="1" hangingPunct="1">
              <a:spcBef>
                <a:spcPts val="100"/>
              </a:spcBef>
              <a:buFontTx/>
              <a:buAutoNum type="arabicPeriod" startAt="3"/>
            </a:pPr>
            <a:endParaRPr lang="en-US" altLang="en-US" sz="1400" b="1" dirty="0">
              <a:solidFill>
                <a:srgbClr val="2D75B6"/>
              </a:solidFill>
              <a:latin typeface="Times New Roman" panose="02020603050405020304" pitchFamily="18" charset="0"/>
              <a:cs typeface="Times New Roman" panose="02020603050405020304" pitchFamily="18" charset="0"/>
            </a:endParaRPr>
          </a:p>
          <a:p>
            <a:pPr lvl="1" eaLnBrk="1" hangingPunct="1">
              <a:spcBef>
                <a:spcPts val="100"/>
              </a:spcBef>
              <a:buFontTx/>
              <a:buAutoNum type="arabicPeriod" startAt="3"/>
            </a:pPr>
            <a:endParaRPr lang="en-US" altLang="en-US" sz="1400" dirty="0">
              <a:solidFill>
                <a:srgbClr val="000000"/>
              </a:solidFill>
              <a:latin typeface="Times New Roman" panose="02020603050405020304" pitchFamily="18" charset="0"/>
              <a:cs typeface="Times New Roman" panose="02020603050405020304" pitchFamily="18" charset="0"/>
            </a:endParaRPr>
          </a:p>
          <a:p>
            <a:r>
              <a:rPr lang="en-IN" sz="1100" b="1" dirty="0">
                <a:latin typeface="Calibri" panose="020F0502020204030204" pitchFamily="34" charset="0"/>
                <a:ea typeface="Calibri" panose="020F0502020204030204" pitchFamily="34" charset="0"/>
                <a:cs typeface="Calibri" panose="020F0502020204030204" pitchFamily="34" charset="0"/>
              </a:rPr>
              <a:t>Convergence Condition:</a:t>
            </a:r>
            <a:br>
              <a:rPr lang="en-IN" sz="1100" dirty="0">
                <a:latin typeface="Calibri" panose="020F0502020204030204" pitchFamily="34" charset="0"/>
                <a:ea typeface="Calibri" panose="020F0502020204030204" pitchFamily="34" charset="0"/>
                <a:cs typeface="Calibri" panose="020F0502020204030204" pitchFamily="34" charset="0"/>
              </a:rPr>
            </a:br>
            <a:r>
              <a:rPr lang="en-IN" sz="1100" dirty="0">
                <a:latin typeface="Calibri" panose="020F0502020204030204" pitchFamily="34" charset="0"/>
                <a:ea typeface="Calibri" panose="020F0502020204030204" pitchFamily="34" charset="0"/>
                <a:cs typeface="Calibri" panose="020F0502020204030204" pitchFamily="34" charset="0"/>
              </a:rPr>
              <a:t>The DENLMS filter is stable when the normalized step size </a:t>
            </a:r>
            <a:r>
              <a:rPr lang="el-GR" sz="1100" dirty="0">
                <a:latin typeface="Calibri" panose="020F0502020204030204" pitchFamily="34" charset="0"/>
                <a:ea typeface="Calibri" panose="020F0502020204030204" pitchFamily="34" charset="0"/>
                <a:cs typeface="Calibri" panose="020F0502020204030204" pitchFamily="34" charset="0"/>
              </a:rPr>
              <a:t>μ</a:t>
            </a:r>
            <a:r>
              <a:rPr lang="en-IN" sz="1100" dirty="0">
                <a:latin typeface="Calibri" panose="020F0502020204030204" pitchFamily="34" charset="0"/>
                <a:ea typeface="Calibri" panose="020F0502020204030204" pitchFamily="34" charset="0"/>
                <a:cs typeface="Calibri" panose="020F0502020204030204" pitchFamily="34" charset="0"/>
              </a:rPr>
              <a:t>ₑₙ lies within (0, </a:t>
            </a:r>
            <a:r>
              <a:rPr lang="el-GR" sz="1100" dirty="0">
                <a:latin typeface="Calibri" panose="020F0502020204030204" pitchFamily="34" charset="0"/>
                <a:ea typeface="Calibri" panose="020F0502020204030204" pitchFamily="34" charset="0"/>
                <a:cs typeface="Calibri" panose="020F0502020204030204" pitchFamily="34" charset="0"/>
              </a:rPr>
              <a:t>μ). </a:t>
            </a:r>
            <a:r>
              <a:rPr lang="en-IN" sz="1100" dirty="0">
                <a:latin typeface="Calibri" panose="020F0502020204030204" pitchFamily="34" charset="0"/>
                <a:ea typeface="Calibri" panose="020F0502020204030204" pitchFamily="34" charset="0"/>
                <a:cs typeface="Calibri" panose="020F0502020204030204" pitchFamily="34" charset="0"/>
              </a:rPr>
              <a:t>A small positive parameter </a:t>
            </a:r>
            <a:r>
              <a:rPr lang="en-IN" sz="1100" i="1" dirty="0">
                <a:latin typeface="Calibri" panose="020F0502020204030204" pitchFamily="34" charset="0"/>
                <a:ea typeface="Calibri" panose="020F0502020204030204" pitchFamily="34" charset="0"/>
                <a:cs typeface="Calibri" panose="020F0502020204030204" pitchFamily="34" charset="0"/>
              </a:rPr>
              <a:t>p</a:t>
            </a:r>
            <a:r>
              <a:rPr lang="en-IN" sz="1100" dirty="0">
                <a:latin typeface="Calibri" panose="020F0502020204030204" pitchFamily="34" charset="0"/>
                <a:ea typeface="Calibri" panose="020F0502020204030204" pitchFamily="34" charset="0"/>
                <a:cs typeface="Calibri" panose="020F0502020204030204" pitchFamily="34" charset="0"/>
              </a:rPr>
              <a:t> ensures stability under all conditions.</a:t>
            </a:r>
          </a:p>
          <a:p>
            <a:endParaRPr lang="en-IN" sz="1100" dirty="0">
              <a:latin typeface="Calibri" panose="020F0502020204030204" pitchFamily="34" charset="0"/>
              <a:ea typeface="Calibri" panose="020F0502020204030204" pitchFamily="34" charset="0"/>
              <a:cs typeface="Calibri" panose="020F0502020204030204" pitchFamily="34" charset="0"/>
            </a:endParaRPr>
          </a:p>
          <a:p>
            <a:r>
              <a:rPr lang="en-IN" sz="1100" b="1" dirty="0">
                <a:latin typeface="Calibri" panose="020F0502020204030204" pitchFamily="34" charset="0"/>
                <a:ea typeface="Calibri" panose="020F0502020204030204" pitchFamily="34" charset="0"/>
                <a:cs typeface="Calibri" panose="020F0502020204030204" pitchFamily="34" charset="0"/>
              </a:rPr>
              <a:t>Pipeline Stage Count:</a:t>
            </a:r>
            <a:br>
              <a:rPr lang="en-IN" sz="1100" dirty="0">
                <a:latin typeface="Calibri" panose="020F0502020204030204" pitchFamily="34" charset="0"/>
                <a:ea typeface="Calibri" panose="020F0502020204030204" pitchFamily="34" charset="0"/>
                <a:cs typeface="Calibri" panose="020F0502020204030204" pitchFamily="34" charset="0"/>
              </a:rPr>
            </a:br>
            <a:r>
              <a:rPr lang="en-IN" sz="1100" dirty="0" err="1">
                <a:latin typeface="Calibri" panose="020F0502020204030204" pitchFamily="34" charset="0"/>
                <a:ea typeface="Calibri" panose="020F0502020204030204" pitchFamily="34" charset="0"/>
                <a:cs typeface="Calibri" panose="020F0502020204030204" pitchFamily="34" charset="0"/>
              </a:rPr>
              <a:t>Dₒpt</a:t>
            </a:r>
            <a:r>
              <a:rPr lang="en-IN" sz="1100" dirty="0">
                <a:latin typeface="Calibri" panose="020F0502020204030204" pitchFamily="34" charset="0"/>
                <a:ea typeface="Calibri" panose="020F0502020204030204" pitchFamily="34" charset="0"/>
                <a:cs typeface="Calibri" panose="020F0502020204030204" pitchFamily="34" charset="0"/>
              </a:rPr>
              <a:t> = 2×log₂(16) + log₂(4) + 1 = </a:t>
            </a:r>
            <a:r>
              <a:rPr lang="en-IN" sz="1100" b="1" dirty="0">
                <a:latin typeface="Calibri" panose="020F0502020204030204" pitchFamily="34" charset="0"/>
                <a:ea typeface="Calibri" panose="020F0502020204030204" pitchFamily="34" charset="0"/>
                <a:cs typeface="Calibri" panose="020F0502020204030204" pitchFamily="34" charset="0"/>
              </a:rPr>
              <a:t>11 stages</a:t>
            </a:r>
            <a:r>
              <a:rPr lang="en-IN" sz="1100" dirty="0">
                <a:latin typeface="Calibri" panose="020F0502020204030204" pitchFamily="34" charset="0"/>
                <a:ea typeface="Calibri" panose="020F0502020204030204" pitchFamily="34" charset="0"/>
                <a:cs typeface="Calibri" panose="020F0502020204030204" pitchFamily="34" charset="0"/>
              </a:rPr>
              <a:t> for the given configuration.</a:t>
            </a:r>
          </a:p>
          <a:p>
            <a:endParaRPr lang="en-IN" sz="1100" dirty="0">
              <a:latin typeface="Calibri" panose="020F0502020204030204" pitchFamily="34" charset="0"/>
              <a:ea typeface="Calibri" panose="020F0502020204030204" pitchFamily="34" charset="0"/>
              <a:cs typeface="Calibri" panose="020F0502020204030204" pitchFamily="34" charset="0"/>
            </a:endParaRPr>
          </a:p>
        </p:txBody>
      </p:sp>
      <p:graphicFrame>
        <p:nvGraphicFramePr>
          <p:cNvPr id="6" name="Table 5">
            <a:extLst>
              <a:ext uri="{FF2B5EF4-FFF2-40B4-BE49-F238E27FC236}">
                <a16:creationId xmlns:a16="http://schemas.microsoft.com/office/drawing/2014/main" id="{3DA4B5F5-154C-2FBB-AD14-2673FD59778B}"/>
              </a:ext>
            </a:extLst>
          </p:cNvPr>
          <p:cNvGraphicFramePr>
            <a:graphicFrameLocks noGrp="1"/>
          </p:cNvGraphicFramePr>
          <p:nvPr>
            <p:extLst>
              <p:ext uri="{D42A27DB-BD31-4B8C-83A1-F6EECF244321}">
                <p14:modId xmlns:p14="http://schemas.microsoft.com/office/powerpoint/2010/main" val="1037558381"/>
              </p:ext>
            </p:extLst>
          </p:nvPr>
        </p:nvGraphicFramePr>
        <p:xfrm>
          <a:off x="901700" y="1981200"/>
          <a:ext cx="5943600" cy="3907048"/>
        </p:xfrm>
        <a:graphic>
          <a:graphicData uri="http://schemas.openxmlformats.org/drawingml/2006/table">
            <a:tbl>
              <a:tblPr>
                <a:tableStyleId>{5940675A-B579-460E-94D1-54222C63F5DA}</a:tableStyleId>
              </a:tblPr>
              <a:tblGrid>
                <a:gridCol w="1778000">
                  <a:extLst>
                    <a:ext uri="{9D8B030D-6E8A-4147-A177-3AD203B41FA5}">
                      <a16:colId xmlns:a16="http://schemas.microsoft.com/office/drawing/2014/main" val="1302036292"/>
                    </a:ext>
                  </a:extLst>
                </a:gridCol>
                <a:gridCol w="1524000">
                  <a:extLst>
                    <a:ext uri="{9D8B030D-6E8A-4147-A177-3AD203B41FA5}">
                      <a16:colId xmlns:a16="http://schemas.microsoft.com/office/drawing/2014/main" val="967331005"/>
                    </a:ext>
                  </a:extLst>
                </a:gridCol>
                <a:gridCol w="1397000">
                  <a:extLst>
                    <a:ext uri="{9D8B030D-6E8A-4147-A177-3AD203B41FA5}">
                      <a16:colId xmlns:a16="http://schemas.microsoft.com/office/drawing/2014/main" val="2018030503"/>
                    </a:ext>
                  </a:extLst>
                </a:gridCol>
                <a:gridCol w="1244600">
                  <a:extLst>
                    <a:ext uri="{9D8B030D-6E8A-4147-A177-3AD203B41FA5}">
                      <a16:colId xmlns:a16="http://schemas.microsoft.com/office/drawing/2014/main" val="1357237397"/>
                    </a:ext>
                  </a:extLst>
                </a:gridCol>
              </a:tblGrid>
              <a:tr h="320320">
                <a:tc>
                  <a:txBody>
                    <a:bodyPr/>
                    <a:lstStyle/>
                    <a:p>
                      <a:pPr>
                        <a:buNone/>
                      </a:pPr>
                      <a:r>
                        <a:rPr lang="en-IN" sz="1200" b="1" dirty="0">
                          <a:effectLst/>
                        </a:rPr>
                        <a:t>Tool</a:t>
                      </a:r>
                      <a:endParaRPr lang="en-IN" sz="1200" b="1" dirty="0">
                        <a:effectLst/>
                        <a:latin typeface="Times New Roman" panose="02020603050405020304" pitchFamily="18" charset="0"/>
                        <a:ea typeface="Times New Roman" panose="02020603050405020304" pitchFamily="18" charset="0"/>
                      </a:endParaRPr>
                    </a:p>
                  </a:txBody>
                  <a:tcPr marL="68580" marR="68580" marT="0" marB="0"/>
                </a:tc>
                <a:tc>
                  <a:txBody>
                    <a:bodyPr/>
                    <a:lstStyle/>
                    <a:p>
                      <a:pPr>
                        <a:buNone/>
                      </a:pPr>
                      <a:r>
                        <a:rPr lang="en-IN" sz="1200" b="1">
                          <a:effectLst/>
                        </a:rPr>
                        <a:t>Purpose in Project</a:t>
                      </a:r>
                      <a:endParaRPr lang="en-IN" sz="1200" b="1">
                        <a:effectLst/>
                        <a:latin typeface="Times New Roman" panose="02020603050405020304" pitchFamily="18" charset="0"/>
                        <a:ea typeface="Times New Roman" panose="02020603050405020304" pitchFamily="18" charset="0"/>
                      </a:endParaRPr>
                    </a:p>
                  </a:txBody>
                  <a:tcPr marL="68580" marR="68580" marT="0" marB="0"/>
                </a:tc>
                <a:tc>
                  <a:txBody>
                    <a:bodyPr/>
                    <a:lstStyle/>
                    <a:p>
                      <a:pPr>
                        <a:buNone/>
                      </a:pPr>
                      <a:r>
                        <a:rPr lang="en-IN" sz="1200" b="1">
                          <a:effectLst/>
                        </a:rPr>
                        <a:t>Specific Use</a:t>
                      </a:r>
                      <a:endParaRPr lang="en-IN" sz="1200" b="1">
                        <a:effectLst/>
                        <a:latin typeface="Times New Roman" panose="02020603050405020304" pitchFamily="18" charset="0"/>
                        <a:ea typeface="Times New Roman" panose="02020603050405020304" pitchFamily="18" charset="0"/>
                      </a:endParaRPr>
                    </a:p>
                  </a:txBody>
                  <a:tcPr marL="68580" marR="68580" marT="0" marB="0"/>
                </a:tc>
                <a:tc>
                  <a:txBody>
                    <a:bodyPr/>
                    <a:lstStyle/>
                    <a:p>
                      <a:pPr>
                        <a:buNone/>
                      </a:pPr>
                      <a:r>
                        <a:rPr lang="en-IN" sz="1200" b="1" dirty="0">
                          <a:effectLst/>
                        </a:rPr>
                        <a:t>License/Version</a:t>
                      </a:r>
                      <a:endParaRPr lang="en-IN" sz="1200" b="1" dirty="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3508266514"/>
                  </a:ext>
                </a:extLst>
              </a:tr>
              <a:tr h="597788">
                <a:tc>
                  <a:txBody>
                    <a:bodyPr/>
                    <a:lstStyle/>
                    <a:p>
                      <a:pPr>
                        <a:buNone/>
                      </a:pPr>
                      <a:r>
                        <a:rPr lang="en-IN" sz="1100" dirty="0" err="1">
                          <a:effectLst/>
                        </a:rPr>
                        <a:t>ModelSim</a:t>
                      </a:r>
                      <a:r>
                        <a:rPr lang="en-IN" sz="1100" dirty="0">
                          <a:effectLst/>
                        </a:rPr>
                        <a:t> (Mentor Graphics)</a:t>
                      </a:r>
                      <a:endParaRPr lang="en-IN" sz="1200" dirty="0">
                        <a:effectLst/>
                        <a:latin typeface="Times New Roman" panose="02020603050405020304" pitchFamily="18" charset="0"/>
                        <a:ea typeface="Times New Roman" panose="02020603050405020304" pitchFamily="18" charset="0"/>
                      </a:endParaRPr>
                    </a:p>
                  </a:txBody>
                  <a:tcPr marL="68580" marR="68580" marT="0" marB="0"/>
                </a:tc>
                <a:tc>
                  <a:txBody>
                    <a:bodyPr/>
                    <a:lstStyle/>
                    <a:p>
                      <a:pPr>
                        <a:buNone/>
                      </a:pPr>
                      <a:r>
                        <a:rPr lang="en-IN" sz="1100" dirty="0">
                          <a:effectLst/>
                        </a:rPr>
                        <a:t>Functional simulation of Verilog HDL</a:t>
                      </a:r>
                      <a:endParaRPr lang="en-IN" sz="1200" dirty="0">
                        <a:effectLst/>
                        <a:latin typeface="Times New Roman" panose="02020603050405020304" pitchFamily="18" charset="0"/>
                        <a:ea typeface="Times New Roman" panose="02020603050405020304" pitchFamily="18" charset="0"/>
                      </a:endParaRPr>
                    </a:p>
                  </a:txBody>
                  <a:tcPr marL="68580" marR="68580" marT="0" marB="0"/>
                </a:tc>
                <a:tc>
                  <a:txBody>
                    <a:bodyPr/>
                    <a:lstStyle/>
                    <a:p>
                      <a:pPr>
                        <a:buNone/>
                      </a:pPr>
                      <a:r>
                        <a:rPr lang="en-IN" sz="1100">
                          <a:effectLst/>
                        </a:rPr>
                        <a:t>ECG filter behavioral simulation</a:t>
                      </a:r>
                      <a:endParaRPr lang="en-IN" sz="1200">
                        <a:effectLst/>
                        <a:latin typeface="Times New Roman" panose="02020603050405020304" pitchFamily="18" charset="0"/>
                        <a:ea typeface="Times New Roman" panose="02020603050405020304" pitchFamily="18" charset="0"/>
                      </a:endParaRPr>
                    </a:p>
                  </a:txBody>
                  <a:tcPr marL="68580" marR="68580" marT="0" marB="0"/>
                </a:tc>
                <a:tc>
                  <a:txBody>
                    <a:bodyPr/>
                    <a:lstStyle/>
                    <a:p>
                      <a:pPr>
                        <a:buNone/>
                      </a:pPr>
                      <a:r>
                        <a:rPr lang="en-IN" sz="1100" dirty="0">
                          <a:effectLst/>
                        </a:rPr>
                        <a:t>Student/Academic License</a:t>
                      </a:r>
                      <a:endParaRPr lang="en-IN" sz="1200" dirty="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3800694644"/>
                  </a:ext>
                </a:extLst>
              </a:tr>
              <a:tr h="597788">
                <a:tc>
                  <a:txBody>
                    <a:bodyPr/>
                    <a:lstStyle/>
                    <a:p>
                      <a:pPr>
                        <a:buNone/>
                      </a:pPr>
                      <a:r>
                        <a:rPr lang="en-IN" sz="1100">
                          <a:effectLst/>
                        </a:rPr>
                        <a:t>Xilinx ISE Design Suite</a:t>
                      </a:r>
                      <a:endParaRPr lang="en-IN" sz="1200">
                        <a:effectLst/>
                        <a:latin typeface="Times New Roman" panose="02020603050405020304" pitchFamily="18" charset="0"/>
                        <a:ea typeface="Times New Roman" panose="02020603050405020304" pitchFamily="18" charset="0"/>
                      </a:endParaRPr>
                    </a:p>
                  </a:txBody>
                  <a:tcPr marL="68580" marR="68580" marT="0" marB="0"/>
                </a:tc>
                <a:tc>
                  <a:txBody>
                    <a:bodyPr/>
                    <a:lstStyle/>
                    <a:p>
                      <a:pPr>
                        <a:buNone/>
                      </a:pPr>
                      <a:r>
                        <a:rPr lang="en-IN" sz="1100" dirty="0">
                          <a:effectLst/>
                        </a:rPr>
                        <a:t>FPGA synthesis, P&amp;R, implementation</a:t>
                      </a:r>
                      <a:endParaRPr lang="en-IN" sz="1200" dirty="0">
                        <a:effectLst/>
                        <a:latin typeface="Times New Roman" panose="02020603050405020304" pitchFamily="18" charset="0"/>
                        <a:ea typeface="Times New Roman" panose="02020603050405020304" pitchFamily="18" charset="0"/>
                      </a:endParaRPr>
                    </a:p>
                  </a:txBody>
                  <a:tcPr marL="68580" marR="68580" marT="0" marB="0"/>
                </a:tc>
                <a:tc>
                  <a:txBody>
                    <a:bodyPr/>
                    <a:lstStyle/>
                    <a:p>
                      <a:pPr>
                        <a:buNone/>
                      </a:pPr>
                      <a:r>
                        <a:rPr lang="en-IN" sz="1100">
                          <a:effectLst/>
                        </a:rPr>
                        <a:t>Virtex 5 FPGA targeting</a:t>
                      </a:r>
                      <a:endParaRPr lang="en-IN" sz="1200">
                        <a:effectLst/>
                        <a:latin typeface="Times New Roman" panose="02020603050405020304" pitchFamily="18" charset="0"/>
                        <a:ea typeface="Times New Roman" panose="02020603050405020304" pitchFamily="18" charset="0"/>
                      </a:endParaRPr>
                    </a:p>
                  </a:txBody>
                  <a:tcPr marL="68580" marR="68580" marT="0" marB="0"/>
                </a:tc>
                <a:tc>
                  <a:txBody>
                    <a:bodyPr/>
                    <a:lstStyle/>
                    <a:p>
                      <a:pPr>
                        <a:buNone/>
                      </a:pPr>
                      <a:r>
                        <a:rPr lang="en-IN" sz="1100">
                          <a:effectLst/>
                        </a:rPr>
                        <a:t>Free WebPACK Edition</a:t>
                      </a:r>
                      <a:endParaRPr lang="en-IN" sz="120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4242186107"/>
                  </a:ext>
                </a:extLst>
              </a:tr>
              <a:tr h="597788">
                <a:tc>
                  <a:txBody>
                    <a:bodyPr/>
                    <a:lstStyle/>
                    <a:p>
                      <a:pPr>
                        <a:buNone/>
                      </a:pPr>
                      <a:r>
                        <a:rPr lang="en-IN" sz="1100">
                          <a:effectLst/>
                        </a:rPr>
                        <a:t>Xilinx Synthesis Tool (XST)</a:t>
                      </a:r>
                      <a:endParaRPr lang="en-IN" sz="1200">
                        <a:effectLst/>
                        <a:latin typeface="Times New Roman" panose="02020603050405020304" pitchFamily="18" charset="0"/>
                        <a:ea typeface="Times New Roman" panose="02020603050405020304" pitchFamily="18" charset="0"/>
                      </a:endParaRPr>
                    </a:p>
                  </a:txBody>
                  <a:tcPr marL="68580" marR="68580" marT="0" marB="0"/>
                </a:tc>
                <a:tc>
                  <a:txBody>
                    <a:bodyPr/>
                    <a:lstStyle/>
                    <a:p>
                      <a:pPr>
                        <a:buNone/>
                      </a:pPr>
                      <a:r>
                        <a:rPr lang="en-IN" sz="1100">
                          <a:effectLst/>
                        </a:rPr>
                        <a:t>RTL to gate-level netlist conversion</a:t>
                      </a:r>
                      <a:endParaRPr lang="en-IN" sz="1200">
                        <a:effectLst/>
                        <a:latin typeface="Times New Roman" panose="02020603050405020304" pitchFamily="18" charset="0"/>
                        <a:ea typeface="Times New Roman" panose="02020603050405020304" pitchFamily="18" charset="0"/>
                      </a:endParaRPr>
                    </a:p>
                  </a:txBody>
                  <a:tcPr marL="68580" marR="68580" marT="0" marB="0"/>
                </a:tc>
                <a:tc>
                  <a:txBody>
                    <a:bodyPr/>
                    <a:lstStyle/>
                    <a:p>
                      <a:pPr>
                        <a:buNone/>
                      </a:pPr>
                      <a:r>
                        <a:rPr lang="en-IN" sz="1100">
                          <a:effectLst/>
                        </a:rPr>
                        <a:t>RTL schematic generation</a:t>
                      </a:r>
                      <a:endParaRPr lang="en-IN" sz="1200">
                        <a:effectLst/>
                        <a:latin typeface="Times New Roman" panose="02020603050405020304" pitchFamily="18" charset="0"/>
                        <a:ea typeface="Times New Roman" panose="02020603050405020304" pitchFamily="18" charset="0"/>
                      </a:endParaRPr>
                    </a:p>
                  </a:txBody>
                  <a:tcPr marL="68580" marR="68580" marT="0" marB="0"/>
                </a:tc>
                <a:tc>
                  <a:txBody>
                    <a:bodyPr/>
                    <a:lstStyle/>
                    <a:p>
                      <a:pPr>
                        <a:buNone/>
                      </a:pPr>
                      <a:r>
                        <a:rPr lang="en-IN" sz="1100">
                          <a:effectLst/>
                        </a:rPr>
                        <a:t>Included in Xilinx ISE</a:t>
                      </a:r>
                      <a:endParaRPr lang="en-IN" sz="120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746605874"/>
                  </a:ext>
                </a:extLst>
              </a:tr>
              <a:tr h="597788">
                <a:tc>
                  <a:txBody>
                    <a:bodyPr/>
                    <a:lstStyle/>
                    <a:p>
                      <a:pPr>
                        <a:buNone/>
                      </a:pPr>
                      <a:r>
                        <a:rPr lang="en-IN" sz="1100">
                          <a:effectLst/>
                        </a:rPr>
                        <a:t>Virtex 5 FPGA XC5LVX330</a:t>
                      </a:r>
                      <a:endParaRPr lang="en-IN" sz="1200">
                        <a:effectLst/>
                        <a:latin typeface="Times New Roman" panose="02020603050405020304" pitchFamily="18" charset="0"/>
                        <a:ea typeface="Times New Roman" panose="02020603050405020304" pitchFamily="18" charset="0"/>
                      </a:endParaRPr>
                    </a:p>
                  </a:txBody>
                  <a:tcPr marL="68580" marR="68580" marT="0" marB="0"/>
                </a:tc>
                <a:tc>
                  <a:txBody>
                    <a:bodyPr/>
                    <a:lstStyle/>
                    <a:p>
                      <a:pPr>
                        <a:buNone/>
                      </a:pPr>
                      <a:r>
                        <a:rPr lang="en-IN" sz="1100">
                          <a:effectLst/>
                        </a:rPr>
                        <a:t>Target FPGA chip for implementation</a:t>
                      </a:r>
                      <a:endParaRPr lang="en-IN" sz="1200">
                        <a:effectLst/>
                        <a:latin typeface="Times New Roman" panose="02020603050405020304" pitchFamily="18" charset="0"/>
                        <a:ea typeface="Times New Roman" panose="02020603050405020304" pitchFamily="18" charset="0"/>
                      </a:endParaRPr>
                    </a:p>
                  </a:txBody>
                  <a:tcPr marL="68580" marR="68580" marT="0" marB="0"/>
                </a:tc>
                <a:tc>
                  <a:txBody>
                    <a:bodyPr/>
                    <a:lstStyle/>
                    <a:p>
                      <a:pPr>
                        <a:buNone/>
                      </a:pPr>
                      <a:r>
                        <a:rPr lang="en-IN" sz="1100">
                          <a:effectLst/>
                        </a:rPr>
                        <a:t>Logic, timing, power analysis</a:t>
                      </a:r>
                      <a:endParaRPr lang="en-IN" sz="1200">
                        <a:effectLst/>
                        <a:latin typeface="Times New Roman" panose="02020603050405020304" pitchFamily="18" charset="0"/>
                        <a:ea typeface="Times New Roman" panose="02020603050405020304" pitchFamily="18" charset="0"/>
                      </a:endParaRPr>
                    </a:p>
                  </a:txBody>
                  <a:tcPr marL="68580" marR="68580" marT="0" marB="0"/>
                </a:tc>
                <a:tc>
                  <a:txBody>
                    <a:bodyPr/>
                    <a:lstStyle/>
                    <a:p>
                      <a:pPr>
                        <a:buNone/>
                      </a:pPr>
                      <a:r>
                        <a:rPr lang="en-IN" sz="1100">
                          <a:effectLst/>
                        </a:rPr>
                        <a:t>Physical hardware target</a:t>
                      </a:r>
                      <a:endParaRPr lang="en-IN" sz="120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2268687794"/>
                  </a:ext>
                </a:extLst>
              </a:tr>
              <a:tr h="597788">
                <a:tc>
                  <a:txBody>
                    <a:bodyPr/>
                    <a:lstStyle/>
                    <a:p>
                      <a:pPr>
                        <a:buNone/>
                      </a:pPr>
                      <a:r>
                        <a:rPr lang="en-IN" sz="1100">
                          <a:effectLst/>
                        </a:rPr>
                        <a:t>Microsoft Visio</a:t>
                      </a:r>
                      <a:endParaRPr lang="en-IN" sz="1200">
                        <a:effectLst/>
                        <a:latin typeface="Times New Roman" panose="02020603050405020304" pitchFamily="18" charset="0"/>
                        <a:ea typeface="Times New Roman" panose="02020603050405020304" pitchFamily="18" charset="0"/>
                      </a:endParaRPr>
                    </a:p>
                  </a:txBody>
                  <a:tcPr marL="68580" marR="68580" marT="0" marB="0"/>
                </a:tc>
                <a:tc>
                  <a:txBody>
                    <a:bodyPr/>
                    <a:lstStyle/>
                    <a:p>
                      <a:pPr>
                        <a:buNone/>
                      </a:pPr>
                      <a:r>
                        <a:rPr lang="en-IN" sz="1100">
                          <a:effectLst/>
                        </a:rPr>
                        <a:t>Block &amp; architecture diagram creation</a:t>
                      </a:r>
                      <a:endParaRPr lang="en-IN" sz="1200">
                        <a:effectLst/>
                        <a:latin typeface="Times New Roman" panose="02020603050405020304" pitchFamily="18" charset="0"/>
                        <a:ea typeface="Times New Roman" panose="02020603050405020304" pitchFamily="18" charset="0"/>
                      </a:endParaRPr>
                    </a:p>
                  </a:txBody>
                  <a:tcPr marL="68580" marR="68580" marT="0" marB="0"/>
                </a:tc>
                <a:tc>
                  <a:txBody>
                    <a:bodyPr/>
                    <a:lstStyle/>
                    <a:p>
                      <a:pPr>
                        <a:buNone/>
                      </a:pPr>
                      <a:r>
                        <a:rPr lang="en-IN" sz="1100">
                          <a:effectLst/>
                        </a:rPr>
                        <a:t>Block diagram, architecture figure</a:t>
                      </a:r>
                      <a:endParaRPr lang="en-IN" sz="1200">
                        <a:effectLst/>
                        <a:latin typeface="Times New Roman" panose="02020603050405020304" pitchFamily="18" charset="0"/>
                        <a:ea typeface="Times New Roman" panose="02020603050405020304" pitchFamily="18" charset="0"/>
                      </a:endParaRPr>
                    </a:p>
                  </a:txBody>
                  <a:tcPr marL="68580" marR="68580" marT="0" marB="0"/>
                </a:tc>
                <a:tc>
                  <a:txBody>
                    <a:bodyPr/>
                    <a:lstStyle/>
                    <a:p>
                      <a:pPr>
                        <a:buNone/>
                      </a:pPr>
                      <a:r>
                        <a:rPr lang="en-IN" sz="1100">
                          <a:effectLst/>
                        </a:rPr>
                        <a:t>Office 365 / Standalone</a:t>
                      </a:r>
                      <a:endParaRPr lang="en-IN" sz="120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2701847625"/>
                  </a:ext>
                </a:extLst>
              </a:tr>
              <a:tr h="597788">
                <a:tc>
                  <a:txBody>
                    <a:bodyPr/>
                    <a:lstStyle/>
                    <a:p>
                      <a:pPr>
                        <a:buNone/>
                      </a:pPr>
                      <a:r>
                        <a:rPr lang="en-IN" sz="1100">
                          <a:effectLst/>
                        </a:rPr>
                        <a:t>Verilog HDL</a:t>
                      </a:r>
                      <a:endParaRPr lang="en-IN" sz="1200">
                        <a:effectLst/>
                        <a:latin typeface="Times New Roman" panose="02020603050405020304" pitchFamily="18" charset="0"/>
                        <a:ea typeface="Times New Roman" panose="02020603050405020304" pitchFamily="18" charset="0"/>
                      </a:endParaRPr>
                    </a:p>
                  </a:txBody>
                  <a:tcPr marL="68580" marR="68580" marT="0" marB="0"/>
                </a:tc>
                <a:tc>
                  <a:txBody>
                    <a:bodyPr/>
                    <a:lstStyle/>
                    <a:p>
                      <a:pPr>
                        <a:buNone/>
                      </a:pPr>
                      <a:r>
                        <a:rPr lang="en-IN" sz="1100">
                          <a:effectLst/>
                        </a:rPr>
                        <a:t>Hardware description language</a:t>
                      </a:r>
                      <a:endParaRPr lang="en-IN" sz="1200">
                        <a:effectLst/>
                        <a:latin typeface="Times New Roman" panose="02020603050405020304" pitchFamily="18" charset="0"/>
                        <a:ea typeface="Times New Roman" panose="02020603050405020304" pitchFamily="18" charset="0"/>
                      </a:endParaRPr>
                    </a:p>
                  </a:txBody>
                  <a:tcPr marL="68580" marR="68580" marT="0" marB="0"/>
                </a:tc>
                <a:tc>
                  <a:txBody>
                    <a:bodyPr/>
                    <a:lstStyle/>
                    <a:p>
                      <a:pPr>
                        <a:buNone/>
                      </a:pPr>
                      <a:r>
                        <a:rPr lang="en-IN" sz="1100">
                          <a:effectLst/>
                        </a:rPr>
                        <a:t>DENLMS filter coding</a:t>
                      </a:r>
                      <a:endParaRPr lang="en-IN" sz="1200">
                        <a:effectLst/>
                        <a:latin typeface="Times New Roman" panose="02020603050405020304" pitchFamily="18" charset="0"/>
                        <a:ea typeface="Times New Roman" panose="02020603050405020304" pitchFamily="18" charset="0"/>
                      </a:endParaRPr>
                    </a:p>
                  </a:txBody>
                  <a:tcPr marL="68580" marR="68580" marT="0" marB="0"/>
                </a:tc>
                <a:tc>
                  <a:txBody>
                    <a:bodyPr/>
                    <a:lstStyle/>
                    <a:p>
                      <a:pPr>
                        <a:buNone/>
                      </a:pPr>
                      <a:r>
                        <a:rPr lang="en-IN" sz="1100" dirty="0">
                          <a:effectLst/>
                        </a:rPr>
                        <a:t>IEEE 1364-2005 standard</a:t>
                      </a:r>
                      <a:endParaRPr lang="en-IN" sz="1200" dirty="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2861414838"/>
                  </a:ext>
                </a:extLst>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a:extLst>
              <a:ext uri="{FF2B5EF4-FFF2-40B4-BE49-F238E27FC236}">
                <a16:creationId xmlns:a16="http://schemas.microsoft.com/office/drawing/2014/main" id="{0628D418-F2D7-5E86-46FC-1FB600B9FB1E}"/>
              </a:ext>
            </a:extLst>
          </p:cNvPr>
          <p:cNvSpPr txBox="1"/>
          <p:nvPr/>
        </p:nvSpPr>
        <p:spPr>
          <a:xfrm>
            <a:off x="1358900" y="841375"/>
            <a:ext cx="5449888" cy="1356140"/>
          </a:xfrm>
          <a:prstGeom prst="rect">
            <a:avLst/>
          </a:prstGeom>
        </p:spPr>
        <p:txBody>
          <a:bodyPr lIns="0" tIns="62865" rIns="0" bIns="0">
            <a:spAutoFit/>
          </a:bodyPr>
          <a:lstStyle>
            <a:lvl1pPr marL="241300" indent="-228600">
              <a:tabLst>
                <a:tab pos="239713" algn="l"/>
                <a:tab pos="241300" algn="l"/>
              </a:tabLst>
              <a:defRPr>
                <a:solidFill>
                  <a:schemeClr val="tx1"/>
                </a:solidFill>
                <a:latin typeface="Arial" panose="020B0604020202020204" pitchFamily="34" charset="0"/>
              </a:defRPr>
            </a:lvl1pPr>
            <a:lvl2pPr marL="742950" indent="-285750">
              <a:tabLst>
                <a:tab pos="239713" algn="l"/>
                <a:tab pos="241300" algn="l"/>
              </a:tabLst>
              <a:defRPr>
                <a:solidFill>
                  <a:schemeClr val="tx1"/>
                </a:solidFill>
                <a:latin typeface="Arial" panose="020B0604020202020204" pitchFamily="34" charset="0"/>
              </a:defRPr>
            </a:lvl2pPr>
            <a:lvl3pPr marL="1143000" indent="-228600">
              <a:tabLst>
                <a:tab pos="239713" algn="l"/>
                <a:tab pos="241300" algn="l"/>
              </a:tabLst>
              <a:defRPr>
                <a:solidFill>
                  <a:schemeClr val="tx1"/>
                </a:solidFill>
                <a:latin typeface="Arial" panose="020B0604020202020204" pitchFamily="34" charset="0"/>
              </a:defRPr>
            </a:lvl3pPr>
            <a:lvl4pPr marL="1600200" indent="-228600">
              <a:tabLst>
                <a:tab pos="239713" algn="l"/>
                <a:tab pos="241300" algn="l"/>
              </a:tabLst>
              <a:defRPr>
                <a:solidFill>
                  <a:schemeClr val="tx1"/>
                </a:solidFill>
                <a:latin typeface="Arial" panose="020B0604020202020204" pitchFamily="34" charset="0"/>
              </a:defRPr>
            </a:lvl4pPr>
            <a:lvl5pPr marL="2057400" indent="-228600">
              <a:tabLst>
                <a:tab pos="239713" algn="l"/>
                <a:tab pos="241300" algn="l"/>
              </a:tabLst>
              <a:defRPr>
                <a:solidFill>
                  <a:schemeClr val="tx1"/>
                </a:solidFill>
                <a:latin typeface="Arial" panose="020B0604020202020204" pitchFamily="34" charset="0"/>
              </a:defRPr>
            </a:lvl5pPr>
            <a:lvl6pPr marL="2514600" indent="-228600" eaLnBrk="0" fontAlgn="base" hangingPunct="0">
              <a:spcBef>
                <a:spcPct val="0"/>
              </a:spcBef>
              <a:spcAft>
                <a:spcPct val="0"/>
              </a:spcAft>
              <a:tabLst>
                <a:tab pos="239713" algn="l"/>
                <a:tab pos="241300" algn="l"/>
              </a:tabLst>
              <a:defRPr>
                <a:solidFill>
                  <a:schemeClr val="tx1"/>
                </a:solidFill>
                <a:latin typeface="Arial" panose="020B0604020202020204" pitchFamily="34" charset="0"/>
              </a:defRPr>
            </a:lvl6pPr>
            <a:lvl7pPr marL="2971800" indent="-228600" eaLnBrk="0" fontAlgn="base" hangingPunct="0">
              <a:spcBef>
                <a:spcPct val="0"/>
              </a:spcBef>
              <a:spcAft>
                <a:spcPct val="0"/>
              </a:spcAft>
              <a:tabLst>
                <a:tab pos="239713" algn="l"/>
                <a:tab pos="241300" algn="l"/>
              </a:tabLst>
              <a:defRPr>
                <a:solidFill>
                  <a:schemeClr val="tx1"/>
                </a:solidFill>
                <a:latin typeface="Arial" panose="020B0604020202020204" pitchFamily="34" charset="0"/>
              </a:defRPr>
            </a:lvl7pPr>
            <a:lvl8pPr marL="3429000" indent="-228600" eaLnBrk="0" fontAlgn="base" hangingPunct="0">
              <a:spcBef>
                <a:spcPct val="0"/>
              </a:spcBef>
              <a:spcAft>
                <a:spcPct val="0"/>
              </a:spcAft>
              <a:tabLst>
                <a:tab pos="239713" algn="l"/>
                <a:tab pos="241300" algn="l"/>
              </a:tabLst>
              <a:defRPr>
                <a:solidFill>
                  <a:schemeClr val="tx1"/>
                </a:solidFill>
                <a:latin typeface="Arial" panose="020B0604020202020204" pitchFamily="34" charset="0"/>
              </a:defRPr>
            </a:lvl8pPr>
            <a:lvl9pPr marL="3886200" indent="-228600" eaLnBrk="0" fontAlgn="base" hangingPunct="0">
              <a:spcBef>
                <a:spcPct val="0"/>
              </a:spcBef>
              <a:spcAft>
                <a:spcPct val="0"/>
              </a:spcAft>
              <a:tabLst>
                <a:tab pos="239713" algn="l"/>
                <a:tab pos="241300" algn="l"/>
              </a:tabLst>
              <a:defRPr>
                <a:solidFill>
                  <a:schemeClr val="tx1"/>
                </a:solidFill>
                <a:latin typeface="Arial" panose="020B0604020202020204" pitchFamily="34" charset="0"/>
              </a:defRPr>
            </a:lvl9pPr>
          </a:lstStyle>
          <a:p>
            <a:r>
              <a:rPr lang="en-IN" sz="1200" b="1" dirty="0">
                <a:latin typeface="Calibri" panose="020F0502020204030204" pitchFamily="34" charset="0"/>
                <a:ea typeface="Calibri" panose="020F0502020204030204" pitchFamily="34" charset="0"/>
                <a:cs typeface="Calibri" panose="020F0502020204030204" pitchFamily="34" charset="0"/>
              </a:rPr>
              <a:t>Target Device:</a:t>
            </a:r>
            <a:br>
              <a:rPr lang="en-IN" sz="1200" dirty="0">
                <a:latin typeface="Calibri" panose="020F0502020204030204" pitchFamily="34" charset="0"/>
                <a:ea typeface="Calibri" panose="020F0502020204030204" pitchFamily="34" charset="0"/>
                <a:cs typeface="Calibri" panose="020F0502020204030204" pitchFamily="34" charset="0"/>
              </a:rPr>
            </a:br>
            <a:r>
              <a:rPr lang="en-IN" sz="1200" dirty="0">
                <a:latin typeface="Calibri" panose="020F0502020204030204" pitchFamily="34" charset="0"/>
                <a:ea typeface="Calibri" panose="020F0502020204030204" pitchFamily="34" charset="0"/>
                <a:cs typeface="Calibri" panose="020F0502020204030204" pitchFamily="34" charset="0"/>
              </a:rPr>
              <a:t>Virtex-5 XC5LVX330 FPGA with high logic capacity, DSP slices, and support for high-frequency operation (&gt;500 MHz).</a:t>
            </a:r>
          </a:p>
          <a:p>
            <a:endParaRPr lang="en-IN" sz="1200" dirty="0">
              <a:latin typeface="Calibri" panose="020F0502020204030204" pitchFamily="34" charset="0"/>
              <a:ea typeface="Calibri" panose="020F0502020204030204" pitchFamily="34" charset="0"/>
              <a:cs typeface="Calibri" panose="020F0502020204030204" pitchFamily="34" charset="0"/>
            </a:endParaRPr>
          </a:p>
          <a:p>
            <a:r>
              <a:rPr lang="en-IN" sz="1200" b="1" dirty="0">
                <a:latin typeface="Calibri" panose="020F0502020204030204" pitchFamily="34" charset="0"/>
                <a:ea typeface="Calibri" panose="020F0502020204030204" pitchFamily="34" charset="0"/>
                <a:cs typeface="Calibri" panose="020F0502020204030204" pitchFamily="34" charset="0"/>
              </a:rPr>
              <a:t>Step Size Bound:</a:t>
            </a:r>
            <a:br>
              <a:rPr lang="en-IN" sz="1200" dirty="0">
                <a:latin typeface="Calibri" panose="020F0502020204030204" pitchFamily="34" charset="0"/>
                <a:ea typeface="Calibri" panose="020F0502020204030204" pitchFamily="34" charset="0"/>
                <a:cs typeface="Calibri" panose="020F0502020204030204" pitchFamily="34" charset="0"/>
              </a:rPr>
            </a:br>
            <a:r>
              <a:rPr lang="en-IN" sz="1200" dirty="0">
                <a:latin typeface="Calibri" panose="020F0502020204030204" pitchFamily="34" charset="0"/>
                <a:ea typeface="Calibri" panose="020F0502020204030204" pitchFamily="34" charset="0"/>
                <a:cs typeface="Calibri" panose="020F0502020204030204" pitchFamily="34" charset="0"/>
              </a:rPr>
              <a:t>0 &lt; </a:t>
            </a:r>
            <a:r>
              <a:rPr lang="el-GR" sz="1200" dirty="0">
                <a:latin typeface="Calibri" panose="020F0502020204030204" pitchFamily="34" charset="0"/>
                <a:ea typeface="Calibri" panose="020F0502020204030204" pitchFamily="34" charset="0"/>
                <a:cs typeface="Calibri" panose="020F0502020204030204" pitchFamily="34" charset="0"/>
              </a:rPr>
              <a:t>μ &lt; 2 / [(</a:t>
            </a:r>
            <a:r>
              <a:rPr lang="en-IN" sz="1200" dirty="0">
                <a:latin typeface="Calibri" panose="020F0502020204030204" pitchFamily="34" charset="0"/>
                <a:ea typeface="Calibri" panose="020F0502020204030204" pitchFamily="34" charset="0"/>
                <a:cs typeface="Calibri" panose="020F0502020204030204" pitchFamily="34" charset="0"/>
              </a:rPr>
              <a:t>N − 2k − 2) × P_TI].</a:t>
            </a:r>
            <a:br>
              <a:rPr lang="en-IN" sz="1200" dirty="0">
                <a:latin typeface="Calibri" panose="020F0502020204030204" pitchFamily="34" charset="0"/>
                <a:ea typeface="Calibri" panose="020F0502020204030204" pitchFamily="34" charset="0"/>
                <a:cs typeface="Calibri" panose="020F0502020204030204" pitchFamily="34" charset="0"/>
              </a:rPr>
            </a:br>
            <a:r>
              <a:rPr lang="en-IN" sz="1200" dirty="0">
                <a:latin typeface="Calibri" panose="020F0502020204030204" pitchFamily="34" charset="0"/>
                <a:ea typeface="Calibri" panose="020F0502020204030204" pitchFamily="34" charset="0"/>
                <a:cs typeface="Calibri" panose="020F0502020204030204" pitchFamily="34" charset="0"/>
              </a:rPr>
              <a:t>For N = 4 and k = 1: </a:t>
            </a:r>
            <a:r>
              <a:rPr lang="en-IN" sz="1200" b="1" dirty="0">
                <a:latin typeface="Calibri" panose="020F0502020204030204" pitchFamily="34" charset="0"/>
                <a:ea typeface="Calibri" panose="020F0502020204030204" pitchFamily="34" charset="0"/>
                <a:cs typeface="Calibri" panose="020F0502020204030204" pitchFamily="34" charset="0"/>
              </a:rPr>
              <a:t>0 &lt; </a:t>
            </a:r>
            <a:r>
              <a:rPr lang="el-GR" sz="1200" b="1" dirty="0">
                <a:latin typeface="Calibri" panose="020F0502020204030204" pitchFamily="34" charset="0"/>
                <a:ea typeface="Calibri" panose="020F0502020204030204" pitchFamily="34" charset="0"/>
                <a:cs typeface="Calibri" panose="020F0502020204030204" pitchFamily="34" charset="0"/>
              </a:rPr>
              <a:t>μ &lt; 2 / </a:t>
            </a:r>
            <a:r>
              <a:rPr lang="en-IN" sz="1200" b="1" dirty="0">
                <a:latin typeface="Calibri" panose="020F0502020204030204" pitchFamily="34" charset="0"/>
                <a:ea typeface="Calibri" panose="020F0502020204030204" pitchFamily="34" charset="0"/>
                <a:cs typeface="Calibri" panose="020F0502020204030204" pitchFamily="34" charset="0"/>
              </a:rPr>
              <a:t>P_TI</a:t>
            </a:r>
            <a:endParaRPr lang="en-IN" sz="1200" dirty="0">
              <a:latin typeface="Calibri" panose="020F0502020204030204" pitchFamily="34" charset="0"/>
              <a:ea typeface="Calibri" panose="020F0502020204030204" pitchFamily="34" charset="0"/>
              <a:cs typeface="Calibri" panose="020F0502020204030204" pitchFamily="34" charset="0"/>
            </a:endParaRPr>
          </a:p>
        </p:txBody>
      </p:sp>
      <p:sp>
        <p:nvSpPr>
          <p:cNvPr id="5" name="TextBox 4">
            <a:extLst>
              <a:ext uri="{FF2B5EF4-FFF2-40B4-BE49-F238E27FC236}">
                <a16:creationId xmlns:a16="http://schemas.microsoft.com/office/drawing/2014/main" id="{E0E81AAC-36D8-AF16-3230-A6055892A819}"/>
              </a:ext>
            </a:extLst>
          </p:cNvPr>
          <p:cNvSpPr txBox="1"/>
          <p:nvPr/>
        </p:nvSpPr>
        <p:spPr>
          <a:xfrm>
            <a:off x="1362710" y="3886200"/>
            <a:ext cx="5446078" cy="954107"/>
          </a:xfrm>
          <a:prstGeom prst="rect">
            <a:avLst/>
          </a:prstGeom>
          <a:noFill/>
        </p:spPr>
        <p:txBody>
          <a:bodyPr wrap="square" rtlCol="0">
            <a:spAutoFit/>
          </a:bodyPr>
          <a:lstStyle/>
          <a:p>
            <a:r>
              <a:rPr lang="en-IN" sz="1400" dirty="0" err="1"/>
              <a:t>F.Manasvi</a:t>
            </a:r>
            <a:r>
              <a:rPr lang="en-IN" sz="1400"/>
              <a:t>                              4SO24EC035</a:t>
            </a:r>
            <a:endParaRPr lang="en-IN" sz="1400" dirty="0"/>
          </a:p>
          <a:p>
            <a:r>
              <a:rPr lang="en-IN" sz="1400" dirty="0"/>
              <a:t>Evan Menezes                      4SO24EC034</a:t>
            </a:r>
          </a:p>
          <a:p>
            <a:r>
              <a:rPr lang="en-IN" sz="1400" dirty="0"/>
              <a:t>Gouri                                     4SO24EC041</a:t>
            </a:r>
          </a:p>
          <a:p>
            <a:r>
              <a:rPr lang="en-IN" sz="1400" dirty="0"/>
              <a:t>Hemashree                           4SO24EC043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549</TotalTime>
  <Words>3865</Words>
  <Application>Microsoft Office PowerPoint</Application>
  <PresentationFormat>Custom</PresentationFormat>
  <Paragraphs>376</Paragraphs>
  <Slides>19</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19</vt:i4>
      </vt:variant>
    </vt:vector>
  </HeadingPairs>
  <TitlesOfParts>
    <vt:vector size="24" baseType="lpstr">
      <vt:lpstr>Arial</vt:lpstr>
      <vt:lpstr>Calibri</vt:lpstr>
      <vt:lpstr>Times New Roman</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Online2PDF.com</dc:creator>
  <cp:lastModifiedBy>manasvi francis</cp:lastModifiedBy>
  <cp:revision>2</cp:revision>
  <dcterms:created xsi:type="dcterms:W3CDTF">2026-05-02T09:09:20Z</dcterms:created>
  <dcterms:modified xsi:type="dcterms:W3CDTF">2026-05-02T18:23:48Z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2026-05-02T00:00:00Z</vt:filetime>
  </property>
  <property fmtid="{D5CDD505-2E9C-101B-9397-08002B2CF9AE}" pid="3" name="LastSaved">
    <vt:filetime>2026-05-02T00:00:00Z</vt:filetime>
  </property>
</Properties>
</file>